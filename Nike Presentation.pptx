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comments/modernComment_114_1ECEE0BD.xml" ContentType="application/vnd.ms-powerpoint.comments+xml"/>
  <Override PartName="/ppt/comments/modernComment_10F_B74C30C4.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68" r:id="rId2"/>
    <p:sldId id="282" r:id="rId3"/>
    <p:sldId id="280" r:id="rId4"/>
    <p:sldId id="275" r:id="rId5"/>
    <p:sldId id="277" r:id="rId6"/>
    <p:sldId id="281" r:id="rId7"/>
    <p:sldId id="276" r:id="rId8"/>
    <p:sldId id="278" r:id="rId9"/>
    <p:sldId id="271" r:id="rId10"/>
    <p:sldId id="285" r:id="rId11"/>
    <p:sldId id="284" r:id="rId12"/>
    <p:sldId id="27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7D7F10-7A00-1B42-FA01-855F77037521}" name="Nupur Mohapatra" initials="NM" userId="S::nm358@duke.edu::b9771a76-a249-4689-8b51-c86ee4750c41" providerId="AD"/>
  <p188:author id="{E5BB2F18-FA33-5D9C-3D50-A080DC237282}" name="Sneh Pandey" initials="SP" userId="S::sp743@duke.edu::14082e1a-38cb-4dac-8abf-df68ee1cda3a" providerId="AD"/>
  <p188:author id="{3586808A-D0C2-24D6-3719-3BCDB16E7DAC}" name="Amrit Chugani" initials="AC" userId="S::ac928@duke.edu::74943e04-3dec-4f3f-a395-81cfa479598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23515"/>
    <a:srgbClr val="31859C"/>
    <a:srgbClr val="7E2B74"/>
    <a:srgbClr val="EEECE1"/>
    <a:srgbClr val="DDD9C3"/>
    <a:srgbClr val="215F9A"/>
    <a:srgbClr val="B3A97F"/>
    <a:srgbClr val="D5D0B9"/>
    <a:srgbClr val="EFEEE7"/>
    <a:srgbClr val="DFDB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769DF1-75CF-1440-97DD-FEEAC2A38074}" v="3" dt="2025-09-19T05:27:08.6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81"/>
  </p:normalViewPr>
  <p:slideViewPr>
    <p:cSldViewPr snapToGrid="0">
      <p:cViewPr varScale="1">
        <p:scale>
          <a:sx n="147" d="100"/>
          <a:sy n="147" d="100"/>
        </p:scale>
        <p:origin x="22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pur Mohapatra" userId="b9771a76-a249-4689-8b51-c86ee4750c41" providerId="ADAL" clId="{E0A3D1F3-9695-4F5F-9CDC-8A5CE8E3DDCC}"/>
    <pc:docChg chg="modSld">
      <pc:chgData name="Nupur Mohapatra" userId="b9771a76-a249-4689-8b51-c86ee4750c41" providerId="ADAL" clId="{E0A3D1F3-9695-4F5F-9CDC-8A5CE8E3DDCC}" dt="2024-12-02T21:00:56.849" v="2"/>
      <pc:docMkLst>
        <pc:docMk/>
      </pc:docMkLst>
      <pc:sldChg chg="modSp">
        <pc:chgData name="Nupur Mohapatra" userId="b9771a76-a249-4689-8b51-c86ee4750c41" providerId="ADAL" clId="{E0A3D1F3-9695-4F5F-9CDC-8A5CE8E3DDCC}" dt="2024-12-02T21:00:56.849" v="2"/>
        <pc:sldMkLst>
          <pc:docMk/>
          <pc:sldMk cId="3144237048" sldId="277"/>
        </pc:sldMkLst>
      </pc:sldChg>
    </pc:docChg>
  </pc:docChgLst>
  <pc:docChgLst>
    <pc:chgData name="Sneh Pandey" userId="S::sp743@duke.edu::14082e1a-38cb-4dac-8abf-df68ee1cda3a" providerId="AD" clId="Web-{28C95DD9-019B-045B-5816-B9B1819388AE}"/>
    <pc:docChg chg="modSld">
      <pc:chgData name="Sneh Pandey" userId="S::sp743@duke.edu::14082e1a-38cb-4dac-8abf-df68ee1cda3a" providerId="AD" clId="Web-{28C95DD9-019B-045B-5816-B9B1819388AE}" dt="2024-10-27T20:58:47.362" v="1731" actId="20577"/>
      <pc:docMkLst>
        <pc:docMk/>
      </pc:docMkLst>
      <pc:sldChg chg="modSp">
        <pc:chgData name="Sneh Pandey" userId="S::sp743@duke.edu::14082e1a-38cb-4dac-8abf-df68ee1cda3a" providerId="AD" clId="Web-{28C95DD9-019B-045B-5816-B9B1819388AE}" dt="2024-10-27T20:15:35.555" v="449" actId="20577"/>
        <pc:sldMkLst>
          <pc:docMk/>
          <pc:sldMk cId="3075223748" sldId="271"/>
        </pc:sldMkLst>
      </pc:sldChg>
      <pc:sldChg chg="addSp delSp modSp">
        <pc:chgData name="Sneh Pandey" userId="S::sp743@duke.edu::14082e1a-38cb-4dac-8abf-df68ee1cda3a" providerId="AD" clId="Web-{28C95DD9-019B-045B-5816-B9B1819388AE}" dt="2024-10-27T20:58:47.362" v="1731" actId="20577"/>
        <pc:sldMkLst>
          <pc:docMk/>
          <pc:sldMk cId="1170844936" sldId="272"/>
        </pc:sldMkLst>
      </pc:sldChg>
    </pc:docChg>
  </pc:docChgLst>
  <pc:docChgLst>
    <pc:chgData name="Nupur Mohapatra" userId="S::nm358@duke.edu::b9771a76-a249-4689-8b51-c86ee4750c41" providerId="AD" clId="Web-{1D0A21A5-41C8-85BF-228A-17D6EBB8E5C2}"/>
    <pc:docChg chg="modSld">
      <pc:chgData name="Nupur Mohapatra" userId="S::nm358@duke.edu::b9771a76-a249-4689-8b51-c86ee4750c41" providerId="AD" clId="Web-{1D0A21A5-41C8-85BF-228A-17D6EBB8E5C2}" dt="2024-10-27T18:28:28.591" v="3" actId="20577"/>
      <pc:docMkLst>
        <pc:docMk/>
      </pc:docMkLst>
      <pc:sldChg chg="addSp modSp">
        <pc:chgData name="Nupur Mohapatra" userId="S::nm358@duke.edu::b9771a76-a249-4689-8b51-c86ee4750c41" providerId="AD" clId="Web-{1D0A21A5-41C8-85BF-228A-17D6EBB8E5C2}" dt="2024-10-27T18:28:28.591" v="3" actId="20577"/>
        <pc:sldMkLst>
          <pc:docMk/>
          <pc:sldMk cId="1241535169" sldId="269"/>
        </pc:sldMkLst>
      </pc:sldChg>
    </pc:docChg>
  </pc:docChgLst>
  <pc:docChgLst>
    <pc:chgData name="Nupur Mohapatra" userId="S::nm358@duke.edu::b9771a76-a249-4689-8b51-c86ee4750c41" providerId="AD" clId="Web-{4907BB17-7CB6-02BB-ACF8-8B815554A3D1}"/>
    <pc:docChg chg="addSld modSld">
      <pc:chgData name="Nupur Mohapatra" userId="S::nm358@duke.edu::b9771a76-a249-4689-8b51-c86ee4750c41" providerId="AD" clId="Web-{4907BB17-7CB6-02BB-ACF8-8B815554A3D1}" dt="2024-10-26T17:28:11.780" v="21"/>
      <pc:docMkLst>
        <pc:docMk/>
      </pc:docMkLst>
      <pc:sldChg chg="addSp delSp modSp">
        <pc:chgData name="Nupur Mohapatra" userId="S::nm358@duke.edu::b9771a76-a249-4689-8b51-c86ee4750c41" providerId="AD" clId="Web-{4907BB17-7CB6-02BB-ACF8-8B815554A3D1}" dt="2024-10-26T17:27:11.373" v="19"/>
        <pc:sldMkLst>
          <pc:docMk/>
          <pc:sldMk cId="109857222" sldId="256"/>
        </pc:sldMkLst>
      </pc:sldChg>
      <pc:sldChg chg="addSp delSp modSp new">
        <pc:chgData name="Nupur Mohapatra" userId="S::nm358@duke.edu::b9771a76-a249-4689-8b51-c86ee4750c41" providerId="AD" clId="Web-{4907BB17-7CB6-02BB-ACF8-8B815554A3D1}" dt="2024-10-26T17:28:11.780" v="21"/>
        <pc:sldMkLst>
          <pc:docMk/>
          <pc:sldMk cId="2880335198" sldId="257"/>
        </pc:sldMkLst>
      </pc:sldChg>
    </pc:docChg>
  </pc:docChgLst>
  <pc:docChgLst>
    <pc:chgData name="Amrit Chugani" userId="S::ac928@duke.edu::74943e04-3dec-4f3f-a395-81cfa4795985" providerId="AD" clId="Web-{C49B6DA1-4811-C7CA-0189-1E860D74275D}"/>
    <pc:docChg chg="mod delSld modSld">
      <pc:chgData name="Amrit Chugani" userId="S::ac928@duke.edu::74943e04-3dec-4f3f-a395-81cfa4795985" providerId="AD" clId="Web-{C49B6DA1-4811-C7CA-0189-1E860D74275D}" dt="2024-10-29T16:21:01.748" v="1062" actId="20577"/>
      <pc:docMkLst>
        <pc:docMk/>
      </pc:docMkLst>
      <pc:sldChg chg="addSp delSp modSp">
        <pc:chgData name="Amrit Chugani" userId="S::ac928@duke.edu::74943e04-3dec-4f3f-a395-81cfa4795985" providerId="AD" clId="Web-{C49B6DA1-4811-C7CA-0189-1E860D74275D}" dt="2024-10-28T22:35:56.912" v="1020" actId="1076"/>
        <pc:sldMkLst>
          <pc:docMk/>
          <pc:sldMk cId="2404241648" sldId="261"/>
        </pc:sldMkLst>
      </pc:sldChg>
      <pc:sldChg chg="del">
        <pc:chgData name="Amrit Chugani" userId="S::ac928@duke.edu::74943e04-3dec-4f3f-a395-81cfa4795985" providerId="AD" clId="Web-{C49B6DA1-4811-C7CA-0189-1E860D74275D}" dt="2024-10-29T16:03:24.170" v="1029"/>
        <pc:sldMkLst>
          <pc:docMk/>
          <pc:sldMk cId="3011182676" sldId="270"/>
        </pc:sldMkLst>
      </pc:sldChg>
      <pc:sldChg chg="addSp modSp">
        <pc:chgData name="Amrit Chugani" userId="S::ac928@duke.edu::74943e04-3dec-4f3f-a395-81cfa4795985" providerId="AD" clId="Web-{C49B6DA1-4811-C7CA-0189-1E860D74275D}" dt="2024-10-29T16:21:01.748" v="1062" actId="20577"/>
        <pc:sldMkLst>
          <pc:docMk/>
          <pc:sldMk cId="516874429" sldId="276"/>
        </pc:sldMkLst>
      </pc:sldChg>
    </pc:docChg>
  </pc:docChgLst>
  <pc:docChgLst>
    <pc:chgData name="Nupur Mohapatra" userId="S::nm358@duke.edu::b9771a76-a249-4689-8b51-c86ee4750c41" providerId="AD" clId="Web-{EE3A3A44-5825-EEEE-3DC1-273283154EE8}"/>
    <pc:docChg chg="modSld">
      <pc:chgData name="Nupur Mohapatra" userId="S::nm358@duke.edu::b9771a76-a249-4689-8b51-c86ee4750c41" providerId="AD" clId="Web-{EE3A3A44-5825-EEEE-3DC1-273283154EE8}" dt="2024-12-02T20:02:12.993" v="0" actId="1076"/>
      <pc:docMkLst>
        <pc:docMk/>
      </pc:docMkLst>
      <pc:sldChg chg="modSp">
        <pc:chgData name="Nupur Mohapatra" userId="S::nm358@duke.edu::b9771a76-a249-4689-8b51-c86ee4750c41" providerId="AD" clId="Web-{EE3A3A44-5825-EEEE-3DC1-273283154EE8}" dt="2024-12-02T20:02:12.993" v="0" actId="1076"/>
        <pc:sldMkLst>
          <pc:docMk/>
          <pc:sldMk cId="2367676559" sldId="280"/>
        </pc:sldMkLst>
      </pc:sldChg>
    </pc:docChg>
  </pc:docChgLst>
  <pc:docChgLst>
    <pc:chgData name="Sudhire Rahul Karunakaran" userId="S::sk932@duke.edu::a3f74f02-74ea-40b8-ad26-a63ae8742324" providerId="AD" clId="Web-{CEB7AD35-360A-E594-9AFB-3F6AAA5DF111}"/>
    <pc:docChg chg="addSld modSld">
      <pc:chgData name="Sudhire Rahul Karunakaran" userId="S::sk932@duke.edu::a3f74f02-74ea-40b8-ad26-a63ae8742324" providerId="AD" clId="Web-{CEB7AD35-360A-E594-9AFB-3F6AAA5DF111}" dt="2024-12-07T13:20:44.664" v="3129" actId="20577"/>
      <pc:docMkLst>
        <pc:docMk/>
      </pc:docMkLst>
      <pc:sldChg chg="modSp mod setBg">
        <pc:chgData name="Sudhire Rahul Karunakaran" userId="S::sk932@duke.edu::a3f74f02-74ea-40b8-ad26-a63ae8742324" providerId="AD" clId="Web-{CEB7AD35-360A-E594-9AFB-3F6AAA5DF111}" dt="2024-12-07T05:45:38.794" v="2751" actId="20577"/>
        <pc:sldMkLst>
          <pc:docMk/>
          <pc:sldMk cId="0" sldId="268"/>
        </pc:sldMkLst>
      </pc:sldChg>
      <pc:sldChg chg="modSp mod setBg">
        <pc:chgData name="Sudhire Rahul Karunakaran" userId="S::sk932@duke.edu::a3f74f02-74ea-40b8-ad26-a63ae8742324" providerId="AD" clId="Web-{CEB7AD35-360A-E594-9AFB-3F6AAA5DF111}" dt="2024-12-07T02:06:36.910" v="2638"/>
        <pc:sldMkLst>
          <pc:docMk/>
          <pc:sldMk cId="3075223748" sldId="271"/>
        </pc:sldMkLst>
      </pc:sldChg>
      <pc:sldChg chg="modSp mod setBg">
        <pc:chgData name="Sudhire Rahul Karunakaran" userId="S::sk932@duke.edu::a3f74f02-74ea-40b8-ad26-a63ae8742324" providerId="AD" clId="Web-{CEB7AD35-360A-E594-9AFB-3F6AAA5DF111}" dt="2024-12-07T13:19:30.007" v="3118" actId="20577"/>
        <pc:sldMkLst>
          <pc:docMk/>
          <pc:sldMk cId="962058049" sldId="275"/>
        </pc:sldMkLst>
      </pc:sldChg>
      <pc:sldChg chg="modSp mod setBg">
        <pc:chgData name="Sudhire Rahul Karunakaran" userId="S::sk932@duke.edu::a3f74f02-74ea-40b8-ad26-a63ae8742324" providerId="AD" clId="Web-{CEB7AD35-360A-E594-9AFB-3F6AAA5DF111}" dt="2024-12-07T13:15:48.646" v="3099" actId="20577"/>
        <pc:sldMkLst>
          <pc:docMk/>
          <pc:sldMk cId="516874429" sldId="276"/>
        </pc:sldMkLst>
      </pc:sldChg>
      <pc:sldChg chg="addSp delSp modSp mod setBg">
        <pc:chgData name="Sudhire Rahul Karunakaran" userId="S::sk932@duke.edu::a3f74f02-74ea-40b8-ad26-a63ae8742324" providerId="AD" clId="Web-{CEB7AD35-360A-E594-9AFB-3F6AAA5DF111}" dt="2024-12-07T05:51:44.472" v="2800" actId="20577"/>
        <pc:sldMkLst>
          <pc:docMk/>
          <pc:sldMk cId="3144237048" sldId="277"/>
        </pc:sldMkLst>
      </pc:sldChg>
      <pc:sldChg chg="modSp mod setBg">
        <pc:chgData name="Sudhire Rahul Karunakaran" userId="S::sk932@duke.edu::a3f74f02-74ea-40b8-ad26-a63ae8742324" providerId="AD" clId="Web-{CEB7AD35-360A-E594-9AFB-3F6AAA5DF111}" dt="2024-12-07T02:06:01.612" v="2618" actId="20577"/>
        <pc:sldMkLst>
          <pc:docMk/>
          <pc:sldMk cId="1471449484" sldId="278"/>
        </pc:sldMkLst>
      </pc:sldChg>
      <pc:sldChg chg="addSp delSp modSp mod setBg">
        <pc:chgData name="Sudhire Rahul Karunakaran" userId="S::sk932@duke.edu::a3f74f02-74ea-40b8-ad26-a63ae8742324" providerId="AD" clId="Web-{CEB7AD35-360A-E594-9AFB-3F6AAA5DF111}" dt="2024-12-07T05:37:12.863" v="2685" actId="20577"/>
        <pc:sldMkLst>
          <pc:docMk/>
          <pc:sldMk cId="3765903970" sldId="279"/>
        </pc:sldMkLst>
      </pc:sldChg>
      <pc:sldChg chg="modSp mod setBg">
        <pc:chgData name="Sudhire Rahul Karunakaran" userId="S::sk932@duke.edu::a3f74f02-74ea-40b8-ad26-a63ae8742324" providerId="AD" clId="Web-{CEB7AD35-360A-E594-9AFB-3F6AAA5DF111}" dt="2024-12-07T01:57:06.636" v="2518"/>
        <pc:sldMkLst>
          <pc:docMk/>
          <pc:sldMk cId="2367676559" sldId="280"/>
        </pc:sldMkLst>
      </pc:sldChg>
      <pc:sldChg chg="modSp mod setBg">
        <pc:chgData name="Sudhire Rahul Karunakaran" userId="S::sk932@duke.edu::a3f74f02-74ea-40b8-ad26-a63ae8742324" providerId="AD" clId="Web-{CEB7AD35-360A-E594-9AFB-3F6AAA5DF111}" dt="2024-12-07T13:13:24.175" v="3093" actId="20577"/>
        <pc:sldMkLst>
          <pc:docMk/>
          <pc:sldMk cId="1395366015" sldId="281"/>
        </pc:sldMkLst>
      </pc:sldChg>
      <pc:sldChg chg="modSp mod setBg">
        <pc:chgData name="Sudhire Rahul Karunakaran" userId="S::sk932@duke.edu::a3f74f02-74ea-40b8-ad26-a63ae8742324" providerId="AD" clId="Web-{CEB7AD35-360A-E594-9AFB-3F6AAA5DF111}" dt="2024-12-07T13:20:44.664" v="3129" actId="20577"/>
        <pc:sldMkLst>
          <pc:docMk/>
          <pc:sldMk cId="840640738" sldId="282"/>
        </pc:sldMkLst>
      </pc:sldChg>
      <pc:sldChg chg="modSp mod setBg">
        <pc:chgData name="Sudhire Rahul Karunakaran" userId="S::sk932@duke.edu::a3f74f02-74ea-40b8-ad26-a63ae8742324" providerId="AD" clId="Web-{CEB7AD35-360A-E594-9AFB-3F6AAA5DF111}" dt="2024-12-07T02:07:52.927" v="2662"/>
        <pc:sldMkLst>
          <pc:docMk/>
          <pc:sldMk cId="2734969732" sldId="284"/>
        </pc:sldMkLst>
      </pc:sldChg>
      <pc:sldChg chg="addSp delSp modSp new mod setBg">
        <pc:chgData name="Sudhire Rahul Karunakaran" userId="S::sk932@duke.edu::a3f74f02-74ea-40b8-ad26-a63ae8742324" providerId="AD" clId="Web-{CEB7AD35-360A-E594-9AFB-3F6AAA5DF111}" dt="2024-12-07T05:39:49.772" v="2705" actId="14100"/>
        <pc:sldMkLst>
          <pc:docMk/>
          <pc:sldMk cId="1528422841" sldId="285"/>
        </pc:sldMkLst>
      </pc:sldChg>
    </pc:docChg>
  </pc:docChgLst>
  <pc:docChgLst>
    <pc:chgData name="Nupur Mohapatra" userId="S::nm358@duke.edu::b9771a76-a249-4689-8b51-c86ee4750c41" providerId="AD" clId="Web-{AE26D89E-6905-481B-9B1C-532D038BA8C9}"/>
    <pc:docChg chg="modSld">
      <pc:chgData name="Nupur Mohapatra" userId="S::nm358@duke.edu::b9771a76-a249-4689-8b51-c86ee4750c41" providerId="AD" clId="Web-{AE26D89E-6905-481B-9B1C-532D038BA8C9}" dt="2024-10-27T18:26:51.909" v="11" actId="20577"/>
      <pc:docMkLst>
        <pc:docMk/>
      </pc:docMkLst>
      <pc:sldChg chg="modSp">
        <pc:chgData name="Nupur Mohapatra" userId="S::nm358@duke.edu::b9771a76-a249-4689-8b51-c86ee4750c41" providerId="AD" clId="Web-{AE26D89E-6905-481B-9B1C-532D038BA8C9}" dt="2024-10-27T18:26:51.909" v="11" actId="20577"/>
        <pc:sldMkLst>
          <pc:docMk/>
          <pc:sldMk cId="0" sldId="268"/>
        </pc:sldMkLst>
      </pc:sldChg>
      <pc:sldChg chg="addSp modSp">
        <pc:chgData name="Nupur Mohapatra" userId="S::nm358@duke.edu::b9771a76-a249-4689-8b51-c86ee4750c41" providerId="AD" clId="Web-{AE26D89E-6905-481B-9B1C-532D038BA8C9}" dt="2024-10-27T18:26:17.267" v="3" actId="20577"/>
        <pc:sldMkLst>
          <pc:docMk/>
          <pc:sldMk cId="1241535169" sldId="269"/>
        </pc:sldMkLst>
      </pc:sldChg>
    </pc:docChg>
  </pc:docChgLst>
  <pc:docChgLst>
    <pc:chgData name="Nupur Mohapatra" userId="b9771a76-a249-4689-8b51-c86ee4750c41" providerId="ADAL" clId="{290A16EF-DBC1-43DC-8844-B413AF115B77}"/>
    <pc:docChg chg="undo redo custSel addSld delSld modSld sldOrd delMainMaster">
      <pc:chgData name="Nupur Mohapatra" userId="b9771a76-a249-4689-8b51-c86ee4750c41" providerId="ADAL" clId="{290A16EF-DBC1-43DC-8844-B413AF115B77}" dt="2024-10-30T02:52:42.148" v="2703" actId="20577"/>
      <pc:docMkLst>
        <pc:docMk/>
      </pc:docMkLst>
      <pc:sldChg chg="addSp modSp del mod modNotesTx">
        <pc:chgData name="Nupur Mohapatra" userId="b9771a76-a249-4689-8b51-c86ee4750c41" providerId="ADAL" clId="{290A16EF-DBC1-43DC-8844-B413AF115B77}" dt="2024-10-28T23:09:48.156" v="886" actId="47"/>
        <pc:sldMkLst>
          <pc:docMk/>
          <pc:sldMk cId="2404241648" sldId="261"/>
        </pc:sldMkLst>
      </pc:sldChg>
      <pc:sldChg chg="addSp delSp modSp del mod">
        <pc:chgData name="Nupur Mohapatra" userId="b9771a76-a249-4689-8b51-c86ee4750c41" providerId="ADAL" clId="{290A16EF-DBC1-43DC-8844-B413AF115B77}" dt="2024-10-29T23:49:27.583" v="2139" actId="47"/>
        <pc:sldMkLst>
          <pc:docMk/>
          <pc:sldMk cId="3559554758" sldId="262"/>
        </pc:sldMkLst>
      </pc:sldChg>
      <pc:sldChg chg="addSp delSp modSp mod setBg modCm">
        <pc:chgData name="Nupur Mohapatra" userId="b9771a76-a249-4689-8b51-c86ee4750c41" providerId="ADAL" clId="{290A16EF-DBC1-43DC-8844-B413AF115B77}" dt="2024-10-29T23:02:42.984" v="1326" actId="207"/>
        <pc:sldMkLst>
          <pc:docMk/>
          <pc:sldMk cId="0" sldId="268"/>
        </pc:sldMkLst>
        <pc:extLst>
          <p:ext xmlns:p="http://schemas.openxmlformats.org/presentationml/2006/main" uri="{D6D511B9-2390-475A-947B-AFAB55BFBCF1}">
            <pc226:cmChg xmlns:pc226="http://schemas.microsoft.com/office/powerpoint/2022/06/main/command" chg="mod">
              <pc226:chgData name="Nupur Mohapatra" userId="b9771a76-a249-4689-8b51-c86ee4750c41" providerId="ADAL" clId="{290A16EF-DBC1-43DC-8844-B413AF115B77}" dt="2024-10-29T22:57:11.616" v="1273" actId="20577"/>
              <pc2:cmMkLst xmlns:pc2="http://schemas.microsoft.com/office/powerpoint/2019/9/main/command">
                <pc:docMk/>
                <pc:sldMk cId="0" sldId="268"/>
                <pc2:cmMk id="{A13F020C-D46B-49D1-8B4C-65D5517704BE}"/>
              </pc2:cmMkLst>
            </pc226:cmChg>
          </p:ext>
        </pc:extLst>
      </pc:sldChg>
      <pc:sldChg chg="delSp modSp del mod">
        <pc:chgData name="Nupur Mohapatra" userId="b9771a76-a249-4689-8b51-c86ee4750c41" providerId="ADAL" clId="{290A16EF-DBC1-43DC-8844-B413AF115B77}" dt="2024-10-29T23:08:16.597" v="1406" actId="47"/>
        <pc:sldMkLst>
          <pc:docMk/>
          <pc:sldMk cId="1241535169" sldId="269"/>
        </pc:sldMkLst>
      </pc:sldChg>
      <pc:sldChg chg="new">
        <pc:chgData name="Nupur Mohapatra" userId="b9771a76-a249-4689-8b51-c86ee4750c41" providerId="ADAL" clId="{290A16EF-DBC1-43DC-8844-B413AF115B77}" dt="2024-10-27T19:31:37.713" v="458" actId="680"/>
        <pc:sldMkLst>
          <pc:docMk/>
          <pc:sldMk cId="3011182676" sldId="270"/>
        </pc:sldMkLst>
      </pc:sldChg>
      <pc:sldChg chg="addSp delSp modSp add mod ord">
        <pc:chgData name="Nupur Mohapatra" userId="b9771a76-a249-4689-8b51-c86ee4750c41" providerId="ADAL" clId="{290A16EF-DBC1-43DC-8844-B413AF115B77}" dt="2024-10-30T02:36:51.789" v="2569"/>
        <pc:sldMkLst>
          <pc:docMk/>
          <pc:sldMk cId="3075223748" sldId="271"/>
        </pc:sldMkLst>
      </pc:sldChg>
      <pc:sldChg chg="addSp delSp modSp add del mod modShow">
        <pc:chgData name="Nupur Mohapatra" userId="b9771a76-a249-4689-8b51-c86ee4750c41" providerId="ADAL" clId="{290A16EF-DBC1-43DC-8844-B413AF115B77}" dt="2024-10-28T22:56:41.293" v="837" actId="47"/>
        <pc:sldMkLst>
          <pc:docMk/>
          <pc:sldMk cId="1170844936" sldId="272"/>
        </pc:sldMkLst>
      </pc:sldChg>
      <pc:sldChg chg="delSp add del mod">
        <pc:chgData name="Nupur Mohapatra" userId="b9771a76-a249-4689-8b51-c86ee4750c41" providerId="ADAL" clId="{290A16EF-DBC1-43DC-8844-B413AF115B77}" dt="2024-10-27T19:32:43.287" v="464" actId="47"/>
        <pc:sldMkLst>
          <pc:docMk/>
          <pc:sldMk cId="2399901597" sldId="272"/>
        </pc:sldMkLst>
      </pc:sldChg>
      <pc:sldChg chg="del ord">
        <pc:chgData name="Nupur Mohapatra" userId="b9771a76-a249-4689-8b51-c86ee4750c41" providerId="ADAL" clId="{290A16EF-DBC1-43DC-8844-B413AF115B77}" dt="2024-10-29T23:05:08.199" v="1332" actId="47"/>
        <pc:sldMkLst>
          <pc:docMk/>
          <pc:sldMk cId="788406493" sldId="273"/>
        </pc:sldMkLst>
      </pc:sldChg>
      <pc:sldChg chg="addSp modSp mod">
        <pc:chgData name="Nupur Mohapatra" userId="b9771a76-a249-4689-8b51-c86ee4750c41" providerId="ADAL" clId="{290A16EF-DBC1-43DC-8844-B413AF115B77}" dt="2024-10-30T02:51:26.823" v="2691" actId="14100"/>
        <pc:sldMkLst>
          <pc:docMk/>
          <pc:sldMk cId="962058049" sldId="275"/>
        </pc:sldMkLst>
      </pc:sldChg>
      <pc:sldChg chg="addSp delSp modSp add mod ord">
        <pc:chgData name="Nupur Mohapatra" userId="b9771a76-a249-4689-8b51-c86ee4750c41" providerId="ADAL" clId="{290A16EF-DBC1-43DC-8844-B413AF115B77}" dt="2024-10-30T02:47:59.944" v="2646" actId="21"/>
        <pc:sldMkLst>
          <pc:docMk/>
          <pc:sldMk cId="516874429" sldId="276"/>
        </pc:sldMkLst>
      </pc:sldChg>
      <pc:sldChg chg="modSp del mod">
        <pc:chgData name="Nupur Mohapatra" userId="b9771a76-a249-4689-8b51-c86ee4750c41" providerId="ADAL" clId="{290A16EF-DBC1-43DC-8844-B413AF115B77}" dt="2024-10-28T22:53:45.789" v="833" actId="47"/>
        <pc:sldMkLst>
          <pc:docMk/>
          <pc:sldMk cId="2467096183" sldId="276"/>
        </pc:sldMkLst>
      </pc:sldChg>
      <pc:sldChg chg="addSp delSp modSp mod">
        <pc:chgData name="Nupur Mohapatra" userId="b9771a76-a249-4689-8b51-c86ee4750c41" providerId="ADAL" clId="{290A16EF-DBC1-43DC-8844-B413AF115B77}" dt="2024-10-30T02:52:23.296" v="2699"/>
        <pc:sldMkLst>
          <pc:docMk/>
          <pc:sldMk cId="3144237048" sldId="277"/>
        </pc:sldMkLst>
      </pc:sldChg>
      <pc:sldChg chg="addSp delSp modSp add mod ord">
        <pc:chgData name="Nupur Mohapatra" userId="b9771a76-a249-4689-8b51-c86ee4750c41" providerId="ADAL" clId="{290A16EF-DBC1-43DC-8844-B413AF115B77}" dt="2024-10-29T23:06:10.419" v="1370" actId="1036"/>
        <pc:sldMkLst>
          <pc:docMk/>
          <pc:sldMk cId="1471449484" sldId="278"/>
        </pc:sldMkLst>
      </pc:sldChg>
      <pc:sldChg chg="addSp delSp modSp add mod">
        <pc:chgData name="Nupur Mohapatra" userId="b9771a76-a249-4689-8b51-c86ee4750c41" providerId="ADAL" clId="{290A16EF-DBC1-43DC-8844-B413AF115B77}" dt="2024-10-30T02:45:20.890" v="2581" actId="108"/>
        <pc:sldMkLst>
          <pc:docMk/>
          <pc:sldMk cId="3765903970" sldId="279"/>
        </pc:sldMkLst>
      </pc:sldChg>
      <pc:sldChg chg="modSp mod">
        <pc:chgData name="Nupur Mohapatra" userId="b9771a76-a249-4689-8b51-c86ee4750c41" providerId="ADAL" clId="{290A16EF-DBC1-43DC-8844-B413AF115B77}" dt="2024-10-30T00:10:42.937" v="2259" actId="404"/>
        <pc:sldMkLst>
          <pc:docMk/>
          <pc:sldMk cId="2367676559" sldId="280"/>
        </pc:sldMkLst>
      </pc:sldChg>
      <pc:sldChg chg="addSp delSp modSp add mod">
        <pc:chgData name="Nupur Mohapatra" userId="b9771a76-a249-4689-8b51-c86ee4750c41" providerId="ADAL" clId="{290A16EF-DBC1-43DC-8844-B413AF115B77}" dt="2024-10-30T02:50:18.730" v="2679" actId="1035"/>
        <pc:sldMkLst>
          <pc:docMk/>
          <pc:sldMk cId="1395366015" sldId="281"/>
        </pc:sldMkLst>
      </pc:sldChg>
      <pc:sldChg chg="modSp mod">
        <pc:chgData name="Nupur Mohapatra" userId="b9771a76-a249-4689-8b51-c86ee4750c41" providerId="ADAL" clId="{290A16EF-DBC1-43DC-8844-B413AF115B77}" dt="2024-10-30T02:52:42.148" v="2703" actId="20577"/>
        <pc:sldMkLst>
          <pc:docMk/>
          <pc:sldMk cId="840640738" sldId="282"/>
        </pc:sldMkLst>
      </pc:sldChg>
      <pc:sldChg chg="addSp delSp modSp add mod">
        <pc:chgData name="Nupur Mohapatra" userId="b9771a76-a249-4689-8b51-c86ee4750c41" providerId="ADAL" clId="{290A16EF-DBC1-43DC-8844-B413AF115B77}" dt="2024-10-30T02:36:41.253" v="2567" actId="1038"/>
        <pc:sldMkLst>
          <pc:docMk/>
          <pc:sldMk cId="2831026968" sldId="283"/>
        </pc:sldMkLst>
      </pc:sldChg>
      <pc:sldChg chg="addSp delSp modSp mod">
        <pc:chgData name="Nupur Mohapatra" userId="b9771a76-a249-4689-8b51-c86ee4750c41" providerId="ADAL" clId="{290A16EF-DBC1-43DC-8844-B413AF115B77}" dt="2024-10-30T02:36:28.654" v="2561" actId="478"/>
        <pc:sldMkLst>
          <pc:docMk/>
          <pc:sldMk cId="2734969732" sldId="284"/>
        </pc:sldMkLst>
      </pc:sldChg>
      <pc:sldChg chg="add del setBg">
        <pc:chgData name="Nupur Mohapatra" userId="b9771a76-a249-4689-8b51-c86ee4750c41" providerId="ADAL" clId="{290A16EF-DBC1-43DC-8844-B413AF115B77}" dt="2024-10-30T02:34:28.089" v="2544"/>
        <pc:sldMkLst>
          <pc:docMk/>
          <pc:sldMk cId="2511631634" sldId="285"/>
        </pc:sldMkLst>
      </pc:sldChg>
      <pc:sldMasterChg chg="del delSldLayout">
        <pc:chgData name="Nupur Mohapatra" userId="b9771a76-a249-4689-8b51-c86ee4750c41" providerId="ADAL" clId="{290A16EF-DBC1-43DC-8844-B413AF115B77}" dt="2024-10-29T23:49:27.583" v="2139" actId="47"/>
        <pc:sldMasterMkLst>
          <pc:docMk/>
          <pc:sldMasterMk cId="2460954070" sldId="2147483660"/>
        </pc:sldMasterMkLst>
        <pc:sldLayoutChg chg="del">
          <pc:chgData name="Nupur Mohapatra" userId="b9771a76-a249-4689-8b51-c86ee4750c41" providerId="ADAL" clId="{290A16EF-DBC1-43DC-8844-B413AF115B77}" dt="2024-10-29T23:49:27.583" v="2139" actId="47"/>
          <pc:sldLayoutMkLst>
            <pc:docMk/>
            <pc:sldMasterMk cId="2460954070" sldId="2147483660"/>
            <pc:sldLayoutMk cId="2385387890" sldId="2147483661"/>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949138452" sldId="2147483662"/>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2591524520" sldId="2147483663"/>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1203092039" sldId="2147483664"/>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733172339" sldId="2147483665"/>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210312558" sldId="2147483666"/>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146388984" sldId="2147483667"/>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171841454" sldId="2147483668"/>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1718958274" sldId="2147483669"/>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2202905451" sldId="2147483670"/>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479445657" sldId="2147483671"/>
          </pc:sldLayoutMkLst>
        </pc:sldLayoutChg>
      </pc:sldMasterChg>
      <pc:sldMasterChg chg="del delSldLayout">
        <pc:chgData name="Nupur Mohapatra" userId="b9771a76-a249-4689-8b51-c86ee4750c41" providerId="ADAL" clId="{290A16EF-DBC1-43DC-8844-B413AF115B77}" dt="2024-10-28T23:09:48.156" v="886" actId="47"/>
        <pc:sldMasterMkLst>
          <pc:docMk/>
          <pc:sldMasterMk cId="3001013564" sldId="2147483684"/>
        </pc:sldMasterMkLst>
        <pc:sldLayoutChg chg="del">
          <pc:chgData name="Nupur Mohapatra" userId="b9771a76-a249-4689-8b51-c86ee4750c41" providerId="ADAL" clId="{290A16EF-DBC1-43DC-8844-B413AF115B77}" dt="2024-10-28T23:09:48.156" v="886" actId="47"/>
          <pc:sldLayoutMkLst>
            <pc:docMk/>
            <pc:sldMasterMk cId="3001013564" sldId="2147483684"/>
            <pc:sldLayoutMk cId="4009207857" sldId="2147483685"/>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677312755" sldId="2147483686"/>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546040263" sldId="2147483687"/>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172084067" sldId="2147483688"/>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1017943587" sldId="2147483689"/>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2545264875" sldId="2147483690"/>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700651199" sldId="2147483691"/>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971049679" sldId="2147483692"/>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1665147882" sldId="2147483693"/>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2792835754" sldId="2147483694"/>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554421157" sldId="2147483695"/>
          </pc:sldLayoutMkLst>
        </pc:sldLayoutChg>
      </pc:sldMasterChg>
    </pc:docChg>
  </pc:docChgLst>
  <pc:docChgLst>
    <pc:chgData name="Harsh Jain" userId="S::hj178@duke.edu::e34c7272-1501-4a05-8ac0-d92d3b760f48" providerId="AD" clId="Web-{0A3753C6-3844-9C2D-F490-F528FCE544D8}"/>
    <pc:docChg chg="modSld">
      <pc:chgData name="Harsh Jain" userId="S::hj178@duke.edu::e34c7272-1501-4a05-8ac0-d92d3b760f48" providerId="AD" clId="Web-{0A3753C6-3844-9C2D-F490-F528FCE544D8}" dt="2024-10-29T15:28:53.176" v="24" actId="20577"/>
      <pc:docMkLst>
        <pc:docMk/>
      </pc:docMkLst>
      <pc:sldChg chg="modSp">
        <pc:chgData name="Harsh Jain" userId="S::hj178@duke.edu::e34c7272-1501-4a05-8ac0-d92d3b760f48" providerId="AD" clId="Web-{0A3753C6-3844-9C2D-F490-F528FCE544D8}" dt="2024-10-29T15:20:04.381" v="12" actId="1076"/>
        <pc:sldMkLst>
          <pc:docMk/>
          <pc:sldMk cId="3988347247" sldId="274"/>
        </pc:sldMkLst>
      </pc:sldChg>
      <pc:sldChg chg="modSp">
        <pc:chgData name="Harsh Jain" userId="S::hj178@duke.edu::e34c7272-1501-4a05-8ac0-d92d3b760f48" providerId="AD" clId="Web-{0A3753C6-3844-9C2D-F490-F528FCE544D8}" dt="2024-10-29T15:28:53.176" v="24" actId="20577"/>
        <pc:sldMkLst>
          <pc:docMk/>
          <pc:sldMk cId="516874429" sldId="276"/>
        </pc:sldMkLst>
      </pc:sldChg>
    </pc:docChg>
  </pc:docChgLst>
  <pc:docChgLst>
    <pc:chgData name="Sudhire Rahul Karunakaran" userId="S::sk932@duke.edu::a3f74f02-74ea-40b8-ad26-a63ae8742324" providerId="AD" clId="Web-{43F81F18-3F9F-E29D-CC11-3E9DBA818624}"/>
    <pc:docChg chg="modSld">
      <pc:chgData name="Sudhire Rahul Karunakaran" userId="S::sk932@duke.edu::a3f74f02-74ea-40b8-ad26-a63ae8742324" providerId="AD" clId="Web-{43F81F18-3F9F-E29D-CC11-3E9DBA818624}" dt="2024-10-28T17:53:46.376" v="717" actId="1076"/>
      <pc:docMkLst>
        <pc:docMk/>
      </pc:docMkLst>
      <pc:sldChg chg="addSp delSp modSp">
        <pc:chgData name="Sudhire Rahul Karunakaran" userId="S::sk932@duke.edu::a3f74f02-74ea-40b8-ad26-a63ae8742324" providerId="AD" clId="Web-{43F81F18-3F9F-E29D-CC11-3E9DBA818624}" dt="2024-10-28T17:53:46.376" v="717" actId="1076"/>
        <pc:sldMkLst>
          <pc:docMk/>
          <pc:sldMk cId="3988347247" sldId="274"/>
        </pc:sldMkLst>
      </pc:sldChg>
    </pc:docChg>
  </pc:docChgLst>
  <pc:docChgLst>
    <pc:chgData name="Sudhire Rahul Karunakaran" userId="S::sk932@duke.edu::a3f74f02-74ea-40b8-ad26-a63ae8742324" providerId="AD" clId="Web-{52377012-06A2-2216-BB4F-24B646223CB2}"/>
    <pc:docChg chg="delSld modSld">
      <pc:chgData name="Sudhire Rahul Karunakaran" userId="S::sk932@duke.edu::a3f74f02-74ea-40b8-ad26-a63ae8742324" providerId="AD" clId="Web-{52377012-06A2-2216-BB4F-24B646223CB2}" dt="2024-12-05T23:23:13.002" v="370"/>
      <pc:docMkLst>
        <pc:docMk/>
      </pc:docMkLst>
      <pc:sldChg chg="addSp delSp modSp mod setBg">
        <pc:chgData name="Sudhire Rahul Karunakaran" userId="S::sk932@duke.edu::a3f74f02-74ea-40b8-ad26-a63ae8742324" providerId="AD" clId="Web-{52377012-06A2-2216-BB4F-24B646223CB2}" dt="2024-12-05T21:35:32.490" v="195"/>
        <pc:sldMkLst>
          <pc:docMk/>
          <pc:sldMk cId="0" sldId="268"/>
        </pc:sldMkLst>
      </pc:sldChg>
      <pc:sldChg chg="modSp">
        <pc:chgData name="Sudhire Rahul Karunakaran" userId="S::sk932@duke.edu::a3f74f02-74ea-40b8-ad26-a63ae8742324" providerId="AD" clId="Web-{52377012-06A2-2216-BB4F-24B646223CB2}" dt="2024-12-05T20:22:44.324" v="1" actId="20577"/>
        <pc:sldMkLst>
          <pc:docMk/>
          <pc:sldMk cId="962058049" sldId="275"/>
        </pc:sldMkLst>
      </pc:sldChg>
      <pc:sldChg chg="modSp">
        <pc:chgData name="Sudhire Rahul Karunakaran" userId="S::sk932@duke.edu::a3f74f02-74ea-40b8-ad26-a63ae8742324" providerId="AD" clId="Web-{52377012-06A2-2216-BB4F-24B646223CB2}" dt="2024-12-05T21:38:50.276" v="208" actId="20577"/>
        <pc:sldMkLst>
          <pc:docMk/>
          <pc:sldMk cId="3144237048" sldId="277"/>
        </pc:sldMkLst>
      </pc:sldChg>
      <pc:sldChg chg="modSp">
        <pc:chgData name="Sudhire Rahul Karunakaran" userId="S::sk932@duke.edu::a3f74f02-74ea-40b8-ad26-a63ae8742324" providerId="AD" clId="Web-{52377012-06A2-2216-BB4F-24B646223CB2}" dt="2024-12-05T22:51:47.971" v="271" actId="20577"/>
        <pc:sldMkLst>
          <pc:docMk/>
          <pc:sldMk cId="3765903970" sldId="279"/>
        </pc:sldMkLst>
      </pc:sldChg>
      <pc:sldChg chg="modSp">
        <pc:chgData name="Sudhire Rahul Karunakaran" userId="S::sk932@duke.edu::a3f74f02-74ea-40b8-ad26-a63ae8742324" providerId="AD" clId="Web-{52377012-06A2-2216-BB4F-24B646223CB2}" dt="2024-12-05T20:26:54.875" v="10" actId="20577"/>
        <pc:sldMkLst>
          <pc:docMk/>
          <pc:sldMk cId="2367676559" sldId="280"/>
        </pc:sldMkLst>
      </pc:sldChg>
      <pc:sldChg chg="modSp">
        <pc:chgData name="Sudhire Rahul Karunakaran" userId="S::sk932@duke.edu::a3f74f02-74ea-40b8-ad26-a63ae8742324" providerId="AD" clId="Web-{52377012-06A2-2216-BB4F-24B646223CB2}" dt="2024-12-05T21:39:37.949" v="218" actId="20577"/>
        <pc:sldMkLst>
          <pc:docMk/>
          <pc:sldMk cId="840640738" sldId="282"/>
        </pc:sldMkLst>
      </pc:sldChg>
      <pc:sldChg chg="del">
        <pc:chgData name="Sudhire Rahul Karunakaran" userId="S::sk932@duke.edu::a3f74f02-74ea-40b8-ad26-a63ae8742324" providerId="AD" clId="Web-{52377012-06A2-2216-BB4F-24B646223CB2}" dt="2024-12-05T23:23:13.002" v="370"/>
        <pc:sldMkLst>
          <pc:docMk/>
          <pc:sldMk cId="2831026968" sldId="283"/>
        </pc:sldMkLst>
      </pc:sldChg>
      <pc:sldChg chg="addSp delSp modSp">
        <pc:chgData name="Sudhire Rahul Karunakaran" userId="S::sk932@duke.edu::a3f74f02-74ea-40b8-ad26-a63ae8742324" providerId="AD" clId="Web-{52377012-06A2-2216-BB4F-24B646223CB2}" dt="2024-12-05T23:00:59.151" v="369" actId="1076"/>
        <pc:sldMkLst>
          <pc:docMk/>
          <pc:sldMk cId="2734969732" sldId="284"/>
        </pc:sldMkLst>
      </pc:sldChg>
    </pc:docChg>
  </pc:docChgLst>
  <pc:docChgLst>
    <pc:chgData name="Sudhire Rahul Karunakaran" userId="S::sk932@duke.edu::a3f74f02-74ea-40b8-ad26-a63ae8742324" providerId="AD" clId="Web-{F9BF4EEE-776D-18EC-E7EA-4DB18DACA31B}"/>
    <pc:docChg chg="modSld">
      <pc:chgData name="Sudhire Rahul Karunakaran" userId="S::sk932@duke.edu::a3f74f02-74ea-40b8-ad26-a63ae8742324" providerId="AD" clId="Web-{F9BF4EEE-776D-18EC-E7EA-4DB18DACA31B}" dt="2024-10-30T00:03:10.734" v="502" actId="20577"/>
      <pc:docMkLst>
        <pc:docMk/>
      </pc:docMkLst>
      <pc:sldChg chg="modSp">
        <pc:chgData name="Sudhire Rahul Karunakaran" userId="S::sk932@duke.edu::a3f74f02-74ea-40b8-ad26-a63ae8742324" providerId="AD" clId="Web-{F9BF4EEE-776D-18EC-E7EA-4DB18DACA31B}" dt="2024-10-29T23:08:09.595" v="1" actId="20577"/>
        <pc:sldMkLst>
          <pc:docMk/>
          <pc:sldMk cId="3988347247" sldId="274"/>
        </pc:sldMkLst>
      </pc:sldChg>
      <pc:sldChg chg="modSp">
        <pc:chgData name="Sudhire Rahul Karunakaran" userId="S::sk932@duke.edu::a3f74f02-74ea-40b8-ad26-a63ae8742324" providerId="AD" clId="Web-{F9BF4EEE-776D-18EC-E7EA-4DB18DACA31B}" dt="2024-10-30T00:03:10.734" v="502" actId="20577"/>
        <pc:sldMkLst>
          <pc:docMk/>
          <pc:sldMk cId="3144237048" sldId="277"/>
        </pc:sldMkLst>
      </pc:sldChg>
    </pc:docChg>
  </pc:docChgLst>
  <pc:docChgLst>
    <pc:chgData name="Harsh Jain" userId="S::hj178@duke.edu::e34c7272-1501-4a05-8ac0-d92d3b760f48" providerId="AD" clId="Web-{BB6F8A8F-1EC0-D659-CECB-9ED11DCA8963}"/>
    <pc:docChg chg="addSld delSld modSld sldOrd">
      <pc:chgData name="Harsh Jain" userId="S::hj178@duke.edu::e34c7272-1501-4a05-8ac0-d92d3b760f48" providerId="AD" clId="Web-{BB6F8A8F-1EC0-D659-CECB-9ED11DCA8963}" dt="2024-10-30T00:09:37.825" v="410" actId="20577"/>
      <pc:docMkLst>
        <pc:docMk/>
      </pc:docMkLst>
      <pc:sldChg chg="addSp delSp modSp del">
        <pc:chgData name="Harsh Jain" userId="S::hj178@duke.edu::e34c7272-1501-4a05-8ac0-d92d3b760f48" providerId="AD" clId="Web-{BB6F8A8F-1EC0-D659-CECB-9ED11DCA8963}" dt="2024-10-29T23:45:22.525" v="21"/>
        <pc:sldMkLst>
          <pc:docMk/>
          <pc:sldMk cId="109857222" sldId="256"/>
        </pc:sldMkLst>
      </pc:sldChg>
      <pc:sldChg chg="add del">
        <pc:chgData name="Harsh Jain" userId="S::hj178@duke.edu::e34c7272-1501-4a05-8ac0-d92d3b760f48" providerId="AD" clId="Web-{BB6F8A8F-1EC0-D659-CECB-9ED11DCA8963}" dt="2024-10-29T23:48:20.560" v="60"/>
        <pc:sldMkLst>
          <pc:docMk/>
          <pc:sldMk cId="2880335198" sldId="257"/>
        </pc:sldMkLst>
      </pc:sldChg>
      <pc:sldChg chg="addSp delSp modSp ord">
        <pc:chgData name="Harsh Jain" userId="S::hj178@duke.edu::e34c7272-1501-4a05-8ac0-d92d3b760f48" providerId="AD" clId="Web-{BB6F8A8F-1EC0-D659-CECB-9ED11DCA8963}" dt="2024-10-30T00:07:49.261" v="399" actId="1076"/>
        <pc:sldMkLst>
          <pc:docMk/>
          <pc:sldMk cId="0" sldId="268"/>
        </pc:sldMkLst>
      </pc:sldChg>
      <pc:sldChg chg="modSp">
        <pc:chgData name="Harsh Jain" userId="S::hj178@duke.edu::e34c7272-1501-4a05-8ac0-d92d3b760f48" providerId="AD" clId="Web-{BB6F8A8F-1EC0-D659-CECB-9ED11DCA8963}" dt="2024-10-30T00:00:57.220" v="214" actId="20577"/>
        <pc:sldMkLst>
          <pc:docMk/>
          <pc:sldMk cId="516874429" sldId="276"/>
        </pc:sldMkLst>
      </pc:sldChg>
      <pc:sldChg chg="modSp">
        <pc:chgData name="Harsh Jain" userId="S::hj178@duke.edu::e34c7272-1501-4a05-8ac0-d92d3b760f48" providerId="AD" clId="Web-{BB6F8A8F-1EC0-D659-CECB-9ED11DCA8963}" dt="2024-10-29T23:53:15.646" v="98" actId="1076"/>
        <pc:sldMkLst>
          <pc:docMk/>
          <pc:sldMk cId="3144237048" sldId="277"/>
        </pc:sldMkLst>
      </pc:sldChg>
      <pc:sldChg chg="modSp add replId">
        <pc:chgData name="Harsh Jain" userId="S::hj178@duke.edu::e34c7272-1501-4a05-8ac0-d92d3b760f48" providerId="AD" clId="Web-{BB6F8A8F-1EC0-D659-CECB-9ED11DCA8963}" dt="2024-10-29T23:59:13.328" v="166" actId="1076"/>
        <pc:sldMkLst>
          <pc:docMk/>
          <pc:sldMk cId="2367676559" sldId="280"/>
        </pc:sldMkLst>
      </pc:sldChg>
      <pc:sldChg chg="modSp">
        <pc:chgData name="Harsh Jain" userId="S::hj178@duke.edu::e34c7272-1501-4a05-8ac0-d92d3b760f48" providerId="AD" clId="Web-{BB6F8A8F-1EC0-D659-CECB-9ED11DCA8963}" dt="2024-10-30T00:09:12.653" v="400" actId="1076"/>
        <pc:sldMkLst>
          <pc:docMk/>
          <pc:sldMk cId="1395366015" sldId="281"/>
        </pc:sldMkLst>
      </pc:sldChg>
      <pc:sldChg chg="addSp delSp modSp add replId">
        <pc:chgData name="Harsh Jain" userId="S::hj178@duke.edu::e34c7272-1501-4a05-8ac0-d92d3b760f48" providerId="AD" clId="Web-{BB6F8A8F-1EC0-D659-CECB-9ED11DCA8963}" dt="2024-10-30T00:09:37.825" v="410" actId="20577"/>
        <pc:sldMkLst>
          <pc:docMk/>
          <pc:sldMk cId="840640738" sldId="282"/>
        </pc:sldMkLst>
      </pc:sldChg>
    </pc:docChg>
  </pc:docChgLst>
  <pc:docChgLst>
    <pc:chgData name="Amrit Chugani" userId="S::ac928@duke.edu::74943e04-3dec-4f3f-a395-81cfa4795985" providerId="AD" clId="Web-{7F4F75EE-8E3C-07B8-25BE-091B45E3362F}"/>
    <pc:docChg chg="modSld">
      <pc:chgData name="Amrit Chugani" userId="S::ac928@duke.edu::74943e04-3dec-4f3f-a395-81cfa4795985" providerId="AD" clId="Web-{7F4F75EE-8E3C-07B8-25BE-091B45E3362F}" dt="2024-10-27T18:43:29.862" v="115" actId="20577"/>
      <pc:docMkLst>
        <pc:docMk/>
      </pc:docMkLst>
      <pc:sldChg chg="modSp">
        <pc:chgData name="Amrit Chugani" userId="S::ac928@duke.edu::74943e04-3dec-4f3f-a395-81cfa4795985" providerId="AD" clId="Web-{7F4F75EE-8E3C-07B8-25BE-091B45E3362F}" dt="2024-10-27T18:43:29.862" v="115" actId="20577"/>
        <pc:sldMkLst>
          <pc:docMk/>
          <pc:sldMk cId="0" sldId="268"/>
        </pc:sldMkLst>
      </pc:sldChg>
    </pc:docChg>
  </pc:docChgLst>
  <pc:docChgLst>
    <pc:chgData name="Sudhire Rahul Karunakaran" userId="S::sk932@duke.edu::a3f74f02-74ea-40b8-ad26-a63ae8742324" providerId="AD" clId="Web-{BE2A2E48-A6AE-B7AC-FD3F-26DC867BAE5C}"/>
    <pc:docChg chg="modSld">
      <pc:chgData name="Sudhire Rahul Karunakaran" userId="S::sk932@duke.edu::a3f74f02-74ea-40b8-ad26-a63ae8742324" providerId="AD" clId="Web-{BE2A2E48-A6AE-B7AC-FD3F-26DC867BAE5C}" dt="2025-05-13T11:24:25.916" v="0" actId="1076"/>
      <pc:docMkLst>
        <pc:docMk/>
      </pc:docMkLst>
      <pc:sldChg chg="modSp">
        <pc:chgData name="Sudhire Rahul Karunakaran" userId="S::sk932@duke.edu::a3f74f02-74ea-40b8-ad26-a63ae8742324" providerId="AD" clId="Web-{BE2A2E48-A6AE-B7AC-FD3F-26DC867BAE5C}" dt="2025-05-13T11:24:25.916" v="0" actId="1076"/>
        <pc:sldMkLst>
          <pc:docMk/>
          <pc:sldMk cId="2367676559" sldId="280"/>
        </pc:sldMkLst>
      </pc:sldChg>
    </pc:docChg>
  </pc:docChgLst>
  <pc:docChgLst>
    <pc:chgData name="Sudhire Rahul Karunakaran" userId="S::sk932@duke.edu::a3f74f02-74ea-40b8-ad26-a63ae8742324" providerId="AD" clId="Web-{84533465-EF4B-44A2-9A9F-078ADA8D1DEF}"/>
    <pc:docChg chg="modSld">
      <pc:chgData name="Sudhire Rahul Karunakaran" userId="S::sk932@duke.edu::a3f74f02-74ea-40b8-ad26-a63ae8742324" providerId="AD" clId="Web-{84533465-EF4B-44A2-9A9F-078ADA8D1DEF}" dt="2024-10-29T17:00:25.035" v="100" actId="20577"/>
      <pc:docMkLst>
        <pc:docMk/>
      </pc:docMkLst>
      <pc:sldChg chg="addSp modSp">
        <pc:chgData name="Sudhire Rahul Karunakaran" userId="S::sk932@duke.edu::a3f74f02-74ea-40b8-ad26-a63ae8742324" providerId="AD" clId="Web-{84533465-EF4B-44A2-9A9F-078ADA8D1DEF}" dt="2024-10-29T17:00:25.035" v="100" actId="20577"/>
        <pc:sldMkLst>
          <pc:docMk/>
          <pc:sldMk cId="3075223748" sldId="271"/>
        </pc:sldMkLst>
      </pc:sldChg>
      <pc:sldChg chg="addSp modSp">
        <pc:chgData name="Sudhire Rahul Karunakaran" userId="S::sk932@duke.edu::a3f74f02-74ea-40b8-ad26-a63ae8742324" providerId="AD" clId="Web-{84533465-EF4B-44A2-9A9F-078ADA8D1DEF}" dt="2024-10-28T23:07:41.657" v="88" actId="20577"/>
        <pc:sldMkLst>
          <pc:docMk/>
          <pc:sldMk cId="3988347247" sldId="274"/>
        </pc:sldMkLst>
      </pc:sldChg>
      <pc:sldChg chg="addSp delSp modSp">
        <pc:chgData name="Sudhire Rahul Karunakaran" userId="S::sk932@duke.edu::a3f74f02-74ea-40b8-ad26-a63ae8742324" providerId="AD" clId="Web-{84533465-EF4B-44A2-9A9F-078ADA8D1DEF}" dt="2024-10-29T16:58:54.185" v="94" actId="20577"/>
        <pc:sldMkLst>
          <pc:docMk/>
          <pc:sldMk cId="962058049" sldId="275"/>
        </pc:sldMkLst>
      </pc:sldChg>
    </pc:docChg>
  </pc:docChgLst>
  <pc:docChgLst>
    <pc:chgData name="Sneh Pandey" userId="S::sp743@duke.edu::14082e1a-38cb-4dac-8abf-df68ee1cda3a" providerId="AD" clId="Web-{A04E7F0E-3111-E8FE-CFCE-810F2EDC773B}"/>
    <pc:docChg chg="modSld">
      <pc:chgData name="Sneh Pandey" userId="S::sp743@duke.edu::14082e1a-38cb-4dac-8abf-df68ee1cda3a" providerId="AD" clId="Web-{A04E7F0E-3111-E8FE-CFCE-810F2EDC773B}" dt="2024-10-29T23:02:25.563" v="2" actId="20577"/>
      <pc:docMkLst>
        <pc:docMk/>
      </pc:docMkLst>
      <pc:sldChg chg="modSp">
        <pc:chgData name="Sneh Pandey" userId="S::sp743@duke.edu::14082e1a-38cb-4dac-8abf-df68ee1cda3a" providerId="AD" clId="Web-{A04E7F0E-3111-E8FE-CFCE-810F2EDC773B}" dt="2024-10-29T23:02:25.563" v="2" actId="20577"/>
        <pc:sldMkLst>
          <pc:docMk/>
          <pc:sldMk cId="3075223748" sldId="271"/>
        </pc:sldMkLst>
      </pc:sldChg>
    </pc:docChg>
  </pc:docChgLst>
  <pc:docChgLst>
    <pc:chgData name="Sneh Pandey" userId="S::sp743@duke.edu::14082e1a-38cb-4dac-8abf-df68ee1cda3a" providerId="AD" clId="Web-{F6968F58-228C-38FF-B967-2F1B6C794AAC}"/>
    <pc:docChg chg="mod modSld">
      <pc:chgData name="Sneh Pandey" userId="S::sp743@duke.edu::14082e1a-38cb-4dac-8abf-df68ee1cda3a" providerId="AD" clId="Web-{F6968F58-228C-38FF-B967-2F1B6C794AAC}" dt="2024-10-28T20:50:19.293" v="341" actId="20577"/>
      <pc:docMkLst>
        <pc:docMk/>
      </pc:docMkLst>
      <pc:sldChg chg="modSp">
        <pc:chgData name="Sneh Pandey" userId="S::sp743@duke.edu::14082e1a-38cb-4dac-8abf-df68ee1cda3a" providerId="AD" clId="Web-{F6968F58-228C-38FF-B967-2F1B6C794AAC}" dt="2024-10-28T20:50:19.293" v="341" actId="20577"/>
        <pc:sldMkLst>
          <pc:docMk/>
          <pc:sldMk cId="1241535169" sldId="269"/>
        </pc:sldMkLst>
      </pc:sldChg>
      <pc:sldChg chg="modSp">
        <pc:chgData name="Sneh Pandey" userId="S::sp743@duke.edu::14082e1a-38cb-4dac-8abf-df68ee1cda3a" providerId="AD" clId="Web-{F6968F58-228C-38FF-B967-2F1B6C794AAC}" dt="2024-10-28T20:19:30.997" v="155" actId="20577"/>
        <pc:sldMkLst>
          <pc:docMk/>
          <pc:sldMk cId="1170844936" sldId="272"/>
        </pc:sldMkLst>
      </pc:sldChg>
      <pc:sldChg chg="modSp modCm">
        <pc:chgData name="Sneh Pandey" userId="S::sp743@duke.edu::14082e1a-38cb-4dac-8abf-df68ee1cda3a" providerId="AD" clId="Web-{F6968F58-228C-38FF-B967-2F1B6C794AAC}" dt="2024-10-28T20:46:56.715" v="330" actId="20577"/>
        <pc:sldMkLst>
          <pc:docMk/>
          <pc:sldMk cId="962058049" sldId="275"/>
        </pc:sldMkLst>
        <pc:extLst>
          <p:ext xmlns:p="http://schemas.openxmlformats.org/presentationml/2006/main" uri="{D6D511B9-2390-475A-947B-AFAB55BFBCF1}">
            <pc226:cmChg xmlns:pc226="http://schemas.microsoft.com/office/powerpoint/2022/06/main/command" chg="mod">
              <pc226:chgData name="Sneh Pandey" userId="S::sp743@duke.edu::14082e1a-38cb-4dac-8abf-df68ee1cda3a" providerId="AD" clId="Web-{F6968F58-228C-38FF-B967-2F1B6C794AAC}" dt="2024-10-28T20:27:26.562" v="190" actId="20577"/>
              <pc2:cmMkLst xmlns:pc2="http://schemas.microsoft.com/office/powerpoint/2019/9/main/command">
                <pc:docMk/>
                <pc:sldMk cId="962058049" sldId="275"/>
                <pc2:cmMk id="{07E69F2E-63F4-4D59-A36A-C60FAAFE82C6}"/>
              </pc2:cmMkLst>
            </pc226:cmChg>
            <pc226:cmChg xmlns:pc226="http://schemas.microsoft.com/office/powerpoint/2022/06/main/command" chg="mod">
              <pc226:chgData name="Sneh Pandey" userId="S::sp743@duke.edu::14082e1a-38cb-4dac-8abf-df68ee1cda3a" providerId="AD" clId="Web-{F6968F58-228C-38FF-B967-2F1B6C794AAC}" dt="2024-10-28T20:45:01.058" v="237" actId="20577"/>
              <pc2:cmMkLst xmlns:pc2="http://schemas.microsoft.com/office/powerpoint/2019/9/main/command">
                <pc:docMk/>
                <pc:sldMk cId="962058049" sldId="275"/>
                <pc2:cmMk id="{8735C43F-A018-43A9-A97C-8B69BE3CC003}"/>
              </pc2:cmMkLst>
            </pc226:cmChg>
            <pc226:cmChg xmlns:pc226="http://schemas.microsoft.com/office/powerpoint/2022/06/main/command" chg="mod">
              <pc226:chgData name="Sneh Pandey" userId="S::sp743@duke.edu::14082e1a-38cb-4dac-8abf-df68ee1cda3a" providerId="AD" clId="Web-{F6968F58-228C-38FF-B967-2F1B6C794AAC}" dt="2024-10-28T20:27:13.593" v="181" actId="20577"/>
              <pc2:cmMkLst xmlns:pc2="http://schemas.microsoft.com/office/powerpoint/2019/9/main/command">
                <pc:docMk/>
                <pc:sldMk cId="962058049" sldId="275"/>
                <pc2:cmMk id="{E2663B41-C678-472C-A4B3-79F29F482480}"/>
              </pc2:cmMkLst>
            </pc226:cmChg>
            <pc226:cmChg xmlns:pc226="http://schemas.microsoft.com/office/powerpoint/2022/06/main/command" chg="mod">
              <pc226:chgData name="Sneh Pandey" userId="S::sp743@duke.edu::14082e1a-38cb-4dac-8abf-df68ee1cda3a" providerId="AD" clId="Web-{F6968F58-228C-38FF-B967-2F1B6C794AAC}" dt="2024-10-28T20:27:13.593" v="181" actId="20577"/>
              <pc2:cmMkLst xmlns:pc2="http://schemas.microsoft.com/office/powerpoint/2019/9/main/command">
                <pc:docMk/>
                <pc:sldMk cId="962058049" sldId="275"/>
                <pc2:cmMk id="{EE24ECEE-17C2-41A9-9779-02ED16D701BC}"/>
              </pc2:cmMkLst>
            </pc226:cmChg>
          </p:ext>
        </pc:extLst>
      </pc:sldChg>
    </pc:docChg>
  </pc:docChgLst>
  <pc:docChgLst>
    <pc:chgData name="Harsh Jain" userId="S::hj178@duke.edu::e34c7272-1501-4a05-8ac0-d92d3b760f48" providerId="AD" clId="Web-{1524EF5E-1893-2E09-F1B5-342A56DBFD18}"/>
    <pc:docChg chg="addSld delSld modSld">
      <pc:chgData name="Harsh Jain" userId="S::hj178@duke.edu::e34c7272-1501-4a05-8ac0-d92d3b760f48" providerId="AD" clId="Web-{1524EF5E-1893-2E09-F1B5-342A56DBFD18}" dt="2024-10-29T23:17:21.156" v="515"/>
      <pc:docMkLst>
        <pc:docMk/>
      </pc:docMkLst>
      <pc:sldChg chg="delSp modSp add del">
        <pc:chgData name="Harsh Jain" userId="S::hj178@duke.edu::e34c7272-1501-4a05-8ac0-d92d3b760f48" providerId="AD" clId="Web-{1524EF5E-1893-2E09-F1B5-342A56DBFD18}" dt="2024-10-29T23:17:21.156" v="515"/>
        <pc:sldMkLst>
          <pc:docMk/>
          <pc:sldMk cId="3988347247" sldId="274"/>
        </pc:sldMkLst>
      </pc:sldChg>
      <pc:sldChg chg="addSp delSp modSp">
        <pc:chgData name="Harsh Jain" userId="S::hj178@duke.edu::e34c7272-1501-4a05-8ac0-d92d3b760f48" providerId="AD" clId="Web-{1524EF5E-1893-2E09-F1B5-342A56DBFD18}" dt="2024-10-29T23:03:47.961" v="236" actId="1076"/>
        <pc:sldMkLst>
          <pc:docMk/>
          <pc:sldMk cId="962058049" sldId="275"/>
        </pc:sldMkLst>
      </pc:sldChg>
      <pc:sldChg chg="addSp delSp modSp add del replId">
        <pc:chgData name="Harsh Jain" userId="S::hj178@duke.edu::e34c7272-1501-4a05-8ac0-d92d3b760f48" providerId="AD" clId="Web-{1524EF5E-1893-2E09-F1B5-342A56DBFD18}" dt="2024-10-29T23:03:49.070" v="237"/>
        <pc:sldMkLst>
          <pc:docMk/>
          <pc:sldMk cId="74820880" sldId="277"/>
        </pc:sldMkLst>
      </pc:sldChg>
      <pc:sldChg chg="addSp delSp modSp add replId">
        <pc:chgData name="Harsh Jain" userId="S::hj178@duke.edu::e34c7272-1501-4a05-8ac0-d92d3b760f48" providerId="AD" clId="Web-{1524EF5E-1893-2E09-F1B5-342A56DBFD18}" dt="2024-10-29T23:16:59.858" v="514" actId="1076"/>
        <pc:sldMkLst>
          <pc:docMk/>
          <pc:sldMk cId="3144237048" sldId="277"/>
        </pc:sldMkLst>
      </pc:sldChg>
    </pc:docChg>
  </pc:docChgLst>
  <pc:docChgLst>
    <pc:chgData name="Harsh Jain" userId="S::hj178@duke.edu::e34c7272-1501-4a05-8ac0-d92d3b760f48" providerId="AD" clId="Web-{196FA564-D806-8853-FB1A-D32374C925DD}"/>
    <pc:docChg chg="addSld modSld">
      <pc:chgData name="Harsh Jain" userId="S::hj178@duke.edu::e34c7272-1501-4a05-8ac0-d92d3b760f48" providerId="AD" clId="Web-{196FA564-D806-8853-FB1A-D32374C925DD}" dt="2024-10-27T23:30:15.572" v="415" actId="1076"/>
      <pc:docMkLst>
        <pc:docMk/>
      </pc:docMkLst>
      <pc:sldChg chg="addSp delSp">
        <pc:chgData name="Harsh Jain" userId="S::hj178@duke.edu::e34c7272-1501-4a05-8ac0-d92d3b760f48" providerId="AD" clId="Web-{196FA564-D806-8853-FB1A-D32374C925DD}" dt="2024-10-27T22:53:10.495" v="35"/>
        <pc:sldMkLst>
          <pc:docMk/>
          <pc:sldMk cId="3011182676" sldId="270"/>
        </pc:sldMkLst>
      </pc:sldChg>
      <pc:sldChg chg="addSp delSp modSp add replId">
        <pc:chgData name="Harsh Jain" userId="S::hj178@duke.edu::e34c7272-1501-4a05-8ac0-d92d3b760f48" providerId="AD" clId="Web-{196FA564-D806-8853-FB1A-D32374C925DD}" dt="2024-10-27T23:30:15.572" v="415" actId="1076"/>
        <pc:sldMkLst>
          <pc:docMk/>
          <pc:sldMk cId="3988347247" sldId="274"/>
        </pc:sldMkLst>
      </pc:sldChg>
    </pc:docChg>
  </pc:docChgLst>
  <pc:docChgLst>
    <pc:chgData name="Harsh Jain" userId="S::hj178@duke.edu::e34c7272-1501-4a05-8ac0-d92d3b760f48" providerId="AD" clId="Web-{8A344020-965F-0F8E-1FA8-EB8C51B8ABF9}"/>
    <pc:docChg chg="modSld">
      <pc:chgData name="Harsh Jain" userId="S::hj178@duke.edu::e34c7272-1501-4a05-8ac0-d92d3b760f48" providerId="AD" clId="Web-{8A344020-965F-0F8E-1FA8-EB8C51B8ABF9}" dt="2024-10-29T03:33:55.703" v="177" actId="1076"/>
      <pc:docMkLst>
        <pc:docMk/>
      </pc:docMkLst>
      <pc:sldChg chg="modSp">
        <pc:chgData name="Harsh Jain" userId="S::hj178@duke.edu::e34c7272-1501-4a05-8ac0-d92d3b760f48" providerId="AD" clId="Web-{8A344020-965F-0F8E-1FA8-EB8C51B8ABF9}" dt="2024-10-29T03:33:55.703" v="177" actId="1076"/>
        <pc:sldMkLst>
          <pc:docMk/>
          <pc:sldMk cId="3988347247" sldId="274"/>
        </pc:sldMkLst>
      </pc:sldChg>
    </pc:docChg>
  </pc:docChgLst>
  <pc:docChgLst>
    <pc:chgData name="Nupur Mohapatra" userId="S::nm358@duke.edu::b9771a76-a249-4689-8b51-c86ee4750c41" providerId="AD" clId="Web-{5BE0B67C-4DF1-67CD-014F-75072814AB1E}"/>
    <pc:docChg chg="addSld">
      <pc:chgData name="Nupur Mohapatra" userId="S::nm358@duke.edu::b9771a76-a249-4689-8b51-c86ee4750c41" providerId="AD" clId="Web-{5BE0B67C-4DF1-67CD-014F-75072814AB1E}" dt="2024-10-26T20:09:53.953" v="0"/>
      <pc:docMkLst>
        <pc:docMk/>
      </pc:docMkLst>
      <pc:sldChg chg="new">
        <pc:chgData name="Nupur Mohapatra" userId="S::nm358@duke.edu::b9771a76-a249-4689-8b51-c86ee4750c41" providerId="AD" clId="Web-{5BE0B67C-4DF1-67CD-014F-75072814AB1E}" dt="2024-10-26T20:09:53.953" v="0"/>
        <pc:sldMkLst>
          <pc:docMk/>
          <pc:sldMk cId="1241535169" sldId="269"/>
        </pc:sldMkLst>
      </pc:sldChg>
    </pc:docChg>
  </pc:docChgLst>
  <pc:docChgLst>
    <pc:chgData name="Sudhire Rahul Karunakaran" userId="S::sk932@duke.edu::a3f74f02-74ea-40b8-ad26-a63ae8742324" providerId="AD" clId="Web-{6E6DBB44-A9BB-0AF3-D5D7-EA89E82D17BF}"/>
    <pc:docChg chg="modSld">
      <pc:chgData name="Sudhire Rahul Karunakaran" userId="S::sk932@duke.edu::a3f74f02-74ea-40b8-ad26-a63ae8742324" providerId="AD" clId="Web-{6E6DBB44-A9BB-0AF3-D5D7-EA89E82D17BF}" dt="2024-12-07T15:30:12.239" v="152" actId="20577"/>
      <pc:docMkLst>
        <pc:docMk/>
      </pc:docMkLst>
      <pc:sldChg chg="modSp">
        <pc:chgData name="Sudhire Rahul Karunakaran" userId="S::sk932@duke.edu::a3f74f02-74ea-40b8-ad26-a63ae8742324" providerId="AD" clId="Web-{6E6DBB44-A9BB-0AF3-D5D7-EA89E82D17BF}" dt="2024-12-07T15:30:12.239" v="152" actId="20577"/>
        <pc:sldMkLst>
          <pc:docMk/>
          <pc:sldMk cId="516874429" sldId="276"/>
        </pc:sldMkLst>
      </pc:sldChg>
      <pc:sldChg chg="modSp">
        <pc:chgData name="Sudhire Rahul Karunakaran" userId="S::sk932@duke.edu::a3f74f02-74ea-40b8-ad26-a63ae8742324" providerId="AD" clId="Web-{6E6DBB44-A9BB-0AF3-D5D7-EA89E82D17BF}" dt="2024-12-07T15:02:07.798" v="125" actId="20577"/>
        <pc:sldMkLst>
          <pc:docMk/>
          <pc:sldMk cId="1395366015" sldId="281"/>
        </pc:sldMkLst>
      </pc:sldChg>
      <pc:sldChg chg="modSp">
        <pc:chgData name="Sudhire Rahul Karunakaran" userId="S::sk932@duke.edu::a3f74f02-74ea-40b8-ad26-a63ae8742324" providerId="AD" clId="Web-{6E6DBB44-A9BB-0AF3-D5D7-EA89E82D17BF}" dt="2024-12-07T13:23:02.048" v="38" actId="20577"/>
        <pc:sldMkLst>
          <pc:docMk/>
          <pc:sldMk cId="840640738" sldId="282"/>
        </pc:sldMkLst>
      </pc:sldChg>
    </pc:docChg>
  </pc:docChgLst>
  <pc:docChgLst>
    <pc:chgData name="Amrit Chugani" userId="S::ac928@duke.edu::74943e04-3dec-4f3f-a395-81cfa4795985" providerId="AD" clId="Web-{7436FB1E-3D02-8249-51C2-FFC86F4B1E20}"/>
    <pc:docChg chg="modSld">
      <pc:chgData name="Amrit Chugani" userId="S::ac928@duke.edu::74943e04-3dec-4f3f-a395-81cfa4795985" providerId="AD" clId="Web-{7436FB1E-3D02-8249-51C2-FFC86F4B1E20}" dt="2024-10-30T00:25:43.907" v="1574" actId="20577"/>
      <pc:docMkLst>
        <pc:docMk/>
      </pc:docMkLst>
      <pc:sldChg chg="addSp delSp modSp">
        <pc:chgData name="Amrit Chugani" userId="S::ac928@duke.edu::74943e04-3dec-4f3f-a395-81cfa4795985" providerId="AD" clId="Web-{7436FB1E-3D02-8249-51C2-FFC86F4B1E20}" dt="2024-10-29T23:49:14.263" v="489" actId="20577"/>
        <pc:sldMkLst>
          <pc:docMk/>
          <pc:sldMk cId="3559554758" sldId="262"/>
        </pc:sldMkLst>
      </pc:sldChg>
      <pc:sldChg chg="addSp delSp modSp">
        <pc:chgData name="Amrit Chugani" userId="S::ac928@duke.edu::74943e04-3dec-4f3f-a395-81cfa4795985" providerId="AD" clId="Web-{7436FB1E-3D02-8249-51C2-FFC86F4B1E20}" dt="2024-10-29T23:40:48.012" v="401" actId="14100"/>
        <pc:sldMkLst>
          <pc:docMk/>
          <pc:sldMk cId="516874429" sldId="276"/>
        </pc:sldMkLst>
      </pc:sldChg>
      <pc:sldChg chg="modSp">
        <pc:chgData name="Amrit Chugani" userId="S::ac928@duke.edu::74943e04-3dec-4f3f-a395-81cfa4795985" providerId="AD" clId="Web-{7436FB1E-3D02-8249-51C2-FFC86F4B1E20}" dt="2024-10-30T00:25:43.907" v="1574" actId="20577"/>
        <pc:sldMkLst>
          <pc:docMk/>
          <pc:sldMk cId="1395366015" sldId="281"/>
        </pc:sldMkLst>
      </pc:sldChg>
    </pc:docChg>
  </pc:docChgLst>
  <pc:docChgLst>
    <pc:chgData name="Sudhire Rahul Karunakaran" userId="S::sk932@duke.edu::a3f74f02-74ea-40b8-ad26-a63ae8742324" providerId="AD" clId="Web-{5756C8A2-5180-1A4D-9BD9-67D12527170D}"/>
    <pc:docChg chg="modSld">
      <pc:chgData name="Sudhire Rahul Karunakaran" userId="S::sk932@duke.edu::a3f74f02-74ea-40b8-ad26-a63ae8742324" providerId="AD" clId="Web-{5756C8A2-5180-1A4D-9BD9-67D12527170D}" dt="2024-12-04T00:42:02.039" v="1854" actId="20577"/>
      <pc:docMkLst>
        <pc:docMk/>
      </pc:docMkLst>
      <pc:sldChg chg="modSp">
        <pc:chgData name="Sudhire Rahul Karunakaran" userId="S::sk932@duke.edu::a3f74f02-74ea-40b8-ad26-a63ae8742324" providerId="AD" clId="Web-{5756C8A2-5180-1A4D-9BD9-67D12527170D}" dt="2024-12-03T17:13:29.802" v="382" actId="20577"/>
        <pc:sldMkLst>
          <pc:docMk/>
          <pc:sldMk cId="962058049" sldId="275"/>
        </pc:sldMkLst>
      </pc:sldChg>
      <pc:sldChg chg="delSp modSp">
        <pc:chgData name="Sudhire Rahul Karunakaran" userId="S::sk932@duke.edu::a3f74f02-74ea-40b8-ad26-a63ae8742324" providerId="AD" clId="Web-{5756C8A2-5180-1A4D-9BD9-67D12527170D}" dt="2024-12-04T00:42:02.039" v="1854" actId="20577"/>
        <pc:sldMkLst>
          <pc:docMk/>
          <pc:sldMk cId="516874429" sldId="276"/>
        </pc:sldMkLst>
      </pc:sldChg>
      <pc:sldChg chg="addSp delSp modSp">
        <pc:chgData name="Sudhire Rahul Karunakaran" userId="S::sk932@duke.edu::a3f74f02-74ea-40b8-ad26-a63ae8742324" providerId="AD" clId="Web-{5756C8A2-5180-1A4D-9BD9-67D12527170D}" dt="2024-12-03T19:23:58.698" v="1250" actId="1076"/>
        <pc:sldMkLst>
          <pc:docMk/>
          <pc:sldMk cId="3144237048" sldId="277"/>
        </pc:sldMkLst>
      </pc:sldChg>
      <pc:sldChg chg="modSp">
        <pc:chgData name="Sudhire Rahul Karunakaran" userId="S::sk932@duke.edu::a3f74f02-74ea-40b8-ad26-a63ae8742324" providerId="AD" clId="Web-{5756C8A2-5180-1A4D-9BD9-67D12527170D}" dt="2024-12-03T17:05:57.828" v="352" actId="20577"/>
        <pc:sldMkLst>
          <pc:docMk/>
          <pc:sldMk cId="2367676559" sldId="280"/>
        </pc:sldMkLst>
      </pc:sldChg>
      <pc:sldChg chg="modSp">
        <pc:chgData name="Sudhire Rahul Karunakaran" userId="S::sk932@duke.edu::a3f74f02-74ea-40b8-ad26-a63ae8742324" providerId="AD" clId="Web-{5756C8A2-5180-1A4D-9BD9-67D12527170D}" dt="2024-12-03T20:36:16.428" v="1579" actId="20577"/>
        <pc:sldMkLst>
          <pc:docMk/>
          <pc:sldMk cId="1395366015" sldId="281"/>
        </pc:sldMkLst>
      </pc:sldChg>
    </pc:docChg>
  </pc:docChgLst>
  <pc:docChgLst>
    <pc:chgData name="Sneh Pandey" userId="14082e1a-38cb-4dac-8abf-df68ee1cda3a" providerId="ADAL" clId="{44DC4AE5-0C91-F84B-962A-A79AF054DF4C}"/>
    <pc:docChg chg="undo custSel modSld">
      <pc:chgData name="Sneh Pandey" userId="14082e1a-38cb-4dac-8abf-df68ee1cda3a" providerId="ADAL" clId="{44DC4AE5-0C91-F84B-962A-A79AF054DF4C}" dt="2024-10-28T23:06:53.538" v="423" actId="20577"/>
      <pc:docMkLst>
        <pc:docMk/>
      </pc:docMkLst>
      <pc:sldChg chg="modSp">
        <pc:chgData name="Sneh Pandey" userId="14082e1a-38cb-4dac-8abf-df68ee1cda3a" providerId="ADAL" clId="{44DC4AE5-0C91-F84B-962A-A79AF054DF4C}" dt="2024-10-28T23:06:53.538" v="423" actId="20577"/>
        <pc:sldMkLst>
          <pc:docMk/>
          <pc:sldMk cId="3075223748" sldId="271"/>
        </pc:sldMkLst>
      </pc:sldChg>
    </pc:docChg>
  </pc:docChgLst>
  <pc:docChgLst>
    <pc:chgData name="Sudhire Rahul Karunakaran" userId="S::sk932@duke.edu::a3f74f02-74ea-40b8-ad26-a63ae8742324" providerId="AD" clId="Web-{D04F36A4-1CBB-4B8B-6776-9D7C24AAC6E1}"/>
    <pc:docChg chg="delSld modSld">
      <pc:chgData name="Sudhire Rahul Karunakaran" userId="S::sk932@duke.edu::a3f74f02-74ea-40b8-ad26-a63ae8742324" providerId="AD" clId="Web-{D04F36A4-1CBB-4B8B-6776-9D7C24AAC6E1}" dt="2024-12-05T04:16:47.683" v="886" actId="20577"/>
      <pc:docMkLst>
        <pc:docMk/>
      </pc:docMkLst>
      <pc:sldChg chg="delSp modSp mod setBg">
        <pc:chgData name="Sudhire Rahul Karunakaran" userId="S::sk932@duke.edu::a3f74f02-74ea-40b8-ad26-a63ae8742324" providerId="AD" clId="Web-{D04F36A4-1CBB-4B8B-6776-9D7C24AAC6E1}" dt="2024-12-05T04:00:11.369" v="757" actId="1076"/>
        <pc:sldMkLst>
          <pc:docMk/>
          <pc:sldMk cId="0" sldId="268"/>
        </pc:sldMkLst>
      </pc:sldChg>
      <pc:sldChg chg="modSp">
        <pc:chgData name="Sudhire Rahul Karunakaran" userId="S::sk932@duke.edu::a3f74f02-74ea-40b8-ad26-a63ae8742324" providerId="AD" clId="Web-{D04F36A4-1CBB-4B8B-6776-9D7C24AAC6E1}" dt="2024-12-04T01:14:01.387" v="663" actId="14100"/>
        <pc:sldMkLst>
          <pc:docMk/>
          <pc:sldMk cId="3075223748" sldId="271"/>
        </pc:sldMkLst>
      </pc:sldChg>
      <pc:sldChg chg="modSp">
        <pc:chgData name="Sudhire Rahul Karunakaran" userId="S::sk932@duke.edu::a3f74f02-74ea-40b8-ad26-a63ae8742324" providerId="AD" clId="Web-{D04F36A4-1CBB-4B8B-6776-9D7C24AAC6E1}" dt="2024-12-05T04:02:36.262" v="763" actId="20577"/>
        <pc:sldMkLst>
          <pc:docMk/>
          <pc:sldMk cId="516874429" sldId="276"/>
        </pc:sldMkLst>
      </pc:sldChg>
      <pc:sldChg chg="modSp">
        <pc:chgData name="Sudhire Rahul Karunakaran" userId="S::sk932@duke.edu::a3f74f02-74ea-40b8-ad26-a63ae8742324" providerId="AD" clId="Web-{D04F36A4-1CBB-4B8B-6776-9D7C24AAC6E1}" dt="2024-12-05T04:16:47.683" v="886" actId="20577"/>
        <pc:sldMkLst>
          <pc:docMk/>
          <pc:sldMk cId="3144237048" sldId="277"/>
        </pc:sldMkLst>
      </pc:sldChg>
      <pc:sldChg chg="modSp">
        <pc:chgData name="Sudhire Rahul Karunakaran" userId="S::sk932@duke.edu::a3f74f02-74ea-40b8-ad26-a63ae8742324" providerId="AD" clId="Web-{D04F36A4-1CBB-4B8B-6776-9D7C24AAC6E1}" dt="2024-12-05T04:03:42.718" v="771" actId="20577"/>
        <pc:sldMkLst>
          <pc:docMk/>
          <pc:sldMk cId="1395366015" sldId="281"/>
        </pc:sldMkLst>
      </pc:sldChg>
      <pc:sldChg chg="del">
        <pc:chgData name="Sudhire Rahul Karunakaran" userId="S::sk932@duke.edu::a3f74f02-74ea-40b8-ad26-a63ae8742324" providerId="AD" clId="Web-{D04F36A4-1CBB-4B8B-6776-9D7C24AAC6E1}" dt="2024-12-04T01:14:19.028" v="664"/>
        <pc:sldMkLst>
          <pc:docMk/>
          <pc:sldMk cId="3438516415" sldId="285"/>
        </pc:sldMkLst>
      </pc:sldChg>
      <pc:sldChg chg="del">
        <pc:chgData name="Sudhire Rahul Karunakaran" userId="S::sk932@duke.edu::a3f74f02-74ea-40b8-ad26-a63ae8742324" providerId="AD" clId="Web-{D04F36A4-1CBB-4B8B-6776-9D7C24AAC6E1}" dt="2024-12-04T01:15:29.420" v="668"/>
        <pc:sldMkLst>
          <pc:docMk/>
          <pc:sldMk cId="2239463668" sldId="286"/>
        </pc:sldMkLst>
      </pc:sldChg>
    </pc:docChg>
  </pc:docChgLst>
  <pc:docChgLst>
    <pc:chgData name="Sudhire Rahul Karunakaran" userId="a3f74f02-74ea-40b8-ad26-a63ae8742324" providerId="ADAL" clId="{26B97F44-0743-5BE2-B329-9261C716653D}"/>
    <pc:docChg chg="modSld">
      <pc:chgData name="Sudhire Rahul Karunakaran" userId="a3f74f02-74ea-40b8-ad26-a63ae8742324" providerId="ADAL" clId="{26B97F44-0743-5BE2-B329-9261C716653D}" dt="2025-09-19T12:58:36.644" v="14" actId="1038"/>
      <pc:docMkLst>
        <pc:docMk/>
      </pc:docMkLst>
      <pc:sldChg chg="addSp delSp modSp mod">
        <pc:chgData name="Sudhire Rahul Karunakaran" userId="a3f74f02-74ea-40b8-ad26-a63ae8742324" providerId="ADAL" clId="{26B97F44-0743-5BE2-B329-9261C716653D}" dt="2025-09-19T05:12:22.809" v="5"/>
        <pc:sldMkLst>
          <pc:docMk/>
          <pc:sldMk cId="2367676559" sldId="280"/>
        </pc:sldMkLst>
        <pc:spChg chg="add del mod">
          <ac:chgData name="Sudhire Rahul Karunakaran" userId="a3f74f02-74ea-40b8-ad26-a63ae8742324" providerId="ADAL" clId="{26B97F44-0743-5BE2-B329-9261C716653D}" dt="2025-09-19T05:12:12.810" v="2"/>
          <ac:spMkLst>
            <pc:docMk/>
            <pc:sldMk cId="2367676559" sldId="280"/>
            <ac:spMk id="4" creationId="{675B43FE-F474-D8D5-9C47-FDA34FD01066}"/>
          </ac:spMkLst>
        </pc:spChg>
        <pc:spChg chg="add del mod">
          <ac:chgData name="Sudhire Rahul Karunakaran" userId="a3f74f02-74ea-40b8-ad26-a63ae8742324" providerId="ADAL" clId="{26B97F44-0743-5BE2-B329-9261C716653D}" dt="2025-09-19T05:12:22.809" v="5"/>
          <ac:spMkLst>
            <pc:docMk/>
            <pc:sldMk cId="2367676559" sldId="280"/>
            <ac:spMk id="5" creationId="{4B42DDDB-F4AD-A676-6CB7-F6C8E8369F4D}"/>
          </ac:spMkLst>
        </pc:spChg>
      </pc:sldChg>
    </pc:docChg>
  </pc:docChgLst>
  <pc:docChgLst>
    <pc:chgData name="Vaishnavi Cherukuri" userId="S::vc142@duke.edu::3bf30a90-56e4-4226-a658-1e82adeec900" providerId="AD" clId="Web-{FE3112A3-6782-1ACA-CBD2-4233AB7AF0D5}"/>
    <pc:docChg chg="addSld delSld modSld">
      <pc:chgData name="Vaishnavi Cherukuri" userId="S::vc142@duke.edu::3bf30a90-56e4-4226-a658-1e82adeec900" providerId="AD" clId="Web-{FE3112A3-6782-1ACA-CBD2-4233AB7AF0D5}" dt="2024-10-29T23:54:55.854" v="680" actId="20577"/>
      <pc:docMkLst>
        <pc:docMk/>
      </pc:docMkLst>
      <pc:sldChg chg="modSp">
        <pc:chgData name="Vaishnavi Cherukuri" userId="S::vc142@duke.edu::3bf30a90-56e4-4226-a658-1e82adeec900" providerId="AD" clId="Web-{FE3112A3-6782-1ACA-CBD2-4233AB7AF0D5}" dt="2024-10-29T23:32:31.883" v="641" actId="20577"/>
        <pc:sldMkLst>
          <pc:docMk/>
          <pc:sldMk cId="3559554758" sldId="262"/>
        </pc:sldMkLst>
      </pc:sldChg>
      <pc:sldChg chg="modSp">
        <pc:chgData name="Vaishnavi Cherukuri" userId="S::vc142@duke.edu::3bf30a90-56e4-4226-a658-1e82adeec900" providerId="AD" clId="Web-{FE3112A3-6782-1ACA-CBD2-4233AB7AF0D5}" dt="2024-10-29T23:54:55.854" v="680" actId="20577"/>
        <pc:sldMkLst>
          <pc:docMk/>
          <pc:sldMk cId="962058049" sldId="275"/>
        </pc:sldMkLst>
      </pc:sldChg>
      <pc:sldChg chg="delSp modSp add del replId">
        <pc:chgData name="Vaishnavi Cherukuri" userId="S::vc142@duke.edu::3bf30a90-56e4-4226-a658-1e82adeec900" providerId="AD" clId="Web-{FE3112A3-6782-1ACA-CBD2-4233AB7AF0D5}" dt="2024-10-29T22:58:54.080" v="89"/>
        <pc:sldMkLst>
          <pc:docMk/>
          <pc:sldMk cId="1791615115" sldId="277"/>
        </pc:sldMkLst>
      </pc:sldChg>
    </pc:docChg>
  </pc:docChgLst>
  <pc:docChgLst>
    <pc:chgData name="Sneh Pandey" userId="S::sp743@duke.edu::14082e1a-38cb-4dac-8abf-df68ee1cda3a" providerId="AD" clId="Web-{97C28B7A-1696-5FE2-BA6C-4110D7E227A8}"/>
    <pc:docChg chg="modSld">
      <pc:chgData name="Sneh Pandey" userId="S::sp743@duke.edu::14082e1a-38cb-4dac-8abf-df68ee1cda3a" providerId="AD" clId="Web-{97C28B7A-1696-5FE2-BA6C-4110D7E227A8}" dt="2024-10-30T00:07:23.720" v="864" actId="20577"/>
      <pc:docMkLst>
        <pc:docMk/>
      </pc:docMkLst>
      <pc:sldChg chg="modSp">
        <pc:chgData name="Sneh Pandey" userId="S::sp743@duke.edu::14082e1a-38cb-4dac-8abf-df68ee1cda3a" providerId="AD" clId="Web-{97C28B7A-1696-5FE2-BA6C-4110D7E227A8}" dt="2024-10-29T23:44:45.510" v="537" actId="20577"/>
        <pc:sldMkLst>
          <pc:docMk/>
          <pc:sldMk cId="3559554758" sldId="262"/>
        </pc:sldMkLst>
      </pc:sldChg>
      <pc:sldChg chg="modSp modCm">
        <pc:chgData name="Sneh Pandey" userId="S::sp743@duke.edu::14082e1a-38cb-4dac-8abf-df68ee1cda3a" providerId="AD" clId="Web-{97C28B7A-1696-5FE2-BA6C-4110D7E227A8}" dt="2024-10-29T23:52:35.994" v="608" actId="20577"/>
        <pc:sldMkLst>
          <pc:docMk/>
          <pc:sldMk cId="962058049" sldId="275"/>
        </pc:sldMkLst>
        <pc:extLst>
          <p:ext xmlns:p="http://schemas.openxmlformats.org/presentationml/2006/main" uri="{D6D511B9-2390-475A-947B-AFAB55BFBCF1}">
            <pc226:cmChg xmlns:pc226="http://schemas.microsoft.com/office/powerpoint/2022/06/main/command" chg="mod">
              <pc226:chgData name="Sneh Pandey" userId="S::sp743@duke.edu::14082e1a-38cb-4dac-8abf-df68ee1cda3a" providerId="AD" clId="Web-{97C28B7A-1696-5FE2-BA6C-4110D7E227A8}" dt="2024-10-29T23:51:59.119" v="586" actId="20577"/>
              <pc2:cmMkLst xmlns:pc2="http://schemas.microsoft.com/office/powerpoint/2019/9/main/command">
                <pc:docMk/>
                <pc:sldMk cId="962058049" sldId="275"/>
                <pc2:cmMk id="{8735C43F-A018-43A9-A97C-8B69BE3CC003}"/>
              </pc2:cmMkLst>
            </pc226:cmChg>
          </p:ext>
        </pc:extLst>
      </pc:sldChg>
      <pc:sldChg chg="modSp">
        <pc:chgData name="Sneh Pandey" userId="S::sp743@duke.edu::14082e1a-38cb-4dac-8abf-df68ee1cda3a" providerId="AD" clId="Web-{97C28B7A-1696-5FE2-BA6C-4110D7E227A8}" dt="2024-10-30T00:07:23.720" v="864" actId="20577"/>
        <pc:sldMkLst>
          <pc:docMk/>
          <pc:sldMk cId="1395366015" sldId="281"/>
        </pc:sldMkLst>
      </pc:sldChg>
    </pc:docChg>
  </pc:docChgLst>
  <pc:docChgLst>
    <pc:chgData name="Sudhire Rahul Karunakaran" userId="S::sk932@duke.edu::a3f74f02-74ea-40b8-ad26-a63ae8742324" providerId="AD" clId="Web-{F81EAAF4-553F-5879-12E6-62A2FA0B0A2E}"/>
    <pc:docChg chg="modSld">
      <pc:chgData name="Sudhire Rahul Karunakaran" userId="S::sk932@duke.edu::a3f74f02-74ea-40b8-ad26-a63ae8742324" providerId="AD" clId="Web-{F81EAAF4-553F-5879-12E6-62A2FA0B0A2E}" dt="2024-10-28T17:18:59.754" v="1" actId="1076"/>
      <pc:docMkLst>
        <pc:docMk/>
      </pc:docMkLst>
      <pc:sldChg chg="addSp modSp">
        <pc:chgData name="Sudhire Rahul Karunakaran" userId="S::sk932@duke.edu::a3f74f02-74ea-40b8-ad26-a63ae8742324" providerId="AD" clId="Web-{F81EAAF4-553F-5879-12E6-62A2FA0B0A2E}" dt="2024-10-28T17:18:59.754" v="1" actId="1076"/>
        <pc:sldMkLst>
          <pc:docMk/>
          <pc:sldMk cId="3988347247" sldId="274"/>
        </pc:sldMkLst>
      </pc:sldChg>
    </pc:docChg>
  </pc:docChgLst>
  <pc:docChgLst>
    <pc:chgData name="Sneh Pandey" userId="S::sp743@duke.edu::14082e1a-38cb-4dac-8abf-df68ee1cda3a" providerId="AD" clId="Web-{FA11A3B7-5A1B-64A7-BDC8-76C58B32F6CC}"/>
    <pc:docChg chg="addSld modSld">
      <pc:chgData name="Sneh Pandey" userId="S::sp743@duke.edu::14082e1a-38cb-4dac-8abf-df68ee1cda3a" providerId="AD" clId="Web-{FA11A3B7-5A1B-64A7-BDC8-76C58B32F6CC}" dt="2024-11-04T21:49:28.769" v="2157" actId="20577"/>
      <pc:docMkLst>
        <pc:docMk/>
      </pc:docMkLst>
      <pc:sldChg chg="modSp add replId">
        <pc:chgData name="Sneh Pandey" userId="S::sp743@duke.edu::14082e1a-38cb-4dac-8abf-df68ee1cda3a" providerId="AD" clId="Web-{FA11A3B7-5A1B-64A7-BDC8-76C58B32F6CC}" dt="2024-11-04T16:08:05.670" v="494"/>
        <pc:sldMkLst>
          <pc:docMk/>
          <pc:sldMk cId="3438516415" sldId="285"/>
        </pc:sldMkLst>
      </pc:sldChg>
      <pc:sldChg chg="modSp add replId">
        <pc:chgData name="Sneh Pandey" userId="S::sp743@duke.edu::14082e1a-38cb-4dac-8abf-df68ee1cda3a" providerId="AD" clId="Web-{FA11A3B7-5A1B-64A7-BDC8-76C58B32F6CC}" dt="2024-11-04T21:49:28.769" v="2157" actId="20577"/>
        <pc:sldMkLst>
          <pc:docMk/>
          <pc:sldMk cId="2239463668" sldId="286"/>
        </pc:sldMkLst>
      </pc:sldChg>
    </pc:docChg>
  </pc:docChgLst>
</pc:chgInfo>
</file>

<file path=ppt/comments/modernComment_10F_B74C30C4.xml><?xml version="1.0" encoding="utf-8"?>
<p188:cmLst xmlns:a="http://schemas.openxmlformats.org/drawingml/2006/main" xmlns:r="http://schemas.openxmlformats.org/officeDocument/2006/relationships" xmlns:p188="http://schemas.microsoft.com/office/powerpoint/2018/8/main">
  <p188:cm id="{4D69FD6D-65D2-40A7-A2FB-A0B9B945E5B8}" authorId="{9F7D7F10-7A00-1B42-FA01-855F77037521}" status="resolved" created="2024-10-28T22:53:17.296" complete="100000">
    <pc:sldMkLst xmlns:pc="http://schemas.microsoft.com/office/powerpoint/2013/main/command">
      <pc:docMk/>
      <pc:sldMk cId="3075223748" sldId="271"/>
    </pc:sldMkLst>
    <p188:txBody>
      <a:bodyPr/>
      <a:lstStyle/>
      <a:p>
        <a:r>
          <a:rPr lang="en-US"/>
          <a:t>This should match the axes lables on slide 5 or vice versa
[@Sneh Pandey] [@Vaishnavi Cherukuri] </a:t>
        </a:r>
      </a:p>
    </p188:txBody>
  </p188:cm>
</p188:cmLst>
</file>

<file path=ppt/comments/modernComment_114_1ECEE0BD.xml><?xml version="1.0" encoding="utf-8"?>
<p188:cmLst xmlns:a="http://schemas.openxmlformats.org/drawingml/2006/main" xmlns:r="http://schemas.openxmlformats.org/officeDocument/2006/relationships" xmlns:p188="http://schemas.microsoft.com/office/powerpoint/2018/8/main">
  <p188:cm id="{29FDF3EB-E979-4BFF-8538-33495CCABA59}" authorId="{9F7D7F10-7A00-1B42-FA01-855F77037521}" status="resolved" created="2024-10-28T23:07:01.100" complete="100000">
    <pc:sldMkLst xmlns:pc="http://schemas.microsoft.com/office/powerpoint/2013/main/command">
      <pc:docMk/>
      <pc:sldMk cId="516874429" sldId="276"/>
    </pc:sldMkLst>
    <p188:replyLst>
      <p188:reply id="{C2814250-B718-45D7-8E41-DE0A7F27ED4B}" authorId="{3586808A-D0C2-24D6-3719-3BCDB16E7DAC}" created="2024-10-29T16:02:26.809">
        <p188:txBody>
          <a:bodyPr/>
          <a:lstStyle/>
          <a:p>
            <a:r>
              <a:rPr lang="en-US"/>
              <a:t>I think they already have that</a:t>
            </a:r>
          </a:p>
        </p188:txBody>
      </p188:reply>
      <p188:reply id="{76D993D9-7585-4E21-BC2D-63BA7F0FD48C}" authorId="{9F7D7F10-7A00-1B42-FA01-855F77037521}" created="2024-10-29T22:40:23.535">
        <p188:txBody>
          <a:bodyPr/>
          <a:lstStyle/>
          <a:p>
            <a:r>
              <a:rPr lang="en-US"/>
              <a:t>Achaaaaaa ok
</a:t>
            </a:r>
          </a:p>
        </p188:txBody>
      </p188:reply>
    </p188:replyLst>
    <p188:txBody>
      <a:bodyPr/>
      <a:lstStyle/>
      <a:p>
        <a:r>
          <a:rPr lang="en-US"/>
          <a:t>Looks good ,we should include that point we discussed yesteraday about partnering with things like googe fit or something to create a tonal community or somehow bring this point into existing reccomendations,bascically it being on iot devices,watches,etc</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9T23:46:36.230"/>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7B91A7-F095-4939-9409-DC06AAF2A719}" type="datetimeFigureOut">
              <a:rPr lang="en-US" smtClean="0"/>
              <a:t>9/19/25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DE10C-FB17-4712-88E5-C3F5F2131D6B}" type="slidenum">
              <a:rPr lang="en-US" smtClean="0"/>
              <a:t>‹#›</a:t>
            </a:fld>
            <a:endParaRPr lang="en-US"/>
          </a:p>
        </p:txBody>
      </p:sp>
    </p:spTree>
    <p:extLst>
      <p:ext uri="{BB962C8B-B14F-4D97-AF65-F5344CB8AC3E}">
        <p14:creationId xmlns:p14="http://schemas.microsoft.com/office/powerpoint/2010/main" val="210289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141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328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82125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5737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5715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0140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9377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630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684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716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7946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9/19/25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733078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jpe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jpeg"/><Relationship Id="rId17" Type="http://schemas.openxmlformats.org/officeDocument/2006/relationships/image" Target="../media/image17.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jpeg"/><Relationship Id="rId15" Type="http://schemas.openxmlformats.org/officeDocument/2006/relationships/image" Target="../media/image15.png"/><Relationship Id="rId23" Type="http://schemas.openxmlformats.org/officeDocument/2006/relationships/image" Target="../media/image23.jpeg"/><Relationship Id="rId10" Type="http://schemas.openxmlformats.org/officeDocument/2006/relationships/image" Target="../media/image10.png"/><Relationship Id="rId19" Type="http://schemas.openxmlformats.org/officeDocument/2006/relationships/image" Target="../media/image19.jpe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jpeg"/><Relationship Id="rId22"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260.png"/></Relationships>
</file>

<file path=ppt/slides/_rels/slide7.xml.rels><?xml version="1.0" encoding="UTF-8" standalone="yes"?>
<Relationships xmlns="http://schemas.openxmlformats.org/package/2006/relationships"><Relationship Id="rId2" Type="http://schemas.microsoft.com/office/2018/10/relationships/comments" Target="../comments/modernComment_114_1ECEE0BD.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F_B74C30C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hyperlink" Target="https://www.slidegenius.com/portfolio/nike" TargetMode="External"/><Relationship Id="rId13" Type="http://schemas.openxmlformats.org/officeDocument/2006/relationships/hyperlink" Target="https://consumergoods.com/nike-sports-research-lab-expedites-product-innovation-ai-and-4d-motion-capture" TargetMode="External"/><Relationship Id="rId3" Type="http://schemas.openxmlformats.org/officeDocument/2006/relationships/hyperlink" Target="https://www.just-style.com/features/explainer-true-cost-for-apparel-footwear-sectors-in-trumps-america/" TargetMode="External"/><Relationship Id="rId7" Type="http://schemas.openxmlformats.org/officeDocument/2006/relationships/hyperlink" Target="https://brainstation.io/magazine/nike-cryptokicks-concept-battles-counterfeits-with-blockchain" TargetMode="External"/><Relationship Id="rId12" Type="http://schemas.openxmlformats.org/officeDocument/2006/relationships/hyperlink" Target="https://www.investopedia.com/articles/markets/080415/how-nike-nke-makes-its-money.asp" TargetMode="External"/><Relationship Id="rId2" Type="http://schemas.openxmlformats.org/officeDocument/2006/relationships/hyperlink" Target="https://runrepeat.com/counterfeit-shoes-statistics" TargetMode="External"/><Relationship Id="rId1" Type="http://schemas.openxmlformats.org/officeDocument/2006/relationships/slideLayout" Target="../slideLayouts/slideLayout7.xml"/><Relationship Id="rId6" Type="http://schemas.openxmlformats.org/officeDocument/2006/relationships/hyperlink" Target="https://www.retaildive.com/news/nike-converse-sue-counterfeiting-networks/719318/" TargetMode="External"/><Relationship Id="rId11" Type="http://schemas.openxmlformats.org/officeDocument/2006/relationships/hyperlink" Target="https://aimresearch.co/ai-in-cpg-retail/how-nike-is-using-ai-to-transform-product-design-customer-experience-and-operational-efficiency" TargetMode="External"/><Relationship Id="rId5" Type="http://schemas.openxmlformats.org/officeDocument/2006/relationships/hyperlink" Target="https://www.samford.edu/sports-analytics/fans/2019/Nike-Caught-in-the-Crosshairs-of-the-Trade-War" TargetMode="External"/><Relationship Id="rId10" Type="http://schemas.openxmlformats.org/officeDocument/2006/relationships/hyperlink" Target="https://about.nike.com/en/newsroom/releases/nike-ignites-new-frontier-of-innovation-with-40-elite-athletes-in-unforgettable-experience-in-paris?t&amp;utm_source=perplexity" TargetMode="External"/><Relationship Id="rId4" Type="http://schemas.openxmlformats.org/officeDocument/2006/relationships/hyperlink" Target="https://www.3dnatives.com/en/nike-air-revolutionizing-shoes-with-3d-printing-160420246/" TargetMode="External"/><Relationship Id="rId9" Type="http://schemas.openxmlformats.org/officeDocument/2006/relationships/hyperlink" Target="https://simba-digital.ch/en/nikes-marketing-strategy-that-revolutionized-the-sports-industry/" TargetMode="External"/><Relationship Id="rId14" Type="http://schemas.openxmlformats.org/officeDocument/2006/relationships/hyperlink" Target="https://www.reuters.com/business/retail-consumer/nike-beats-quarterly-revenue-estimates-buoyant-sneaker-demand-2023-06-2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7985BD-8412-C10C-632F-FF31160AE9C9}"/>
              </a:ext>
            </a:extLst>
          </p:cNvPr>
          <p:cNvSpPr txBox="1"/>
          <p:nvPr/>
        </p:nvSpPr>
        <p:spPr>
          <a:xfrm>
            <a:off x="-4838" y="2740781"/>
            <a:ext cx="748453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bg1"/>
                </a:solidFill>
                <a:latin typeface="Public Sans Bold"/>
              </a:rPr>
              <a:t>HOW NIKE DROPPED THE BALL?</a:t>
            </a:r>
            <a:r>
              <a:rPr lang="en-US" sz="2400" dirty="0">
                <a:solidFill>
                  <a:schemeClr val="bg1"/>
                </a:solidFill>
                <a:latin typeface="Public Sans Bold"/>
              </a:rPr>
              <a:t>​</a:t>
            </a:r>
            <a:endParaRPr lang="en-US" dirty="0">
              <a:solidFill>
                <a:schemeClr val="bg1"/>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p:cNvGrpSpPr/>
        <p:nvPr/>
      </p:nvGrpSpPr>
      <p:grpSpPr>
        <a:xfrm>
          <a:off x="0" y="0"/>
          <a:ext cx="0" cy="0"/>
          <a:chOff x="0" y="0"/>
          <a:chExt cx="0" cy="0"/>
        </a:xfrm>
      </p:grpSpPr>
      <p:sp>
        <p:nvSpPr>
          <p:cNvPr id="10" name="AutoShape 3">
            <a:extLst>
              <a:ext uri="{FF2B5EF4-FFF2-40B4-BE49-F238E27FC236}">
                <a16:creationId xmlns:a16="http://schemas.microsoft.com/office/drawing/2014/main" id="{CF970FDC-948F-57E2-19D8-EC0628149AD5}"/>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7AB14E09-DA50-1954-2E02-AD6229B331AF}"/>
              </a:ext>
            </a:extLst>
          </p:cNvPr>
          <p:cNvSpPr txBox="1"/>
          <p:nvPr/>
        </p:nvSpPr>
        <p:spPr>
          <a:xfrm>
            <a:off x="296182" y="219266"/>
            <a:ext cx="117034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bg1"/>
                </a:solidFill>
                <a:ea typeface="+mn-lt"/>
                <a:cs typeface="+mn-lt"/>
              </a:rPr>
              <a:t>Executive Summary</a:t>
            </a:r>
            <a:endParaRPr lang="en-US" sz="2400" dirty="0">
              <a:solidFill>
                <a:schemeClr val="bg1"/>
              </a:solidFill>
              <a:ea typeface="Calibri"/>
              <a:cs typeface="Calibri"/>
            </a:endParaRPr>
          </a:p>
        </p:txBody>
      </p:sp>
      <p:sp>
        <p:nvSpPr>
          <p:cNvPr id="15" name="TextBox 14">
            <a:extLst>
              <a:ext uri="{FF2B5EF4-FFF2-40B4-BE49-F238E27FC236}">
                <a16:creationId xmlns:a16="http://schemas.microsoft.com/office/drawing/2014/main" id="{3D349012-990F-3480-0F2F-37B4123921A1}"/>
              </a:ext>
            </a:extLst>
          </p:cNvPr>
          <p:cNvSpPr txBox="1"/>
          <p:nvPr/>
        </p:nvSpPr>
        <p:spPr>
          <a:xfrm>
            <a:off x="296181" y="989639"/>
            <a:ext cx="117034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cs typeface="Calibri"/>
            </a:endParaRPr>
          </a:p>
        </p:txBody>
      </p:sp>
      <p:sp>
        <p:nvSpPr>
          <p:cNvPr id="16" name="TextBox 15">
            <a:extLst>
              <a:ext uri="{FF2B5EF4-FFF2-40B4-BE49-F238E27FC236}">
                <a16:creationId xmlns:a16="http://schemas.microsoft.com/office/drawing/2014/main" id="{D090E2F1-8CC6-2CCB-C71B-B99047A5B14E}"/>
              </a:ext>
            </a:extLst>
          </p:cNvPr>
          <p:cNvSpPr txBox="1"/>
          <p:nvPr/>
        </p:nvSpPr>
        <p:spPr>
          <a:xfrm>
            <a:off x="296181" y="1123616"/>
            <a:ext cx="11301501"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b="1" dirty="0">
                <a:solidFill>
                  <a:schemeClr val="bg1"/>
                </a:solidFill>
                <a:cs typeface="Calibri"/>
              </a:rPr>
              <a:t>The global footwear industry faces affordability challenges, tech inefficiencies, sustainability concerns, and geopolitical risks impacting innovation, operations, and pricing.</a:t>
            </a:r>
            <a:endParaRPr lang="en-US">
              <a:solidFill>
                <a:schemeClr val="bg1"/>
              </a:solidFill>
              <a:ea typeface="Calibri"/>
              <a:cs typeface="Calibri"/>
            </a:endParaRPr>
          </a:p>
          <a:p>
            <a:pPr marL="285750" indent="-285750" algn="just">
              <a:buFont typeface="Arial" panose="020B0604020202020204" pitchFamily="34" charset="0"/>
              <a:buChar char="•"/>
            </a:pPr>
            <a:endParaRPr lang="en-US" sz="1600" dirty="0">
              <a:solidFill>
                <a:schemeClr val="bg1"/>
              </a:solidFill>
              <a:ea typeface="Calibri"/>
              <a:cs typeface="Calibri"/>
            </a:endParaRPr>
          </a:p>
          <a:p>
            <a:pPr marL="285750" indent="-285750" algn="just">
              <a:buFont typeface="Arial" panose="020B0604020202020204" pitchFamily="34" charset="0"/>
              <a:buChar char="•"/>
            </a:pPr>
            <a:r>
              <a:rPr lang="en-US" b="1" dirty="0">
                <a:solidFill>
                  <a:schemeClr val="bg1"/>
                </a:solidFill>
                <a:cs typeface="Calibri"/>
              </a:rPr>
              <a:t>The industry faces dynamic challenges and opportunities shaped by changes in consumer behavior, counterfeits, sustainability, and innovation, demanding strategic agility and consumer-centric solutions.</a:t>
            </a:r>
            <a:endParaRPr lang="en-US" dirty="0">
              <a:solidFill>
                <a:schemeClr val="bg1"/>
              </a:solidFill>
              <a:cs typeface="Calibri"/>
            </a:endParaRPr>
          </a:p>
          <a:p>
            <a:pPr marL="285750" indent="-285750" algn="just">
              <a:buFont typeface="Arial" panose="020B0604020202020204" pitchFamily="34" charset="0"/>
              <a:buChar char="•"/>
            </a:pPr>
            <a:endParaRPr lang="en-US" sz="1600" b="1" dirty="0">
              <a:solidFill>
                <a:schemeClr val="bg1"/>
              </a:solidFill>
              <a:ea typeface="Calibri"/>
              <a:cs typeface="Calibri"/>
            </a:endParaRPr>
          </a:p>
          <a:p>
            <a:pPr marL="285750" indent="-285750" algn="just">
              <a:buFont typeface="Arial" panose="020B0604020202020204" pitchFamily="34" charset="0"/>
              <a:buChar char="•"/>
            </a:pPr>
            <a:r>
              <a:rPr lang="en-US" b="1" dirty="0">
                <a:solidFill>
                  <a:schemeClr val="bg1"/>
                </a:solidFill>
                <a:cs typeface="Calibri"/>
              </a:rPr>
              <a:t>Incumbents focus on innovation, affordability, and market expansion, insurgents focus on disruptive innovation, while </a:t>
            </a:r>
            <a:r>
              <a:rPr lang="en-US" b="1" dirty="0" err="1">
                <a:solidFill>
                  <a:schemeClr val="bg1"/>
                </a:solidFill>
                <a:cs typeface="Calibri"/>
              </a:rPr>
              <a:t>adjacents</a:t>
            </a:r>
            <a:r>
              <a:rPr lang="en-US" b="1" dirty="0">
                <a:solidFill>
                  <a:schemeClr val="bg1"/>
                </a:solidFill>
                <a:cs typeface="Calibri"/>
              </a:rPr>
              <a:t> explore new markets, materials, distribution and technology integrations to enhance product offerings.</a:t>
            </a:r>
            <a:endParaRPr lang="en-US" dirty="0">
              <a:solidFill>
                <a:schemeClr val="bg1"/>
              </a:solidFill>
              <a:cs typeface="Calibri"/>
            </a:endParaRPr>
          </a:p>
          <a:p>
            <a:pPr marL="285750" indent="-285750" algn="just">
              <a:buFont typeface="Arial" panose="020B0604020202020204" pitchFamily="34" charset="0"/>
              <a:buChar char="•"/>
            </a:pPr>
            <a:endParaRPr lang="en-US" b="1" dirty="0">
              <a:solidFill>
                <a:schemeClr val="bg1"/>
              </a:solidFill>
              <a:ea typeface="Calibri"/>
              <a:cs typeface="Calibri"/>
            </a:endParaRPr>
          </a:p>
          <a:p>
            <a:pPr marL="285750" indent="-285750" algn="just">
              <a:buFont typeface="Arial" panose="020B0604020202020204" pitchFamily="34" charset="0"/>
              <a:buChar char="•"/>
            </a:pPr>
            <a:r>
              <a:rPr lang="en-US" b="1" dirty="0">
                <a:solidFill>
                  <a:schemeClr val="bg1"/>
                </a:solidFill>
                <a:cs typeface="Calibri"/>
              </a:rPr>
              <a:t>Nike tackles its D2C failure, counterfeits, and competition by leveraging AI, 3D printing, sustainable practices, strategic marketing and innovation to regain sneaker dominance and its lost loyalty.</a:t>
            </a:r>
            <a:endParaRPr lang="en-US" dirty="0">
              <a:solidFill>
                <a:schemeClr val="bg1"/>
              </a:solidFill>
              <a:ea typeface="Calibri"/>
              <a:cs typeface="Calibri"/>
            </a:endParaRPr>
          </a:p>
          <a:p>
            <a:pPr marL="285750" indent="-285750" algn="just">
              <a:buFont typeface="Arial" panose="020B0604020202020204" pitchFamily="34" charset="0"/>
              <a:buChar char="•"/>
            </a:pPr>
            <a:endParaRPr lang="en-US" sz="1600" dirty="0">
              <a:solidFill>
                <a:schemeClr val="bg1"/>
              </a:solidFill>
              <a:ea typeface="Calibri"/>
              <a:cs typeface="Calibri"/>
            </a:endParaRPr>
          </a:p>
          <a:p>
            <a:pPr marL="285750" indent="-285750">
              <a:buFont typeface="Arial" panose="020B0604020202020204" pitchFamily="34" charset="0"/>
              <a:buChar char="•"/>
            </a:pPr>
            <a:r>
              <a:rPr lang="en-US" b="1">
                <a:solidFill>
                  <a:schemeClr val="bg1"/>
                </a:solidFill>
              </a:rPr>
              <a:t>Nike’s strategy focuses on optimizing supply chains, innovating through AI and technology, revolutionizing sustainability, and personalizing consumer experiences across three strategic horizons.</a:t>
            </a:r>
            <a:endParaRPr lang="en-US">
              <a:solidFill>
                <a:srgbClr val="000000"/>
              </a:solidFill>
              <a:ea typeface="Calibri"/>
              <a:cs typeface="Calibri"/>
            </a:endParaRPr>
          </a:p>
        </p:txBody>
      </p:sp>
    </p:spTree>
    <p:extLst>
      <p:ext uri="{BB962C8B-B14F-4D97-AF65-F5344CB8AC3E}">
        <p14:creationId xmlns:p14="http://schemas.microsoft.com/office/powerpoint/2010/main" val="840640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p:cNvGrpSpPr/>
        <p:nvPr/>
      </p:nvGrpSpPr>
      <p:grpSpPr>
        <a:xfrm>
          <a:off x="0" y="0"/>
          <a:ext cx="0" cy="0"/>
          <a:chOff x="0" y="0"/>
          <a:chExt cx="0" cy="0"/>
        </a:xfrm>
      </p:grpSpPr>
      <p:grpSp>
        <p:nvGrpSpPr>
          <p:cNvPr id="114" name="Group 113">
            <a:extLst>
              <a:ext uri="{FF2B5EF4-FFF2-40B4-BE49-F238E27FC236}">
                <a16:creationId xmlns:a16="http://schemas.microsoft.com/office/drawing/2014/main" id="{F4A5ADCF-D112-9D6C-0956-343F510DEC5A}"/>
              </a:ext>
            </a:extLst>
          </p:cNvPr>
          <p:cNvGrpSpPr/>
          <p:nvPr/>
        </p:nvGrpSpPr>
        <p:grpSpPr>
          <a:xfrm>
            <a:off x="9862157" y="1856555"/>
            <a:ext cx="2026574" cy="4795394"/>
            <a:chOff x="9820289" y="1856555"/>
            <a:chExt cx="2110310" cy="4594427"/>
          </a:xfrm>
        </p:grpSpPr>
        <p:sp>
          <p:nvSpPr>
            <p:cNvPr id="111" name="Freeform 13">
              <a:extLst>
                <a:ext uri="{FF2B5EF4-FFF2-40B4-BE49-F238E27FC236}">
                  <a16:creationId xmlns:a16="http://schemas.microsoft.com/office/drawing/2014/main" id="{83E79615-72D0-E5D7-C62A-5826A4B9E6C3}"/>
                </a:ext>
              </a:extLst>
            </p:cNvPr>
            <p:cNvSpPr/>
            <p:nvPr/>
          </p:nvSpPr>
          <p:spPr>
            <a:xfrm>
              <a:off x="9832706" y="2405475"/>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With 60</a:t>
              </a:r>
              <a:r>
                <a:rPr lang="en-US" sz="1100" b="0" i="0" dirty="0">
                  <a:solidFill>
                    <a:srgbClr val="FFFFFF"/>
                  </a:solidFill>
                  <a:effectLst/>
                  <a:ea typeface="+mn-lt"/>
                  <a:cs typeface="+mn-lt"/>
                </a:rPr>
                <a:t>% of </a:t>
              </a:r>
              <a:r>
                <a:rPr lang="en-US" sz="1100" dirty="0">
                  <a:solidFill>
                    <a:srgbClr val="FFFFFF"/>
                  </a:solidFill>
                  <a:ea typeface="+mn-lt"/>
                  <a:cs typeface="+mn-lt"/>
                </a:rPr>
                <a:t>global footwear production depending on China and Vietnam, which </a:t>
              </a:r>
              <a:r>
                <a:rPr lang="en-US" sz="1100" b="0" i="0" dirty="0">
                  <a:solidFill>
                    <a:srgbClr val="FFFFFF"/>
                  </a:solidFill>
                  <a:effectLst/>
                  <a:ea typeface="+mn-lt"/>
                  <a:cs typeface="+mn-lt"/>
                </a:rPr>
                <a:t>are </a:t>
              </a:r>
              <a:r>
                <a:rPr lang="en-US" sz="1100" dirty="0">
                  <a:solidFill>
                    <a:srgbClr val="FFFFFF"/>
                  </a:solidFill>
                  <a:ea typeface="+mn-lt"/>
                  <a:cs typeface="+mn-lt"/>
                </a:rPr>
                <a:t>politically unstable and the consequent geopolitical tension would significantly increase tariff rates, potentially increasing footwear prices by 18% to 29%.</a:t>
              </a:r>
              <a:endParaRPr lang="en-US">
                <a:solidFill>
                  <a:srgbClr val="FFFFFF"/>
                </a:solidFill>
                <a:ea typeface="Calibri"/>
                <a:cs typeface="Calibri"/>
              </a:endParaRPr>
            </a:p>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For industries with strict standards, such as footwear manufacturing, qualifying and certifying 3D printed parts </a:t>
              </a:r>
              <a:r>
                <a:rPr lang="en-US" sz="1100" b="0" i="0" dirty="0">
                  <a:solidFill>
                    <a:srgbClr val="FFFFFF"/>
                  </a:solidFill>
                  <a:effectLst/>
                  <a:ea typeface="+mn-lt"/>
                  <a:cs typeface="+mn-lt"/>
                </a:rPr>
                <a:t>is </a:t>
              </a:r>
              <a:r>
                <a:rPr lang="en-US" sz="1100" dirty="0">
                  <a:solidFill>
                    <a:srgbClr val="FFFFFF"/>
                  </a:solidFill>
                  <a:ea typeface="+mn-lt"/>
                  <a:cs typeface="+mn-lt"/>
                </a:rPr>
                <a:t>challenging</a:t>
              </a:r>
              <a:r>
                <a:rPr lang="en-US" sz="1100" b="0" i="0" dirty="0">
                  <a:solidFill>
                    <a:srgbClr val="FFFFFF"/>
                  </a:solidFill>
                  <a:effectLst/>
                  <a:ea typeface="+mn-lt"/>
                  <a:cs typeface="+mn-lt"/>
                </a:rPr>
                <a:t>.</a:t>
              </a:r>
              <a:r>
                <a:rPr lang="en-US" sz="1100" dirty="0">
                  <a:solidFill>
                    <a:srgbClr val="FFFFFF"/>
                  </a:solidFill>
                  <a:ea typeface="+mn-lt"/>
                  <a:cs typeface="+mn-lt"/>
                </a:rPr>
                <a:t> Around </a:t>
              </a:r>
              <a:r>
                <a:rPr lang="en-US" sz="1100" b="1" dirty="0">
                  <a:solidFill>
                    <a:srgbClr val="FFFFFF"/>
                  </a:solidFill>
                  <a:ea typeface="+mn-lt"/>
                  <a:cs typeface="+mn-lt"/>
                </a:rPr>
                <a:t>50%</a:t>
              </a:r>
              <a:r>
                <a:rPr lang="en-US" sz="1100" dirty="0">
                  <a:solidFill>
                    <a:srgbClr val="FFFFFF"/>
                  </a:solidFill>
                  <a:ea typeface="+mn-lt"/>
                  <a:cs typeface="+mn-lt"/>
                </a:rPr>
                <a:t> of companies report that navigating these regulatory requirements is a major barrier to adoption.</a:t>
              </a:r>
              <a:endParaRPr lang="en-US" dirty="0">
                <a:solidFill>
                  <a:srgbClr val="FFFFFF"/>
                </a:solidFill>
                <a:ea typeface="Calibri"/>
                <a:cs typeface="Calibri"/>
              </a:endParaRPr>
            </a:p>
            <a:p>
              <a:pPr marL="0" marR="0" lvl="0" indent="0" algn="l" defTabSz="609630">
                <a:lnSpc>
                  <a:spcPct val="100000"/>
                </a:lnSpc>
                <a:spcBef>
                  <a:spcPts val="0"/>
                </a:spcBef>
                <a:spcAft>
                  <a:spcPts val="0"/>
                </a:spcAft>
                <a:buClrTx/>
                <a:buSzTx/>
                <a:buFontTx/>
                <a:buNone/>
                <a:tabLst/>
                <a:defRPr/>
              </a:pPr>
              <a:endParaRPr lang="en-US" sz="1100" b="0" i="0" u="none" strike="noStrike" kern="1200" cap="none" spc="0" normalizeH="0" baseline="0" noProof="0" dirty="0">
                <a:ln>
                  <a:noFill/>
                </a:ln>
                <a:solidFill>
                  <a:srgbClr val="FFFFFF"/>
                </a:solidFill>
                <a:effectLst/>
                <a:uLnTx/>
                <a:uFillTx/>
                <a:ea typeface="Calibri"/>
                <a:cs typeface="Calibri"/>
              </a:endParaRPr>
            </a:p>
          </p:txBody>
        </p:sp>
        <p:sp>
          <p:nvSpPr>
            <p:cNvPr id="112" name="Freeform: Shape 111">
              <a:extLst>
                <a:ext uri="{FF2B5EF4-FFF2-40B4-BE49-F238E27FC236}">
                  <a16:creationId xmlns:a16="http://schemas.microsoft.com/office/drawing/2014/main" id="{77584F3E-B38D-13FC-3721-4F67D73293E5}"/>
                </a:ext>
              </a:extLst>
            </p:cNvPr>
            <p:cNvSpPr/>
            <p:nvPr/>
          </p:nvSpPr>
          <p:spPr>
            <a:xfrm rot="10800000">
              <a:off x="9820289" y="1856555"/>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115" name="Group 114">
            <a:extLst>
              <a:ext uri="{FF2B5EF4-FFF2-40B4-BE49-F238E27FC236}">
                <a16:creationId xmlns:a16="http://schemas.microsoft.com/office/drawing/2014/main" id="{B2EEAE51-1FE2-F6F9-0781-4C445B94E56A}"/>
              </a:ext>
            </a:extLst>
          </p:cNvPr>
          <p:cNvGrpSpPr/>
          <p:nvPr/>
        </p:nvGrpSpPr>
        <p:grpSpPr>
          <a:xfrm>
            <a:off x="7470551" y="1853774"/>
            <a:ext cx="2018201" cy="4795394"/>
            <a:chOff x="7428683" y="1845401"/>
            <a:chExt cx="2110310" cy="4594427"/>
          </a:xfrm>
        </p:grpSpPr>
        <p:sp>
          <p:nvSpPr>
            <p:cNvPr id="109" name="Freeform 13">
              <a:extLst>
                <a:ext uri="{FF2B5EF4-FFF2-40B4-BE49-F238E27FC236}">
                  <a16:creationId xmlns:a16="http://schemas.microsoft.com/office/drawing/2014/main" id="{F8D79A0B-6C5C-8253-2B03-089EDECEEC96}"/>
                </a:ext>
              </a:extLst>
            </p:cNvPr>
            <p:cNvSpPr/>
            <p:nvPr/>
          </p:nvSpPr>
          <p:spPr>
            <a:xfrm>
              <a:off x="7441100" y="2394321"/>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defTabSz="609630">
                <a:defRPr/>
              </a:pPr>
              <a:endParaRPr lang="en-US" sz="1100" dirty="0">
                <a:solidFill>
                  <a:srgbClr val="FFFFFF"/>
                </a:solidFill>
                <a:latin typeface="Segoe UI"/>
                <a:cs typeface="Segoe UI"/>
              </a:endParaRPr>
            </a:p>
            <a:p>
              <a:pPr defTabSz="609630">
                <a:defRPr/>
              </a:pPr>
              <a:r>
                <a:rPr lang="en-US" sz="1100" dirty="0">
                  <a:solidFill>
                    <a:srgbClr val="FFFFFF"/>
                  </a:solidFill>
                  <a:latin typeface="Segoe UI"/>
                  <a:cs typeface="Segoe UI"/>
                </a:rPr>
                <a:t>58% of consumers care about the materials that make their clothes and want them to not be harmful to the planet.</a:t>
              </a:r>
              <a:endParaRPr lang="en-US" sz="1100">
                <a:solidFill>
                  <a:srgbClr val="FFFFFF"/>
                </a:solidFill>
                <a:ea typeface="Calibri"/>
                <a:cs typeface="Calibri"/>
              </a:endParaRPr>
            </a:p>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 Only about 5% of shoes are recycled, with the majority ending up in landfills. Most shoes contain up to 40 different materials, many of which are difficult to recycle or biodegrade.</a:t>
              </a:r>
              <a:endParaRPr lang="en-US" sz="1100" dirty="0">
                <a:solidFill>
                  <a:srgbClr val="FFFFFF"/>
                </a:solidFill>
                <a:ea typeface="Calibri"/>
                <a:cs typeface="Calibri"/>
              </a:endParaRPr>
            </a:p>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The footwear industry contributes 1.4% of global greenhouse gas emissions, nearly matching the aviation industry. Production of a single pair of running shoes equates to running a 100-watt light bulb for a week.</a:t>
              </a:r>
              <a:endParaRPr lang="en-US" sz="1100" dirty="0">
                <a:solidFill>
                  <a:srgbClr val="FFFFFF"/>
                </a:solidFill>
                <a:ea typeface="Calibri"/>
                <a:cs typeface="Calibri"/>
              </a:endParaRPr>
            </a:p>
          </p:txBody>
        </p:sp>
        <p:sp>
          <p:nvSpPr>
            <p:cNvPr id="110" name="Freeform: Shape 109">
              <a:extLst>
                <a:ext uri="{FF2B5EF4-FFF2-40B4-BE49-F238E27FC236}">
                  <a16:creationId xmlns:a16="http://schemas.microsoft.com/office/drawing/2014/main" id="{13B4A7A8-A59A-6DB4-AD49-C62E5E2EF533}"/>
                </a:ext>
              </a:extLst>
            </p:cNvPr>
            <p:cNvSpPr/>
            <p:nvPr/>
          </p:nvSpPr>
          <p:spPr>
            <a:xfrm rot="10800000">
              <a:off x="7428683" y="1845401"/>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116" name="Group 115">
            <a:extLst>
              <a:ext uri="{FF2B5EF4-FFF2-40B4-BE49-F238E27FC236}">
                <a16:creationId xmlns:a16="http://schemas.microsoft.com/office/drawing/2014/main" id="{7E2FC0B5-17CB-A1EC-BEB2-2E99396C4660}"/>
              </a:ext>
            </a:extLst>
          </p:cNvPr>
          <p:cNvGrpSpPr/>
          <p:nvPr/>
        </p:nvGrpSpPr>
        <p:grpSpPr>
          <a:xfrm>
            <a:off x="5114149" y="1856555"/>
            <a:ext cx="2076815" cy="4803767"/>
            <a:chOff x="5080655" y="1856555"/>
            <a:chExt cx="2110309" cy="4594427"/>
          </a:xfrm>
        </p:grpSpPr>
        <p:sp>
          <p:nvSpPr>
            <p:cNvPr id="107" name="Freeform 13">
              <a:extLst>
                <a:ext uri="{FF2B5EF4-FFF2-40B4-BE49-F238E27FC236}">
                  <a16:creationId xmlns:a16="http://schemas.microsoft.com/office/drawing/2014/main" id="{DF1DEDF2-85B1-3EC5-43EE-4035B45F731D}"/>
                </a:ext>
              </a:extLst>
            </p:cNvPr>
            <p:cNvSpPr/>
            <p:nvPr/>
          </p:nvSpPr>
          <p:spPr>
            <a:xfrm>
              <a:off x="5093071" y="2405475"/>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defTabSz="609630">
                <a:defRPr/>
              </a:pPr>
              <a:endParaRPr lang="en-US" sz="1100" dirty="0">
                <a:solidFill>
                  <a:srgbClr val="FFFFFF"/>
                </a:solidFill>
                <a:ea typeface="+mn-lt"/>
                <a:cs typeface="+mn-lt"/>
              </a:endParaRPr>
            </a:p>
            <a:p>
              <a:pPr defTabSz="609630">
                <a:defRPr/>
              </a:pPr>
              <a:r>
                <a:rPr lang="en-US" sz="1100" dirty="0">
                  <a:solidFill>
                    <a:srgbClr val="FF0000"/>
                  </a:solidFill>
                  <a:ea typeface="+mn-lt"/>
                  <a:cs typeface="+mn-lt"/>
                </a:rPr>
                <a:t>By the end of 2023, the counterfeit sneaker market was valued near </a:t>
              </a:r>
              <a:r>
                <a:rPr lang="en-US" sz="1100" b="0" i="0" dirty="0">
                  <a:solidFill>
                    <a:srgbClr val="FF0000"/>
                  </a:solidFill>
                  <a:effectLst/>
                  <a:ea typeface="+mn-lt"/>
                  <a:cs typeface="+mn-lt"/>
                </a:rPr>
                <a:t>$</a:t>
              </a:r>
              <a:r>
                <a:rPr lang="en-US" sz="1100" dirty="0">
                  <a:solidFill>
                    <a:srgbClr val="FF0000"/>
                  </a:solidFill>
                  <a:ea typeface="+mn-lt"/>
                  <a:cs typeface="+mn-lt"/>
                </a:rPr>
                <a:t>600 billion</a:t>
              </a:r>
              <a:r>
                <a:rPr lang="en-US" sz="1100" b="0" i="0" dirty="0">
                  <a:solidFill>
                    <a:srgbClr val="FF0000"/>
                  </a:solidFill>
                  <a:effectLst/>
                  <a:ea typeface="+mn-lt"/>
                  <a:cs typeface="+mn-lt"/>
                </a:rPr>
                <a:t>, </a:t>
              </a:r>
              <a:r>
                <a:rPr lang="en-US" sz="1100" dirty="0">
                  <a:solidFill>
                    <a:srgbClr val="FF0000"/>
                  </a:solidFill>
                  <a:ea typeface="+mn-lt"/>
                  <a:cs typeface="+mn-lt"/>
                </a:rPr>
                <a:t>about 1.5 times greater than the legitimate footwear industry</a:t>
              </a:r>
              <a:r>
                <a:rPr lang="en-US" sz="1100" b="0" i="0" dirty="0">
                  <a:solidFill>
                    <a:srgbClr val="FF0000"/>
                  </a:solidFill>
                  <a:effectLst/>
                  <a:ea typeface="+mn-lt"/>
                  <a:cs typeface="+mn-lt"/>
                </a:rPr>
                <a:t>.</a:t>
              </a:r>
              <a:endParaRPr lang="en-US" sz="1100" dirty="0">
                <a:solidFill>
                  <a:srgbClr val="FF0000"/>
                </a:solidFill>
                <a:ea typeface="+mn-lt"/>
                <a:cs typeface="+mn-lt"/>
              </a:endParaRPr>
            </a:p>
            <a:p>
              <a:pPr defTabSz="609630">
                <a:defRPr/>
              </a:pPr>
              <a:endParaRPr lang="en-US" sz="1100" dirty="0">
                <a:solidFill>
                  <a:srgbClr val="FFFFFF"/>
                </a:solidFill>
                <a:ea typeface="+mn-lt"/>
                <a:cs typeface="+mn-lt"/>
              </a:endParaRPr>
            </a:p>
            <a:p>
              <a:pPr defTabSz="609630">
                <a:defRPr/>
              </a:pPr>
              <a:r>
                <a:rPr lang="en-US" sz="1100" b="0" i="0" dirty="0">
                  <a:solidFill>
                    <a:srgbClr val="FFFFFF"/>
                  </a:solidFill>
                  <a:effectLst/>
                  <a:ea typeface="+mn-lt"/>
                  <a:cs typeface="+mn-lt"/>
                </a:rPr>
                <a:t>The </a:t>
              </a:r>
              <a:r>
                <a:rPr lang="en-US" sz="1100" dirty="0">
                  <a:solidFill>
                    <a:srgbClr val="FFFFFF"/>
                  </a:solidFill>
                  <a:ea typeface="+mn-lt"/>
                  <a:cs typeface="+mn-lt"/>
                </a:rPr>
                <a:t>cost of metals used </a:t>
              </a:r>
              <a:r>
                <a:rPr lang="en-US" sz="1100" b="0" i="0" dirty="0">
                  <a:solidFill>
                    <a:srgbClr val="FFFFFF"/>
                  </a:solidFill>
                  <a:effectLst/>
                  <a:ea typeface="+mn-lt"/>
                  <a:cs typeface="+mn-lt"/>
                </a:rPr>
                <a:t>in </a:t>
              </a:r>
              <a:r>
                <a:rPr lang="en-US" sz="1100" dirty="0">
                  <a:solidFill>
                    <a:srgbClr val="FFFFFF"/>
                  </a:solidFill>
                  <a:ea typeface="+mn-lt"/>
                  <a:cs typeface="+mn-lt"/>
                </a:rPr>
                <a:t>sportswear production increased by 88%, while cotton, fibers, and rubber prices also rose significantly</a:t>
              </a:r>
              <a:endParaRPr lang="en-US">
                <a:solidFill>
                  <a:srgbClr val="FFFFFF"/>
                </a:solidFill>
                <a:ea typeface="Calibri"/>
                <a:cs typeface="Calibri"/>
              </a:endParaRPr>
            </a:p>
            <a:p>
              <a:pPr defTabSz="609630">
                <a:defRPr/>
              </a:pPr>
              <a:endParaRPr lang="en-US" sz="1100" dirty="0">
                <a:solidFill>
                  <a:srgbClr val="FFFFFF"/>
                </a:solidFill>
                <a:ea typeface="+mn-lt"/>
                <a:cs typeface="+mn-lt"/>
              </a:endParaRPr>
            </a:p>
            <a:p>
              <a:pPr defTabSz="609630">
                <a:buFont typeface="Arial"/>
                <a:defRPr/>
              </a:pPr>
              <a:r>
                <a:rPr lang="en-US" sz="1100" dirty="0">
                  <a:solidFill>
                    <a:srgbClr val="FFFFFF"/>
                  </a:solidFill>
                  <a:ea typeface="+mn-lt"/>
                  <a:cs typeface="+mn-lt"/>
                </a:rPr>
                <a:t> Global footwear production dropped by 6% to 22.4 billion pairs in 2023</a:t>
              </a:r>
              <a:r>
                <a:rPr lang="en-US" sz="1100" b="0" i="0" dirty="0">
                  <a:solidFill>
                    <a:srgbClr val="FFFFFF"/>
                  </a:solidFill>
                  <a:effectLst/>
                  <a:ea typeface="+mn-lt"/>
                  <a:cs typeface="+mn-lt"/>
                </a:rPr>
                <a:t>, </a:t>
              </a:r>
              <a:r>
                <a:rPr lang="en-US" sz="1100" dirty="0">
                  <a:solidFill>
                    <a:srgbClr val="FFFFFF"/>
                  </a:solidFill>
                  <a:ea typeface="+mn-lt"/>
                  <a:cs typeface="+mn-lt"/>
                </a:rPr>
                <a:t>the lowest in </a:t>
              </a:r>
              <a:r>
                <a:rPr lang="en-US" sz="1100" b="0" i="0" dirty="0">
                  <a:solidFill>
                    <a:srgbClr val="FFFFFF"/>
                  </a:solidFill>
                  <a:effectLst/>
                  <a:ea typeface="+mn-lt"/>
                  <a:cs typeface="+mn-lt"/>
                </a:rPr>
                <a:t>a </a:t>
              </a:r>
              <a:r>
                <a:rPr lang="en-US" sz="1100" dirty="0">
                  <a:solidFill>
                    <a:srgbClr val="FFFFFF"/>
                  </a:solidFill>
                  <a:ea typeface="+mn-lt"/>
                  <a:cs typeface="+mn-lt"/>
                </a:rPr>
                <a:t>decade excluding pandemic years.</a:t>
              </a:r>
              <a:endParaRPr lang="en-US">
                <a:solidFill>
                  <a:srgbClr val="FFFFFF"/>
                </a:solidFill>
                <a:ea typeface="Calibri"/>
                <a:cs typeface="Calibri"/>
              </a:endParaRPr>
            </a:p>
            <a:p>
              <a:pPr marL="0" marR="0" lvl="0" indent="0" algn="l" defTabSz="609630">
                <a:lnSpc>
                  <a:spcPct val="100000"/>
                </a:lnSpc>
                <a:spcBef>
                  <a:spcPts val="0"/>
                </a:spcBef>
                <a:spcAft>
                  <a:spcPts val="0"/>
                </a:spcAft>
                <a:buClrTx/>
                <a:buSzTx/>
                <a:buFontTx/>
                <a:buNone/>
                <a:tabLst/>
                <a:defRPr/>
              </a:pPr>
              <a:endParaRPr lang="en-US" sz="1100" b="0" i="0" u="none" strike="noStrike" kern="1200" cap="none" spc="0" normalizeH="0" baseline="0" noProof="0" dirty="0">
                <a:ln>
                  <a:noFill/>
                </a:ln>
                <a:solidFill>
                  <a:srgbClr val="FFFFFF"/>
                </a:solidFill>
                <a:effectLst/>
                <a:uLnTx/>
                <a:uFillTx/>
                <a:ea typeface="Calibri"/>
                <a:cs typeface="Calibri"/>
              </a:endParaRPr>
            </a:p>
          </p:txBody>
        </p:sp>
        <p:sp>
          <p:nvSpPr>
            <p:cNvPr id="108" name="Freeform: Shape 107">
              <a:extLst>
                <a:ext uri="{FF2B5EF4-FFF2-40B4-BE49-F238E27FC236}">
                  <a16:creationId xmlns:a16="http://schemas.microsoft.com/office/drawing/2014/main" id="{3EEC1CC5-256E-A445-546E-41D9CC1D8F6B}"/>
                </a:ext>
              </a:extLst>
            </p:cNvPr>
            <p:cNvSpPr/>
            <p:nvPr/>
          </p:nvSpPr>
          <p:spPr>
            <a:xfrm rot="10800000">
              <a:off x="5080655" y="1856555"/>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105" name="Freeform 13">
            <a:extLst>
              <a:ext uri="{FF2B5EF4-FFF2-40B4-BE49-F238E27FC236}">
                <a16:creationId xmlns:a16="http://schemas.microsoft.com/office/drawing/2014/main" id="{547F0A69-E338-3BA5-034F-9AE5DCCAC553}"/>
              </a:ext>
            </a:extLst>
          </p:cNvPr>
          <p:cNvSpPr/>
          <p:nvPr/>
        </p:nvSpPr>
        <p:spPr>
          <a:xfrm>
            <a:off x="2690950" y="2371981"/>
            <a:ext cx="2097893" cy="4305088"/>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ea typeface="+mn-ea"/>
              <a:cs typeface="+mn-cs"/>
            </a:endParaRPr>
          </a:p>
          <a:p>
            <a:pPr defTabSz="609630">
              <a:defRPr/>
            </a:pPr>
            <a:r>
              <a:rPr lang="en-US" sz="1100" dirty="0">
                <a:solidFill>
                  <a:srgbClr val="FFFFFF"/>
                </a:solidFill>
                <a:ea typeface="+mn-lt"/>
                <a:cs typeface="+mn-lt"/>
              </a:rPr>
              <a:t>The average time to bring a new shoe to market is still around </a:t>
            </a:r>
            <a:r>
              <a:rPr lang="en-US" sz="1100" b="1" dirty="0">
                <a:solidFill>
                  <a:srgbClr val="FFFFFF"/>
                </a:solidFill>
                <a:ea typeface="+mn-lt"/>
                <a:cs typeface="+mn-lt"/>
              </a:rPr>
              <a:t>200 days</a:t>
            </a:r>
            <a:r>
              <a:rPr lang="en-US" sz="1100" dirty="0">
                <a:solidFill>
                  <a:srgbClr val="FFFFFF"/>
                </a:solidFill>
                <a:ea typeface="+mn-lt"/>
                <a:cs typeface="+mn-lt"/>
              </a:rPr>
              <a:t>, which raises uncertainty about whether technological advancements will significantly reduce this timeline and enhance responsiveness to market trends.</a:t>
            </a:r>
          </a:p>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Approximately </a:t>
            </a:r>
            <a:r>
              <a:rPr lang="en-US" sz="1100" b="1" dirty="0">
                <a:solidFill>
                  <a:srgbClr val="FFFFFF"/>
                </a:solidFill>
                <a:ea typeface="+mn-lt"/>
                <a:cs typeface="+mn-lt"/>
              </a:rPr>
              <a:t>70%</a:t>
            </a:r>
            <a:r>
              <a:rPr lang="en-US" sz="1100" dirty="0">
                <a:solidFill>
                  <a:srgbClr val="FFFFFF"/>
                </a:solidFill>
                <a:ea typeface="+mn-lt"/>
                <a:cs typeface="+mn-lt"/>
              </a:rPr>
              <a:t> of organizations struggle with integrating new technologies into their existing operations, leading to inefficiencies and uncertainty in achieving streamlined processes.</a:t>
            </a:r>
            <a:endParaRPr lang="en-US" sz="1100" dirty="0">
              <a:solidFill>
                <a:srgbClr val="FFFFFF"/>
              </a:solidFill>
              <a:ea typeface="Calibri"/>
              <a:cs typeface="Calibri"/>
            </a:endParaRPr>
          </a:p>
          <a:p>
            <a:pPr defTabSz="609630">
              <a:defRPr/>
            </a:pPr>
            <a:endParaRPr lang="en-US" sz="1100" dirty="0">
              <a:solidFill>
                <a:srgbClr val="FFFFFF"/>
              </a:solidFill>
              <a:ea typeface="Calibri"/>
              <a:cs typeface="Calibri"/>
            </a:endParaRPr>
          </a:p>
        </p:txBody>
      </p:sp>
      <p:sp>
        <p:nvSpPr>
          <p:cNvPr id="106" name="Freeform: Shape 105">
            <a:extLst>
              <a:ext uri="{FF2B5EF4-FFF2-40B4-BE49-F238E27FC236}">
                <a16:creationId xmlns:a16="http://schemas.microsoft.com/office/drawing/2014/main" id="{E3A24DA4-9C6E-D7AF-69F2-2D3BBA636641}"/>
              </a:ext>
            </a:extLst>
          </p:cNvPr>
          <p:cNvSpPr/>
          <p:nvPr/>
        </p:nvSpPr>
        <p:spPr>
          <a:xfrm rot="10800000">
            <a:off x="2686906" y="1856555"/>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2" name="TextBox 2"/>
          <p:cNvSpPr txBox="1"/>
          <p:nvPr/>
        </p:nvSpPr>
        <p:spPr>
          <a:xfrm>
            <a:off x="320335" y="119148"/>
            <a:ext cx="11666136" cy="553998"/>
          </a:xfrm>
          <a:prstGeom prst="rect">
            <a:avLst/>
          </a:prstGeom>
        </p:spPr>
        <p:txBody>
          <a:bodyPr wrap="square" lIns="0" tIns="0" rIns="0" bIns="0" rtlCol="0" anchor="t">
            <a:spAutoFit/>
          </a:bodyPr>
          <a:lstStyle/>
          <a:p>
            <a:pPr defTabSz="609630">
              <a:defRPr/>
            </a:pPr>
            <a:r>
              <a:rPr lang="en-US" b="1" dirty="0">
                <a:solidFill>
                  <a:srgbClr val="FFFFFF"/>
                </a:solidFill>
                <a:ea typeface="+mn-lt"/>
                <a:cs typeface="+mn-lt"/>
              </a:rPr>
              <a:t>The global footwear industry faces affordability challenges, tech inefficiencies, sustainability concerns, and geopolitical risks impacting innovation, operations, and pricing.</a:t>
            </a:r>
            <a:endParaRPr lang="en-US" b="1" dirty="0">
              <a:solidFill>
                <a:srgbClr val="FFFFFF"/>
              </a:solidFill>
              <a:ea typeface="Calibri"/>
              <a:cs typeface="Calibri"/>
            </a:endParaRPr>
          </a:p>
        </p:txBody>
      </p:sp>
      <p:sp>
        <p:nvSpPr>
          <p:cNvPr id="3" name="AutoShape 3"/>
          <p:cNvSpPr/>
          <p:nvPr/>
        </p:nvSpPr>
        <p:spPr>
          <a:xfrm flipV="1">
            <a:off x="1227841" y="649827"/>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7" name="TextBox 7"/>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113" name="Group 112">
            <a:extLst>
              <a:ext uri="{FF2B5EF4-FFF2-40B4-BE49-F238E27FC236}">
                <a16:creationId xmlns:a16="http://schemas.microsoft.com/office/drawing/2014/main" id="{BAA448E6-F5F9-4D83-CC07-D1707DC9131F}"/>
              </a:ext>
            </a:extLst>
          </p:cNvPr>
          <p:cNvGrpSpPr/>
          <p:nvPr/>
        </p:nvGrpSpPr>
        <p:grpSpPr>
          <a:xfrm>
            <a:off x="305509" y="1862354"/>
            <a:ext cx="2085462" cy="4762014"/>
            <a:chOff x="276260" y="1862354"/>
            <a:chExt cx="2153866" cy="4604410"/>
          </a:xfrm>
        </p:grpSpPr>
        <p:sp>
          <p:nvSpPr>
            <p:cNvPr id="96" name="Freeform 13">
              <a:extLst>
                <a:ext uri="{FF2B5EF4-FFF2-40B4-BE49-F238E27FC236}">
                  <a16:creationId xmlns:a16="http://schemas.microsoft.com/office/drawing/2014/main" id="{ADFF77DA-CFA1-E5A7-1D3C-203329767AAD}"/>
                </a:ext>
              </a:extLst>
            </p:cNvPr>
            <p:cNvSpPr/>
            <p:nvPr/>
          </p:nvSpPr>
          <p:spPr>
            <a:xfrm>
              <a:off x="288893" y="2351373"/>
              <a:ext cx="2141233" cy="4115391"/>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285750" indent="-285750" defTabSz="609630">
                <a:buFont typeface="Arial"/>
                <a:buChar char="•"/>
                <a:defRPr/>
              </a:pPr>
              <a:endParaRPr lang="en-US" sz="1100" dirty="0">
                <a:solidFill>
                  <a:srgbClr val="FFFFFF"/>
                </a:solidFill>
                <a:ea typeface="+mn-lt"/>
                <a:cs typeface="+mn-lt"/>
              </a:endParaRPr>
            </a:p>
            <a:p>
              <a:pPr defTabSz="609630">
                <a:defRPr/>
              </a:pPr>
              <a:r>
                <a:rPr lang="en-US" sz="1100" dirty="0">
                  <a:solidFill>
                    <a:srgbClr val="FF0000"/>
                  </a:solidFill>
                  <a:ea typeface="+mn-lt"/>
                  <a:cs typeface="+mn-lt"/>
                </a:rPr>
                <a:t>High inflation has led 69% of US consumers to reduce nonessential spending, with many opting for footwear at discounted prices.</a:t>
              </a:r>
              <a:endParaRPr lang="en-US" sz="1100" dirty="0">
                <a:solidFill>
                  <a:srgbClr val="FF0000"/>
                </a:solidFill>
                <a:ea typeface="Calibri"/>
                <a:cs typeface="Calibri"/>
              </a:endParaRPr>
            </a:p>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With 32% of global apparel and footwear sales occurring online, brands face challenges in managing high return rates due to fit and comfort issues.</a:t>
              </a:r>
              <a:endParaRPr lang="en-US" sz="1100" dirty="0">
                <a:solidFill>
                  <a:srgbClr val="FFFFFF"/>
                </a:solidFill>
                <a:ea typeface="Calibri"/>
                <a:cs typeface="Calibri"/>
              </a:endParaRPr>
            </a:p>
            <a:p>
              <a:pPr defTabSz="609630">
                <a:defRPr/>
              </a:pPr>
              <a:endParaRPr lang="en-US" sz="1100" dirty="0">
                <a:solidFill>
                  <a:srgbClr val="FFFFFF"/>
                </a:solidFill>
                <a:ea typeface="+mn-lt"/>
                <a:cs typeface="+mn-lt"/>
              </a:endParaRPr>
            </a:p>
            <a:p>
              <a:pPr defTabSz="609630">
                <a:defRPr/>
              </a:pPr>
              <a:r>
                <a:rPr lang="en-US" sz="1100" dirty="0">
                  <a:solidFill>
                    <a:srgbClr val="FFFFFF"/>
                  </a:solidFill>
                  <a:ea typeface="+mn-lt"/>
                  <a:cs typeface="+mn-lt"/>
                </a:rPr>
                <a:t>While some mainstream brands like Nike and Jordan experienced declines (Nike down </a:t>
              </a:r>
              <a:r>
                <a:rPr lang="en-US" sz="1100" b="1" dirty="0">
                  <a:solidFill>
                    <a:srgbClr val="FFFFFF"/>
                  </a:solidFill>
                  <a:ea typeface="+mn-lt"/>
                  <a:cs typeface="+mn-lt"/>
                </a:rPr>
                <a:t>11%</a:t>
              </a:r>
              <a:r>
                <a:rPr lang="en-US" sz="1100" dirty="0">
                  <a:solidFill>
                    <a:srgbClr val="FFFFFF"/>
                  </a:solidFill>
                  <a:ea typeface="+mn-lt"/>
                  <a:cs typeface="+mn-lt"/>
                </a:rPr>
                <a:t> and Jordan down </a:t>
              </a:r>
              <a:r>
                <a:rPr lang="en-US" sz="1100" b="1" dirty="0">
                  <a:solidFill>
                    <a:srgbClr val="FFFFFF"/>
                  </a:solidFill>
                  <a:ea typeface="+mn-lt"/>
                  <a:cs typeface="+mn-lt"/>
                </a:rPr>
                <a:t>12%</a:t>
              </a:r>
              <a:r>
                <a:rPr lang="en-US" sz="1100" dirty="0">
                  <a:solidFill>
                    <a:srgbClr val="FFFFFF"/>
                  </a:solidFill>
                  <a:ea typeface="+mn-lt"/>
                  <a:cs typeface="+mn-lt"/>
                </a:rPr>
                <a:t> year-over-year), brands like Asics grew by </a:t>
              </a:r>
              <a:r>
                <a:rPr lang="en-US" sz="1100" b="1" dirty="0">
                  <a:solidFill>
                    <a:srgbClr val="FFFFFF"/>
                  </a:solidFill>
                  <a:ea typeface="+mn-lt"/>
                  <a:cs typeface="+mn-lt"/>
                </a:rPr>
                <a:t>589%</a:t>
              </a:r>
              <a:r>
                <a:rPr lang="en-US" sz="1100" dirty="0">
                  <a:solidFill>
                    <a:srgbClr val="FFFFFF"/>
                  </a:solidFill>
                  <a:ea typeface="+mn-lt"/>
                  <a:cs typeface="+mn-lt"/>
                </a:rPr>
                <a:t>, showing a shift in consumer preference towards emerging brands and styles.</a:t>
              </a:r>
              <a:endParaRPr lang="en-US" sz="1100" dirty="0">
                <a:solidFill>
                  <a:srgbClr val="FFFFFF"/>
                </a:solidFill>
                <a:ea typeface="Calibri"/>
                <a:cs typeface="Calibri"/>
              </a:endParaRPr>
            </a:p>
            <a:p>
              <a:pPr defTabSz="609630">
                <a:defRPr/>
              </a:pPr>
              <a:endParaRPr lang="en-US" sz="1100" dirty="0">
                <a:solidFill>
                  <a:srgbClr val="FFFFFF"/>
                </a:solidFill>
                <a:ea typeface="Calibri"/>
                <a:cs typeface="Calibri"/>
              </a:endParaRPr>
            </a:p>
          </p:txBody>
        </p:sp>
        <p:sp>
          <p:nvSpPr>
            <p:cNvPr id="104" name="Freeform: Shape 103">
              <a:extLst>
                <a:ext uri="{FF2B5EF4-FFF2-40B4-BE49-F238E27FC236}">
                  <a16:creationId xmlns:a16="http://schemas.microsoft.com/office/drawing/2014/main" id="{3048B471-BE04-71DA-CF60-46F4C736423A}"/>
                </a:ext>
              </a:extLst>
            </p:cNvPr>
            <p:cNvSpPr/>
            <p:nvPr/>
          </p:nvSpPr>
          <p:spPr>
            <a:xfrm rot="10800000">
              <a:off x="276260" y="1862354"/>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54" name="TextBox 54"/>
          <p:cNvSpPr txBox="1"/>
          <p:nvPr/>
        </p:nvSpPr>
        <p:spPr>
          <a:xfrm>
            <a:off x="447089" y="2042979"/>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lang="en-US" sz="1623" b="1">
                <a:solidFill>
                  <a:srgbClr val="FFFFFF"/>
                </a:solidFill>
                <a:latin typeface="Public Sans Bold"/>
                <a:sym typeface="Public Sans Bold"/>
              </a:rPr>
              <a:t>SOCIETAL</a:t>
            </a:r>
          </a:p>
        </p:txBody>
      </p:sp>
      <p:grpSp>
        <p:nvGrpSpPr>
          <p:cNvPr id="75" name="Group 74">
            <a:extLst>
              <a:ext uri="{FF2B5EF4-FFF2-40B4-BE49-F238E27FC236}">
                <a16:creationId xmlns:a16="http://schemas.microsoft.com/office/drawing/2014/main" id="{B9F75E7D-A454-A5BD-B74C-5CD187819CBB}"/>
              </a:ext>
            </a:extLst>
          </p:cNvPr>
          <p:cNvGrpSpPr/>
          <p:nvPr/>
        </p:nvGrpSpPr>
        <p:grpSpPr>
          <a:xfrm>
            <a:off x="3233303" y="908030"/>
            <a:ext cx="1022103" cy="1066908"/>
            <a:chOff x="3324426" y="870966"/>
            <a:chExt cx="1022103" cy="1066908"/>
          </a:xfrm>
        </p:grpSpPr>
        <p:grpSp>
          <p:nvGrpSpPr>
            <p:cNvPr id="42" name="Group 42"/>
            <p:cNvGrpSpPr/>
            <p:nvPr/>
          </p:nvGrpSpPr>
          <p:grpSpPr>
            <a:xfrm>
              <a:off x="3324426" y="915771"/>
              <a:ext cx="1022103" cy="1022103"/>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050"/>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44" name="TextBox 44"/>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61" name="TextBox 61"/>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kumimoji="0" lang="en-US" sz="5824" b="1" i="0" u="none" strike="noStrike" kern="1200" cap="none" spc="0" normalizeH="0" baseline="0" noProof="0">
                  <a:ln>
                    <a:noFill/>
                  </a:ln>
                  <a:solidFill>
                    <a:srgbClr val="FFFFFF"/>
                  </a:solidFill>
                  <a:effectLst/>
                  <a:uLnTx/>
                  <a:uFillTx/>
                  <a:latin typeface="Canva Sans Bold"/>
                  <a:ea typeface="Canva Sans Bold"/>
                  <a:cs typeface="Canva Sans Bold"/>
                  <a:sym typeface="Canva Sans Bold"/>
                </a:rPr>
                <a:t>T</a:t>
              </a:r>
            </a:p>
          </p:txBody>
        </p:sp>
      </p:grpSp>
      <p:sp>
        <p:nvSpPr>
          <p:cNvPr id="65" name="TextBox 65"/>
          <p:cNvSpPr txBox="1"/>
          <p:nvPr/>
        </p:nvSpPr>
        <p:spPr>
          <a:xfrm>
            <a:off x="2801714"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kumimoji="0" lang="en-US" sz="1623" b="1" i="0" u="none" strike="noStrike" kern="1200" cap="none" spc="0" normalizeH="0" baseline="0" noProof="0">
                <a:ln>
                  <a:noFill/>
                </a:ln>
                <a:solidFill>
                  <a:srgbClr val="FFFFFF"/>
                </a:solidFill>
                <a:effectLst/>
                <a:uLnTx/>
                <a:uFillTx/>
                <a:latin typeface="Public Sans Bold"/>
                <a:ea typeface="Public Sans Bold"/>
                <a:cs typeface="Public Sans Bold"/>
                <a:sym typeface="Public Sans Bold"/>
              </a:rPr>
              <a:t>TECHNOLOGICAL</a:t>
            </a:r>
          </a:p>
        </p:txBody>
      </p:sp>
      <p:sp>
        <p:nvSpPr>
          <p:cNvPr id="66" name="TextBox 66"/>
          <p:cNvSpPr txBox="1"/>
          <p:nvPr/>
        </p:nvSpPr>
        <p:spPr>
          <a:xfrm>
            <a:off x="5158529"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kumimoji="0" lang="en-US" sz="1623" b="1" i="0" u="none" strike="noStrike" kern="1200" cap="none" spc="0" normalizeH="0" baseline="0" noProof="0">
                <a:ln>
                  <a:noFill/>
                </a:ln>
                <a:solidFill>
                  <a:srgbClr val="FFFFFF"/>
                </a:solidFill>
                <a:effectLst/>
                <a:uLnTx/>
                <a:uFillTx/>
                <a:latin typeface="Public Sans Bold"/>
                <a:ea typeface="Public Sans Bold"/>
                <a:cs typeface="Public Sans Bold"/>
                <a:sym typeface="Public Sans Bold"/>
              </a:rPr>
              <a:t>ECONOMICAL</a:t>
            </a:r>
          </a:p>
        </p:txBody>
      </p:sp>
      <p:sp>
        <p:nvSpPr>
          <p:cNvPr id="67" name="TextBox 67"/>
          <p:cNvSpPr txBox="1"/>
          <p:nvPr/>
        </p:nvSpPr>
        <p:spPr>
          <a:xfrm>
            <a:off x="7522680"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lang="en-US" sz="1623" b="1">
                <a:solidFill>
                  <a:srgbClr val="FFFFFF"/>
                </a:solidFill>
                <a:latin typeface="Public Sans Bold"/>
                <a:sym typeface="Public Sans Bold"/>
              </a:rPr>
              <a:t>ENVIRONMENTAL</a:t>
            </a:r>
          </a:p>
        </p:txBody>
      </p:sp>
      <p:sp>
        <p:nvSpPr>
          <p:cNvPr id="68" name="TextBox 68"/>
          <p:cNvSpPr txBox="1"/>
          <p:nvPr/>
        </p:nvSpPr>
        <p:spPr>
          <a:xfrm>
            <a:off x="9933480"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kumimoji="0" lang="en-US" sz="1623" b="1" i="0" u="none" strike="noStrike" kern="1200" cap="none" spc="0" normalizeH="0" baseline="0" noProof="0">
                <a:ln>
                  <a:noFill/>
                </a:ln>
                <a:solidFill>
                  <a:srgbClr val="FFFFFF"/>
                </a:solidFill>
                <a:effectLst/>
                <a:uLnTx/>
                <a:uFillTx/>
                <a:latin typeface="Public Sans Bold"/>
                <a:ea typeface="Public Sans Bold"/>
                <a:cs typeface="Public Sans Bold"/>
                <a:sym typeface="Public Sans Bold"/>
              </a:rPr>
              <a:t>POLITICAL</a:t>
            </a:r>
          </a:p>
        </p:txBody>
      </p:sp>
      <p:grpSp>
        <p:nvGrpSpPr>
          <p:cNvPr id="76" name="Group 75">
            <a:extLst>
              <a:ext uri="{FF2B5EF4-FFF2-40B4-BE49-F238E27FC236}">
                <a16:creationId xmlns:a16="http://schemas.microsoft.com/office/drawing/2014/main" id="{B234BB01-ED20-94AB-8B65-E47FDA7F41C0}"/>
              </a:ext>
            </a:extLst>
          </p:cNvPr>
          <p:cNvGrpSpPr/>
          <p:nvPr/>
        </p:nvGrpSpPr>
        <p:grpSpPr>
          <a:xfrm>
            <a:off x="882593" y="889921"/>
            <a:ext cx="1022103" cy="1066908"/>
            <a:chOff x="3324426" y="870966"/>
            <a:chExt cx="1022103" cy="1066908"/>
          </a:xfrm>
        </p:grpSpPr>
        <p:grpSp>
          <p:nvGrpSpPr>
            <p:cNvPr id="77" name="Group 42">
              <a:extLst>
                <a:ext uri="{FF2B5EF4-FFF2-40B4-BE49-F238E27FC236}">
                  <a16:creationId xmlns:a16="http://schemas.microsoft.com/office/drawing/2014/main" id="{E25D6D0D-8C43-D6B8-6F71-04A402DD8FBD}"/>
                </a:ext>
              </a:extLst>
            </p:cNvPr>
            <p:cNvGrpSpPr/>
            <p:nvPr/>
          </p:nvGrpSpPr>
          <p:grpSpPr>
            <a:xfrm>
              <a:off x="3324426" y="915771"/>
              <a:ext cx="1022103" cy="1022103"/>
              <a:chOff x="0" y="0"/>
              <a:chExt cx="812800" cy="812800"/>
            </a:xfrm>
          </p:grpSpPr>
          <p:sp>
            <p:nvSpPr>
              <p:cNvPr id="79" name="Freeform 43">
                <a:extLst>
                  <a:ext uri="{FF2B5EF4-FFF2-40B4-BE49-F238E27FC236}">
                    <a16:creationId xmlns:a16="http://schemas.microsoft.com/office/drawing/2014/main" id="{A50F8D95-4314-B07A-3AFE-59C85CA94D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050"/>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80" name="TextBox 44">
                <a:extLst>
                  <a:ext uri="{FF2B5EF4-FFF2-40B4-BE49-F238E27FC236}">
                    <a16:creationId xmlns:a16="http://schemas.microsoft.com/office/drawing/2014/main" id="{57032A56-41E2-DB5F-63A1-F626D1657DDA}"/>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78" name="TextBox 61">
              <a:extLst>
                <a:ext uri="{FF2B5EF4-FFF2-40B4-BE49-F238E27FC236}">
                  <a16:creationId xmlns:a16="http://schemas.microsoft.com/office/drawing/2014/main" id="{15489AF1-D26E-AFA8-A988-362934FF5055}"/>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kumimoji="0" lang="en-US" sz="5824" b="1" i="0" u="none" strike="noStrike" kern="1200" cap="none" spc="0" normalizeH="0" baseline="0" noProof="0">
                  <a:ln>
                    <a:noFill/>
                  </a:ln>
                  <a:solidFill>
                    <a:srgbClr val="FFFFFF"/>
                  </a:solidFill>
                  <a:effectLst/>
                  <a:uLnTx/>
                  <a:uFillTx/>
                  <a:latin typeface="Canva Sans Bold"/>
                  <a:ea typeface="Canva Sans Bold"/>
                  <a:cs typeface="Canva Sans Bold"/>
                  <a:sym typeface="Canva Sans Bold"/>
                </a:rPr>
                <a:t>S</a:t>
              </a:r>
            </a:p>
          </p:txBody>
        </p:sp>
      </p:grpSp>
      <p:grpSp>
        <p:nvGrpSpPr>
          <p:cNvPr id="81" name="Group 80">
            <a:extLst>
              <a:ext uri="{FF2B5EF4-FFF2-40B4-BE49-F238E27FC236}">
                <a16:creationId xmlns:a16="http://schemas.microsoft.com/office/drawing/2014/main" id="{C3AC7000-8F1E-92AB-C455-8991A130DF90}"/>
              </a:ext>
            </a:extLst>
          </p:cNvPr>
          <p:cNvGrpSpPr/>
          <p:nvPr/>
        </p:nvGrpSpPr>
        <p:grpSpPr>
          <a:xfrm>
            <a:off x="5584948" y="908030"/>
            <a:ext cx="1022103" cy="1066908"/>
            <a:chOff x="3324426" y="870966"/>
            <a:chExt cx="1022103" cy="1066908"/>
          </a:xfrm>
        </p:grpSpPr>
        <p:grpSp>
          <p:nvGrpSpPr>
            <p:cNvPr id="82" name="Group 42">
              <a:extLst>
                <a:ext uri="{FF2B5EF4-FFF2-40B4-BE49-F238E27FC236}">
                  <a16:creationId xmlns:a16="http://schemas.microsoft.com/office/drawing/2014/main" id="{29912B90-9435-4B43-36B7-51007D5933DD}"/>
                </a:ext>
              </a:extLst>
            </p:cNvPr>
            <p:cNvGrpSpPr/>
            <p:nvPr/>
          </p:nvGrpSpPr>
          <p:grpSpPr>
            <a:xfrm>
              <a:off x="3324426" y="915771"/>
              <a:ext cx="1022103" cy="1022103"/>
              <a:chOff x="0" y="0"/>
              <a:chExt cx="812800" cy="812800"/>
            </a:xfrm>
          </p:grpSpPr>
          <p:sp>
            <p:nvSpPr>
              <p:cNvPr id="84" name="Freeform 43">
                <a:extLst>
                  <a:ext uri="{FF2B5EF4-FFF2-40B4-BE49-F238E27FC236}">
                    <a16:creationId xmlns:a16="http://schemas.microsoft.com/office/drawing/2014/main" id="{5A935B50-1F18-9E11-FDAF-22000FF07A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050"/>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85" name="TextBox 44">
                <a:extLst>
                  <a:ext uri="{FF2B5EF4-FFF2-40B4-BE49-F238E27FC236}">
                    <a16:creationId xmlns:a16="http://schemas.microsoft.com/office/drawing/2014/main" id="{87E4DAA9-C840-7040-34A2-24F8B85121E6}"/>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83" name="TextBox 61">
              <a:extLst>
                <a:ext uri="{FF2B5EF4-FFF2-40B4-BE49-F238E27FC236}">
                  <a16:creationId xmlns:a16="http://schemas.microsoft.com/office/drawing/2014/main" id="{BC19FBE8-A022-72F5-02FC-5B74F9BA8823}"/>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lang="en-US" sz="5824" b="1">
                  <a:solidFill>
                    <a:srgbClr val="FFFFFF"/>
                  </a:solidFill>
                  <a:latin typeface="Canva Sans Bold"/>
                  <a:ea typeface="Canva Sans Bold"/>
                  <a:cs typeface="Canva Sans Bold"/>
                  <a:sym typeface="Canva Sans Bold"/>
                </a:rPr>
                <a:t>E</a:t>
              </a:r>
              <a:endParaRPr kumimoji="0" lang="en-US" sz="5824" b="1" i="0" u="none" strike="noStrike" kern="1200" cap="none" spc="0" normalizeH="0" baseline="0" noProof="0">
                <a:ln>
                  <a:noFill/>
                </a:ln>
                <a:solidFill>
                  <a:srgbClr val="FFFFFF"/>
                </a:solidFill>
                <a:effectLst/>
                <a:uLnTx/>
                <a:uFillTx/>
                <a:latin typeface="Canva Sans Bold"/>
                <a:ea typeface="Canva Sans Bold"/>
                <a:cs typeface="Canva Sans Bold"/>
                <a:sym typeface="Canva Sans Bold"/>
              </a:endParaRPr>
            </a:p>
          </p:txBody>
        </p:sp>
      </p:grpSp>
      <p:grpSp>
        <p:nvGrpSpPr>
          <p:cNvPr id="86" name="Group 85">
            <a:extLst>
              <a:ext uri="{FF2B5EF4-FFF2-40B4-BE49-F238E27FC236}">
                <a16:creationId xmlns:a16="http://schemas.microsoft.com/office/drawing/2014/main" id="{71FDA5DB-FB57-7872-BE0C-92FB373F4F5A}"/>
              </a:ext>
            </a:extLst>
          </p:cNvPr>
          <p:cNvGrpSpPr/>
          <p:nvPr/>
        </p:nvGrpSpPr>
        <p:grpSpPr>
          <a:xfrm>
            <a:off x="7955251" y="891269"/>
            <a:ext cx="1022103" cy="1066908"/>
            <a:chOff x="3324426" y="870966"/>
            <a:chExt cx="1022103" cy="1066908"/>
          </a:xfrm>
        </p:grpSpPr>
        <p:grpSp>
          <p:nvGrpSpPr>
            <p:cNvPr id="87" name="Group 42">
              <a:extLst>
                <a:ext uri="{FF2B5EF4-FFF2-40B4-BE49-F238E27FC236}">
                  <a16:creationId xmlns:a16="http://schemas.microsoft.com/office/drawing/2014/main" id="{AC21BA18-7FFA-64DE-1D09-0B9FC77C21B8}"/>
                </a:ext>
              </a:extLst>
            </p:cNvPr>
            <p:cNvGrpSpPr/>
            <p:nvPr/>
          </p:nvGrpSpPr>
          <p:grpSpPr>
            <a:xfrm>
              <a:off x="3324426" y="915771"/>
              <a:ext cx="1022103" cy="1022103"/>
              <a:chOff x="0" y="0"/>
              <a:chExt cx="812800" cy="812800"/>
            </a:xfrm>
          </p:grpSpPr>
          <p:sp>
            <p:nvSpPr>
              <p:cNvPr id="89" name="Freeform 43">
                <a:extLst>
                  <a:ext uri="{FF2B5EF4-FFF2-40B4-BE49-F238E27FC236}">
                    <a16:creationId xmlns:a16="http://schemas.microsoft.com/office/drawing/2014/main" id="{FCFAC03F-114A-A44C-8645-F5BD03CC24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050"/>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90" name="TextBox 44">
                <a:extLst>
                  <a:ext uri="{FF2B5EF4-FFF2-40B4-BE49-F238E27FC236}">
                    <a16:creationId xmlns:a16="http://schemas.microsoft.com/office/drawing/2014/main" id="{B0BD8130-36C8-24C6-B6FE-0E667E1101B0}"/>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88" name="TextBox 61">
              <a:extLst>
                <a:ext uri="{FF2B5EF4-FFF2-40B4-BE49-F238E27FC236}">
                  <a16:creationId xmlns:a16="http://schemas.microsoft.com/office/drawing/2014/main" id="{798B6EFA-267C-C028-516E-BBE9E8AC95E1}"/>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lang="en-US" sz="5824" b="1">
                  <a:solidFill>
                    <a:srgbClr val="FFFFFF"/>
                  </a:solidFill>
                  <a:latin typeface="Canva Sans Bold"/>
                  <a:ea typeface="Canva Sans Bold"/>
                  <a:cs typeface="Canva Sans Bold"/>
                  <a:sym typeface="Canva Sans Bold"/>
                </a:rPr>
                <a:t>E</a:t>
              </a:r>
              <a:endParaRPr kumimoji="0" lang="en-US" sz="5824" b="1" i="0" u="none" strike="noStrike" kern="1200" cap="none" spc="0" normalizeH="0" baseline="0" noProof="0">
                <a:ln>
                  <a:noFill/>
                </a:ln>
                <a:solidFill>
                  <a:srgbClr val="FFFFFF"/>
                </a:solidFill>
                <a:effectLst/>
                <a:uLnTx/>
                <a:uFillTx/>
                <a:latin typeface="Canva Sans Bold"/>
                <a:ea typeface="Canva Sans Bold"/>
                <a:cs typeface="Canva Sans Bold"/>
                <a:sym typeface="Canva Sans Bold"/>
              </a:endParaRPr>
            </a:p>
          </p:txBody>
        </p:sp>
      </p:grpSp>
      <p:grpSp>
        <p:nvGrpSpPr>
          <p:cNvPr id="91" name="Group 90">
            <a:extLst>
              <a:ext uri="{FF2B5EF4-FFF2-40B4-BE49-F238E27FC236}">
                <a16:creationId xmlns:a16="http://schemas.microsoft.com/office/drawing/2014/main" id="{1B566D00-F1DE-E892-1B62-28E0AB0374CA}"/>
              </a:ext>
            </a:extLst>
          </p:cNvPr>
          <p:cNvGrpSpPr/>
          <p:nvPr/>
        </p:nvGrpSpPr>
        <p:grpSpPr>
          <a:xfrm>
            <a:off x="10344216" y="891506"/>
            <a:ext cx="1022103" cy="1066908"/>
            <a:chOff x="3324426" y="870966"/>
            <a:chExt cx="1022103" cy="1066908"/>
          </a:xfrm>
        </p:grpSpPr>
        <p:grpSp>
          <p:nvGrpSpPr>
            <p:cNvPr id="92" name="Group 42">
              <a:extLst>
                <a:ext uri="{FF2B5EF4-FFF2-40B4-BE49-F238E27FC236}">
                  <a16:creationId xmlns:a16="http://schemas.microsoft.com/office/drawing/2014/main" id="{B041212D-DAD4-B10D-4A2D-6A312C4CBF5B}"/>
                </a:ext>
              </a:extLst>
            </p:cNvPr>
            <p:cNvGrpSpPr/>
            <p:nvPr/>
          </p:nvGrpSpPr>
          <p:grpSpPr>
            <a:xfrm>
              <a:off x="3324426" y="915771"/>
              <a:ext cx="1022103" cy="1022103"/>
              <a:chOff x="0" y="0"/>
              <a:chExt cx="812800" cy="812800"/>
            </a:xfrm>
          </p:grpSpPr>
          <p:sp>
            <p:nvSpPr>
              <p:cNvPr id="94" name="Freeform 43">
                <a:extLst>
                  <a:ext uri="{FF2B5EF4-FFF2-40B4-BE49-F238E27FC236}">
                    <a16:creationId xmlns:a16="http://schemas.microsoft.com/office/drawing/2014/main" id="{54769688-0D3A-88E6-BC13-2C8A16D891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050"/>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95" name="TextBox 44">
                <a:extLst>
                  <a:ext uri="{FF2B5EF4-FFF2-40B4-BE49-F238E27FC236}">
                    <a16:creationId xmlns:a16="http://schemas.microsoft.com/office/drawing/2014/main" id="{BF504322-F0FA-21DF-3CD9-EB3F02F3B48F}"/>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grpSp>
        <p:sp>
          <p:nvSpPr>
            <p:cNvPr id="93" name="TextBox 61">
              <a:extLst>
                <a:ext uri="{FF2B5EF4-FFF2-40B4-BE49-F238E27FC236}">
                  <a16:creationId xmlns:a16="http://schemas.microsoft.com/office/drawing/2014/main" id="{EFDE7F07-1080-2971-B2F8-9E1A39B61D67}"/>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kumimoji="0" lang="en-US" sz="5824" b="1" i="0" u="none" strike="noStrike" kern="1200" cap="none" spc="0" normalizeH="0" baseline="0" noProof="0">
                  <a:ln>
                    <a:noFill/>
                  </a:ln>
                  <a:solidFill>
                    <a:srgbClr val="FFFFFF"/>
                  </a:solidFill>
                  <a:effectLst/>
                  <a:uLnTx/>
                  <a:uFillTx/>
                  <a:latin typeface="Canva Sans Bold"/>
                  <a:ea typeface="Canva Sans Bold"/>
                  <a:cs typeface="Canva Sans Bold"/>
                  <a:sym typeface="Canva Sans Bold"/>
                </a:rPr>
                <a:t>P</a:t>
              </a:r>
            </a:p>
          </p:txBody>
        </p:sp>
      </p:grpSp>
    </p:spTree>
    <p:extLst>
      <p:ext uri="{BB962C8B-B14F-4D97-AF65-F5344CB8AC3E}">
        <p14:creationId xmlns:p14="http://schemas.microsoft.com/office/powerpoint/2010/main" val="2367676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CA17F08D-BF1F-1215-2362-4BDEDA913EC9}"/>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D4068431-1276-E26D-6FE9-554411E00EB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19" name="Rectangle: Rounded Corners 18">
            <a:extLst>
              <a:ext uri="{FF2B5EF4-FFF2-40B4-BE49-F238E27FC236}">
                <a16:creationId xmlns:a16="http://schemas.microsoft.com/office/drawing/2014/main" id="{383C180B-4D1A-222F-EDFC-02FB4466CFD8}"/>
              </a:ext>
            </a:extLst>
          </p:cNvPr>
          <p:cNvSpPr/>
          <p:nvPr/>
        </p:nvSpPr>
        <p:spPr>
          <a:xfrm>
            <a:off x="6232347" y="4116639"/>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cxnSp>
        <p:nvCxnSpPr>
          <p:cNvPr id="20" name="Straight Arrow Connector 19">
            <a:extLst>
              <a:ext uri="{FF2B5EF4-FFF2-40B4-BE49-F238E27FC236}">
                <a16:creationId xmlns:a16="http://schemas.microsoft.com/office/drawing/2014/main" id="{DBE4142C-7E39-E5A4-826A-542A4B6D6131}"/>
              </a:ext>
            </a:extLst>
          </p:cNvPr>
          <p:cNvCxnSpPr>
            <a:cxnSpLocks/>
          </p:cNvCxnSpPr>
          <p:nvPr/>
        </p:nvCxnSpPr>
        <p:spPr>
          <a:xfrm>
            <a:off x="1898126" y="3772340"/>
            <a:ext cx="780097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CE8B6F9-A86E-7397-3564-AC0F5B0D0763}"/>
              </a:ext>
            </a:extLst>
          </p:cNvPr>
          <p:cNvCxnSpPr>
            <a:cxnSpLocks/>
          </p:cNvCxnSpPr>
          <p:nvPr/>
        </p:nvCxnSpPr>
        <p:spPr>
          <a:xfrm>
            <a:off x="5923895" y="1262798"/>
            <a:ext cx="0" cy="51990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7BB0188-2E53-0CA9-8871-F4FAB2BB67A6}"/>
              </a:ext>
            </a:extLst>
          </p:cNvPr>
          <p:cNvSpPr txBox="1"/>
          <p:nvPr/>
        </p:nvSpPr>
        <p:spPr>
          <a:xfrm>
            <a:off x="9796801" y="3509295"/>
            <a:ext cx="2138568" cy="523220"/>
          </a:xfrm>
          <a:prstGeom prst="rect">
            <a:avLst/>
          </a:prstGeom>
          <a:noFill/>
        </p:spPr>
        <p:txBody>
          <a:bodyPr wrap="square" lIns="91440" tIns="45720" rIns="91440" bIns="45720" rtlCol="0" anchor="t">
            <a:spAutoFit/>
          </a:bodyPr>
          <a:lstStyle/>
          <a:p>
            <a:pPr>
              <a:defRPr/>
            </a:pPr>
            <a:r>
              <a:rPr lang="en-US" sz="1400" dirty="0">
                <a:solidFill>
                  <a:srgbClr val="FFFFFF"/>
                </a:solidFill>
                <a:latin typeface="Aptos" panose="020B0004020202020204"/>
              </a:rPr>
              <a:t>Consumer</a:t>
            </a:r>
            <a:r>
              <a:rPr kumimoji="0" lang="en-US" sz="1400" b="0" i="0" u="none" strike="noStrike" kern="1200" cap="none" spc="0" normalizeH="0" baseline="0" noProof="0" dirty="0">
                <a:ln>
                  <a:noFill/>
                </a:ln>
                <a:solidFill>
                  <a:srgbClr val="FFFFFF"/>
                </a:solidFill>
                <a:effectLst/>
                <a:uLnTx/>
                <a:uFillTx/>
                <a:latin typeface="Aptos" panose="020B0004020202020204"/>
                <a:ea typeface="+mn-ea"/>
                <a:cs typeface="+mn-cs"/>
              </a:rPr>
              <a:t> </a:t>
            </a:r>
            <a:r>
              <a:rPr lang="en-US" sz="1400" dirty="0">
                <a:solidFill>
                  <a:srgbClr val="FFFFFF"/>
                </a:solidFill>
                <a:latin typeface="Aptos" panose="020B0004020202020204"/>
              </a:rPr>
              <a:t>spending Increases</a:t>
            </a:r>
            <a:endParaRPr kumimoji="0" lang="en-US" sz="1400" b="0" i="0" u="none" strike="noStrike" kern="1200" cap="none" spc="0" normalizeH="0" baseline="0" noProof="0" dirty="0">
              <a:ln>
                <a:noFill/>
              </a:ln>
              <a:solidFill>
                <a:srgbClr val="FFFFFF"/>
              </a:solidFill>
              <a:effectLst/>
              <a:uLnTx/>
              <a:uFillTx/>
              <a:latin typeface="Aptos" panose="020B0004020202020204"/>
              <a:ea typeface="+mn-ea"/>
              <a:cs typeface="+mn-cs"/>
            </a:endParaRPr>
          </a:p>
        </p:txBody>
      </p:sp>
      <p:sp>
        <p:nvSpPr>
          <p:cNvPr id="23" name="TextBox 22">
            <a:extLst>
              <a:ext uri="{FF2B5EF4-FFF2-40B4-BE49-F238E27FC236}">
                <a16:creationId xmlns:a16="http://schemas.microsoft.com/office/drawing/2014/main" id="{D3AC6CD4-FE2C-6012-D07E-E2683F513672}"/>
              </a:ext>
            </a:extLst>
          </p:cNvPr>
          <p:cNvSpPr txBox="1"/>
          <p:nvPr/>
        </p:nvSpPr>
        <p:spPr>
          <a:xfrm>
            <a:off x="4817705" y="883137"/>
            <a:ext cx="2571790" cy="307777"/>
          </a:xfrm>
          <a:prstGeom prst="rect">
            <a:avLst/>
          </a:prstGeom>
          <a:noFill/>
        </p:spPr>
        <p:txBody>
          <a:bodyPr wrap="square" lIns="91440" tIns="45720" rIns="91440" bIns="45720" rtlCol="0" anchor="t">
            <a:spAutoFit/>
          </a:bodyPr>
          <a:lstStyle/>
          <a:p>
            <a:pPr>
              <a:defRPr/>
            </a:pPr>
            <a:r>
              <a:rPr lang="en-US" sz="1400" dirty="0">
                <a:solidFill>
                  <a:srgbClr val="FFFFFF"/>
                </a:solidFill>
                <a:latin typeface="Aptos"/>
              </a:rPr>
              <a:t>Counterfeits decreases</a:t>
            </a:r>
            <a:endParaRPr lang="en-US" sz="1400" b="0" i="0" u="none" strike="noStrike" kern="1200" cap="none" spc="0" normalizeH="0" baseline="0" noProof="0" dirty="0">
              <a:ln>
                <a:noFill/>
              </a:ln>
              <a:solidFill>
                <a:srgbClr val="FFFFFF"/>
              </a:solidFill>
              <a:effectLst/>
              <a:uLnTx/>
              <a:uFillTx/>
              <a:latin typeface="Aptos"/>
            </a:endParaRPr>
          </a:p>
        </p:txBody>
      </p:sp>
      <p:sp>
        <p:nvSpPr>
          <p:cNvPr id="24" name="TextBox 23">
            <a:extLst>
              <a:ext uri="{FF2B5EF4-FFF2-40B4-BE49-F238E27FC236}">
                <a16:creationId xmlns:a16="http://schemas.microsoft.com/office/drawing/2014/main" id="{70537B23-F028-2A44-0251-A18A4DE9C464}"/>
              </a:ext>
            </a:extLst>
          </p:cNvPr>
          <p:cNvSpPr txBox="1"/>
          <p:nvPr/>
        </p:nvSpPr>
        <p:spPr>
          <a:xfrm>
            <a:off x="5045177" y="6553151"/>
            <a:ext cx="3265543" cy="307777"/>
          </a:xfrm>
          <a:prstGeom prst="rect">
            <a:avLst/>
          </a:prstGeom>
          <a:noFill/>
        </p:spPr>
        <p:txBody>
          <a:bodyPr wrap="square" lIns="91440" tIns="45720" rIns="91440" bIns="45720" rtlCol="0" anchor="t">
            <a:spAutoFit/>
          </a:bodyPr>
          <a:lstStyle/>
          <a:p>
            <a:pPr>
              <a:defRPr/>
            </a:pPr>
            <a:r>
              <a:rPr lang="en-US" sz="1400" dirty="0">
                <a:solidFill>
                  <a:srgbClr val="FFFFFF"/>
                </a:solidFill>
                <a:latin typeface="Aptos" panose="020B0004020202020204"/>
              </a:rPr>
              <a:t>Counterfeit increases</a:t>
            </a:r>
            <a:endParaRPr lang="en-US" sz="1400" b="0" i="0" u="none" strike="noStrike" kern="1200" cap="none" spc="0" normalizeH="0" baseline="0" noProof="0" dirty="0">
              <a:ln>
                <a:noFill/>
              </a:ln>
              <a:solidFill>
                <a:srgbClr val="FFFFFF"/>
              </a:solidFill>
              <a:effectLst/>
              <a:uLnTx/>
              <a:uFillTx/>
              <a:latin typeface="Aptos" panose="020B0004020202020204"/>
            </a:endParaRPr>
          </a:p>
        </p:txBody>
      </p:sp>
      <p:sp>
        <p:nvSpPr>
          <p:cNvPr id="25" name="TextBox 24">
            <a:extLst>
              <a:ext uri="{FF2B5EF4-FFF2-40B4-BE49-F238E27FC236}">
                <a16:creationId xmlns:a16="http://schemas.microsoft.com/office/drawing/2014/main" id="{AF90469E-6721-1EBD-BF86-DA1867D5A7A6}"/>
              </a:ext>
            </a:extLst>
          </p:cNvPr>
          <p:cNvSpPr txBox="1"/>
          <p:nvPr/>
        </p:nvSpPr>
        <p:spPr>
          <a:xfrm>
            <a:off x="6231239" y="1698291"/>
            <a:ext cx="4223142" cy="1446550"/>
          </a:xfrm>
          <a:prstGeom prst="rect">
            <a:avLst/>
          </a:prstGeom>
          <a:noFill/>
        </p:spPr>
        <p:txBody>
          <a:bodyPr wrap="square" lIns="91440" tIns="45720" rIns="91440" bIns="45720" rtlCol="0" anchor="t">
            <a:spAutoFit/>
          </a:bodyPr>
          <a:lstStyle/>
          <a:p>
            <a:pPr algn="ctr">
              <a:defRPr/>
            </a:pPr>
            <a:r>
              <a:rPr lang="en-US" sz="1600" dirty="0">
                <a:solidFill>
                  <a:srgbClr val="FFFFFF"/>
                </a:solidFill>
                <a:latin typeface="Aptos Display"/>
                <a:ea typeface="Calibri"/>
                <a:cs typeface="Calibri"/>
              </a:rPr>
              <a:t>Innovation Mania</a:t>
            </a:r>
          </a:p>
          <a:p>
            <a:pPr algn="ctr">
              <a:defRPr/>
            </a:pPr>
            <a:r>
              <a:rPr lang="en-US" sz="1200" dirty="0">
                <a:solidFill>
                  <a:srgbClr val="FFFFFF"/>
                </a:solidFill>
                <a:ea typeface="+mn-lt"/>
                <a:cs typeface="+mn-lt"/>
              </a:rPr>
              <a:t>Brands intensify innovation efforts as consumers prioritize performance and brand value perception</a:t>
            </a:r>
            <a:r>
              <a:rPr kumimoji="0" lang="en-US" sz="1200" b="0" i="0" u="none" strike="noStrike" kern="1200" cap="none" spc="0" normalizeH="0" baseline="0" noProof="0" dirty="0">
                <a:ln>
                  <a:noFill/>
                </a:ln>
                <a:solidFill>
                  <a:srgbClr val="FFFFFF"/>
                </a:solidFill>
                <a:effectLst/>
                <a:uLnTx/>
                <a:uFillTx/>
                <a:ea typeface="+mn-lt"/>
                <a:cs typeface="+mn-lt"/>
              </a:rPr>
              <a:t>. </a:t>
            </a:r>
            <a:r>
              <a:rPr lang="en-US" sz="1200" dirty="0">
                <a:solidFill>
                  <a:srgbClr val="FFFFFF"/>
                </a:solidFill>
                <a:ea typeface="+mn-lt"/>
                <a:cs typeface="+mn-lt"/>
              </a:rPr>
              <a:t>As the industry value grows, all companies invest heavily in R&amp;D. This leads to healthy competition and the company pioneering in quality, innovation and marketing wins</a:t>
            </a:r>
            <a:r>
              <a:rPr kumimoji="0" lang="en-US" sz="1200" b="0" i="0" u="none" strike="noStrike" kern="1200" cap="none" spc="0" normalizeH="0" baseline="0" noProof="0" dirty="0">
                <a:ln>
                  <a:noFill/>
                </a:ln>
                <a:solidFill>
                  <a:srgbClr val="FFFFFF"/>
                </a:solidFill>
                <a:effectLst/>
                <a:uLnTx/>
                <a:uFillTx/>
                <a:ea typeface="+mn-lt"/>
                <a:cs typeface="+mn-lt"/>
              </a:rPr>
              <a:t>.</a:t>
            </a:r>
            <a:endParaRPr lang="en-US" sz="1200" dirty="0">
              <a:solidFill>
                <a:srgbClr val="FFFFFF"/>
              </a:solidFill>
              <a:ea typeface="+mn-lt"/>
              <a:cs typeface="+mn-lt"/>
            </a:endParaRPr>
          </a:p>
          <a:p>
            <a:pPr algn="ctr">
              <a:defRPr/>
            </a:pPr>
            <a:endParaRPr lang="en-US" sz="1200" dirty="0">
              <a:solidFill>
                <a:srgbClr val="FFFFFF"/>
              </a:solidFill>
              <a:latin typeface="Aptos"/>
            </a:endParaRPr>
          </a:p>
        </p:txBody>
      </p:sp>
      <p:sp>
        <p:nvSpPr>
          <p:cNvPr id="26" name="TextBox 25">
            <a:extLst>
              <a:ext uri="{FF2B5EF4-FFF2-40B4-BE49-F238E27FC236}">
                <a16:creationId xmlns:a16="http://schemas.microsoft.com/office/drawing/2014/main" id="{8B4A93EF-765C-AEDF-670B-8A96E8C75938}"/>
              </a:ext>
            </a:extLst>
          </p:cNvPr>
          <p:cNvSpPr txBox="1"/>
          <p:nvPr/>
        </p:nvSpPr>
        <p:spPr>
          <a:xfrm>
            <a:off x="1475226" y="4233356"/>
            <a:ext cx="4013575" cy="1631216"/>
          </a:xfrm>
          <a:prstGeom prst="rect">
            <a:avLst/>
          </a:prstGeom>
          <a:noFill/>
        </p:spPr>
        <p:txBody>
          <a:bodyPr wrap="square" lIns="91440" tIns="45720" rIns="91440" bIns="45720" rtlCol="0" anchor="ctr">
            <a:spAutoFit/>
          </a:bodyPr>
          <a:lstStyle/>
          <a:p>
            <a:pPr algn="ctr">
              <a:defRPr/>
            </a:pPr>
            <a:r>
              <a:rPr lang="en-US" sz="1600" dirty="0">
                <a:solidFill>
                  <a:srgbClr val="FFFFFF"/>
                </a:solidFill>
                <a:latin typeface="Aptos Display"/>
                <a:ea typeface="Calibri"/>
                <a:cs typeface="Calibri"/>
              </a:rPr>
              <a:t>Fake Paradise &amp; Upstarts</a:t>
            </a:r>
            <a:endParaRPr lang="en-US" sz="1600" b="0" i="0" u="none" strike="noStrike" kern="1200" cap="none" spc="0" normalizeH="0" baseline="0" noProof="0" dirty="0">
              <a:ln>
                <a:noFill/>
              </a:ln>
              <a:solidFill>
                <a:srgbClr val="FFFFFF"/>
              </a:solidFill>
              <a:effectLst/>
              <a:uLnTx/>
              <a:uFillTx/>
              <a:latin typeface="Aptos Display"/>
              <a:ea typeface="Calibri"/>
              <a:cs typeface="Calibri"/>
            </a:endParaRPr>
          </a:p>
          <a:p>
            <a:pPr algn="ctr">
              <a:defRPr/>
            </a:pPr>
            <a:r>
              <a:rPr lang="en-US" sz="1200" dirty="0">
                <a:solidFill>
                  <a:srgbClr val="FFFFFF"/>
                </a:solidFill>
                <a:ea typeface="+mn-lt"/>
                <a:cs typeface="+mn-lt"/>
              </a:rPr>
              <a:t>Footwear is very expensive and consumers heavily rely </a:t>
            </a:r>
            <a:r>
              <a:rPr kumimoji="0" lang="en-US" sz="1200" b="0" i="0" u="none" strike="noStrike" kern="1200" cap="none" spc="0" normalizeH="0" baseline="0" noProof="0" dirty="0">
                <a:ln>
                  <a:noFill/>
                </a:ln>
                <a:solidFill>
                  <a:srgbClr val="FFFFFF"/>
                </a:solidFill>
                <a:effectLst/>
                <a:uLnTx/>
                <a:uFillTx/>
                <a:ea typeface="+mn-lt"/>
                <a:cs typeface="+mn-lt"/>
              </a:rPr>
              <a:t>on </a:t>
            </a:r>
            <a:r>
              <a:rPr lang="en-US" sz="1200" dirty="0">
                <a:solidFill>
                  <a:srgbClr val="FFFFFF"/>
                </a:solidFill>
                <a:ea typeface="+mn-lt"/>
                <a:cs typeface="+mn-lt"/>
              </a:rPr>
              <a:t>counterfeit footwear and upstarts who are innovating rapidly and offer footwear at cheaper prices. Expensive sneaker lines struggle to maintain profitability, loyalty and market share. In the battle between expensive brands, upstarts and risky counterfeits, the latter two wins.</a:t>
            </a:r>
          </a:p>
          <a:p>
            <a:pPr marL="0" marR="0" lvl="0" indent="0" algn="ctr" defTabSz="914400">
              <a:lnSpc>
                <a:spcPct val="100000"/>
              </a:lnSpc>
              <a:spcBef>
                <a:spcPts val="0"/>
              </a:spcBef>
              <a:spcAft>
                <a:spcPts val="0"/>
              </a:spcAft>
              <a:buClrTx/>
              <a:buSzTx/>
              <a:buFontTx/>
              <a:buNone/>
              <a:tabLst/>
              <a:defRPr/>
            </a:pPr>
            <a:endParaRPr lang="en-US" sz="1200" b="0" i="0" u="none" strike="noStrike" kern="1200" cap="none" spc="0" normalizeH="0" baseline="0" noProof="0" dirty="0">
              <a:ln>
                <a:noFill/>
              </a:ln>
              <a:solidFill>
                <a:srgbClr val="FFFFFF"/>
              </a:solidFill>
              <a:effectLst/>
              <a:uLnTx/>
              <a:uFillTx/>
              <a:latin typeface="Aptos" panose="020B0004020202020204"/>
            </a:endParaRPr>
          </a:p>
        </p:txBody>
      </p:sp>
      <p:sp>
        <p:nvSpPr>
          <p:cNvPr id="27" name="TextBox 26">
            <a:extLst>
              <a:ext uri="{FF2B5EF4-FFF2-40B4-BE49-F238E27FC236}">
                <a16:creationId xmlns:a16="http://schemas.microsoft.com/office/drawing/2014/main" id="{F39AAB54-80A1-B864-1AAE-2985970BDDAC}"/>
              </a:ext>
            </a:extLst>
          </p:cNvPr>
          <p:cNvSpPr txBox="1"/>
          <p:nvPr/>
        </p:nvSpPr>
        <p:spPr>
          <a:xfrm>
            <a:off x="6197871" y="4458123"/>
            <a:ext cx="4231148" cy="143116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defRPr/>
            </a:pPr>
            <a:r>
              <a:rPr lang="en-US" sz="1600" dirty="0">
                <a:solidFill>
                  <a:srgbClr val="FFFFFF"/>
                </a:solidFill>
                <a:latin typeface="Aptos Display" panose="020F0302020204030204"/>
              </a:rPr>
              <a:t>Authentic Dominance</a:t>
            </a:r>
            <a:br>
              <a:rPr lang="en-US" sz="1600" b="0" i="0" u="none" strike="noStrike" kern="1200" cap="none" spc="0" normalizeH="0" baseline="0" noProof="0" dirty="0">
                <a:ln>
                  <a:noFill/>
                </a:ln>
                <a:solidFill>
                  <a:srgbClr val="FFFFFF"/>
                </a:solidFill>
                <a:effectLst/>
                <a:uLnTx/>
                <a:uFillTx/>
                <a:latin typeface="Aptos Display" panose="020F0302020204030204"/>
              </a:rPr>
            </a:br>
            <a:r>
              <a:rPr lang="en-US" sz="1200" dirty="0">
                <a:solidFill>
                  <a:srgbClr val="FFFFFF"/>
                </a:solidFill>
                <a:ea typeface="+mn-lt"/>
                <a:cs typeface="+mn-lt"/>
              </a:rPr>
              <a:t>Brands find it difficult to protect their intellectual property, since real footwear is indistinguishable from counterfeits</a:t>
            </a:r>
            <a:r>
              <a:rPr kumimoji="0" lang="en-US" sz="1200" b="0" i="0" u="none" strike="noStrike" kern="1200" cap="none" spc="0" normalizeH="0" baseline="0" noProof="0" dirty="0">
                <a:ln>
                  <a:noFill/>
                </a:ln>
                <a:solidFill>
                  <a:srgbClr val="FFFFFF"/>
                </a:solidFill>
                <a:effectLst/>
                <a:uLnTx/>
                <a:uFillTx/>
                <a:ea typeface="+mn-lt"/>
                <a:cs typeface="+mn-lt"/>
              </a:rPr>
              <a:t>. </a:t>
            </a:r>
            <a:r>
              <a:rPr lang="en-US" sz="1200" dirty="0">
                <a:solidFill>
                  <a:srgbClr val="FFFFFF"/>
                </a:solidFill>
                <a:ea typeface="+mn-lt"/>
                <a:cs typeface="+mn-lt"/>
              </a:rPr>
              <a:t>There is a meager price difference between real </a:t>
            </a:r>
            <a:r>
              <a:rPr kumimoji="0" lang="en-US" sz="1200" b="0" i="0" u="none" strike="noStrike" kern="1200" cap="none" spc="0" normalizeH="0" baseline="0" noProof="0" dirty="0">
                <a:ln>
                  <a:noFill/>
                </a:ln>
                <a:solidFill>
                  <a:srgbClr val="FFFFFF"/>
                </a:solidFill>
                <a:effectLst/>
                <a:uLnTx/>
                <a:uFillTx/>
                <a:ea typeface="+mn-lt"/>
                <a:cs typeface="+mn-lt"/>
              </a:rPr>
              <a:t>and </a:t>
            </a:r>
            <a:r>
              <a:rPr lang="en-US" sz="1200" dirty="0">
                <a:solidFill>
                  <a:srgbClr val="FFFFFF"/>
                </a:solidFill>
                <a:ea typeface="+mn-lt"/>
                <a:cs typeface="+mn-lt"/>
              </a:rPr>
              <a:t>counterfeit footwear, which aids former </a:t>
            </a:r>
            <a:r>
              <a:rPr kumimoji="0" lang="en-US" sz="1200" b="0" i="0" u="none" strike="noStrike" kern="1200" cap="none" spc="0" normalizeH="0" baseline="0" noProof="0" dirty="0">
                <a:ln>
                  <a:noFill/>
                </a:ln>
                <a:solidFill>
                  <a:srgbClr val="FFFFFF"/>
                </a:solidFill>
                <a:effectLst/>
                <a:uLnTx/>
                <a:uFillTx/>
                <a:ea typeface="+mn-lt"/>
                <a:cs typeface="+mn-lt"/>
              </a:rPr>
              <a:t>to </a:t>
            </a:r>
            <a:r>
              <a:rPr lang="en-US" sz="1200" dirty="0">
                <a:solidFill>
                  <a:srgbClr val="FFFFFF"/>
                </a:solidFill>
                <a:ea typeface="+mn-lt"/>
                <a:cs typeface="+mn-lt"/>
              </a:rPr>
              <a:t>win </a:t>
            </a:r>
            <a:r>
              <a:rPr kumimoji="0" lang="en-US" sz="1200" b="0" i="0" u="none" strike="noStrike" kern="1200" cap="none" spc="0" normalizeH="0" baseline="0" noProof="0" dirty="0">
                <a:ln>
                  <a:noFill/>
                </a:ln>
                <a:solidFill>
                  <a:srgbClr val="FFFFFF"/>
                </a:solidFill>
                <a:effectLst/>
                <a:uLnTx/>
                <a:uFillTx/>
                <a:ea typeface="+mn-lt"/>
                <a:cs typeface="+mn-lt"/>
              </a:rPr>
              <a:t>the </a:t>
            </a:r>
            <a:r>
              <a:rPr lang="en-US" sz="1200" dirty="0">
                <a:solidFill>
                  <a:srgbClr val="FFFFFF"/>
                </a:solidFill>
                <a:ea typeface="+mn-lt"/>
                <a:cs typeface="+mn-lt"/>
              </a:rPr>
              <a:t>battle</a:t>
            </a:r>
            <a:r>
              <a:rPr kumimoji="0" lang="en-US" sz="1200" b="0" i="0" u="none" strike="noStrike" kern="1200" cap="none" spc="0" normalizeH="0" baseline="0" noProof="0" dirty="0">
                <a:ln>
                  <a:noFill/>
                </a:ln>
                <a:solidFill>
                  <a:srgbClr val="FFFFFF"/>
                </a:solidFill>
                <a:effectLst/>
                <a:uLnTx/>
                <a:uFillTx/>
                <a:ea typeface="+mn-lt"/>
                <a:cs typeface="+mn-lt"/>
              </a:rPr>
              <a:t>. </a:t>
            </a:r>
            <a:r>
              <a:rPr lang="en-US" sz="1200" dirty="0">
                <a:solidFill>
                  <a:srgbClr val="FFFFFF"/>
                </a:solidFill>
                <a:ea typeface="+mn-lt"/>
                <a:cs typeface="+mn-lt"/>
              </a:rPr>
              <a:t>Brands invest </a:t>
            </a:r>
            <a:r>
              <a:rPr kumimoji="0" lang="en-US" sz="1200" b="0" i="0" u="none" strike="noStrike" kern="1200" cap="none" spc="0" normalizeH="0" baseline="0" noProof="0" dirty="0">
                <a:ln>
                  <a:noFill/>
                </a:ln>
                <a:solidFill>
                  <a:srgbClr val="FFFFFF"/>
                </a:solidFill>
                <a:effectLst/>
                <a:uLnTx/>
                <a:uFillTx/>
                <a:ea typeface="+mn-lt"/>
                <a:cs typeface="+mn-lt"/>
              </a:rPr>
              <a:t>in </a:t>
            </a:r>
            <a:r>
              <a:rPr lang="en-US" sz="1200" dirty="0">
                <a:solidFill>
                  <a:srgbClr val="FFFFFF"/>
                </a:solidFill>
                <a:ea typeface="+mn-lt"/>
                <a:cs typeface="+mn-lt"/>
              </a:rPr>
              <a:t>efforts to make themselves inimitable</a:t>
            </a:r>
            <a:r>
              <a:rPr kumimoji="0" lang="en-US" sz="1100" b="0" i="0" u="none" strike="noStrike" kern="1200" cap="none" spc="0" normalizeH="0" baseline="0" noProof="0" dirty="0">
                <a:ln>
                  <a:noFill/>
                </a:ln>
                <a:solidFill>
                  <a:srgbClr val="FFFFFF"/>
                </a:solidFill>
                <a:effectLst/>
                <a:uLnTx/>
                <a:uFillTx/>
                <a:ea typeface="+mn-lt"/>
                <a:cs typeface="+mn-lt"/>
              </a:rPr>
              <a:t>.</a:t>
            </a:r>
            <a:endParaRPr lang="en-US" sz="1100" dirty="0">
              <a:solidFill>
                <a:srgbClr val="FFFFFF"/>
              </a:solidFill>
              <a:ea typeface="+mn-lt"/>
              <a:cs typeface="+mn-lt"/>
            </a:endParaRPr>
          </a:p>
          <a:p>
            <a:pPr marL="0" marR="0" lvl="0" indent="0" algn="ctr" defTabSz="914400">
              <a:lnSpc>
                <a:spcPct val="100000"/>
              </a:lnSpc>
              <a:spcBef>
                <a:spcPts val="0"/>
              </a:spcBef>
              <a:spcAft>
                <a:spcPts val="0"/>
              </a:spcAft>
              <a:buClrTx/>
              <a:buSzTx/>
              <a:buFontTx/>
              <a:buNone/>
              <a:tabLst/>
              <a:defRPr/>
            </a:pPr>
            <a:endParaRPr lang="en-US" sz="1100" b="0" i="0" u="none" strike="noStrike" kern="1200" cap="none" spc="0" normalizeH="0" baseline="0" noProof="0" dirty="0">
              <a:ln>
                <a:noFill/>
              </a:ln>
              <a:solidFill>
                <a:srgbClr val="FFFFFF"/>
              </a:solidFill>
              <a:effectLst/>
              <a:uLnTx/>
              <a:uFillTx/>
              <a:latin typeface="Aptos Display"/>
            </a:endParaRPr>
          </a:p>
        </p:txBody>
      </p:sp>
      <p:sp>
        <p:nvSpPr>
          <p:cNvPr id="28" name="TextBox 27">
            <a:extLst>
              <a:ext uri="{FF2B5EF4-FFF2-40B4-BE49-F238E27FC236}">
                <a16:creationId xmlns:a16="http://schemas.microsoft.com/office/drawing/2014/main" id="{EE0D5FB5-2D65-329C-DCE8-A8565B42B0A0}"/>
              </a:ext>
            </a:extLst>
          </p:cNvPr>
          <p:cNvSpPr txBox="1"/>
          <p:nvPr/>
        </p:nvSpPr>
        <p:spPr>
          <a:xfrm>
            <a:off x="1471118" y="1607599"/>
            <a:ext cx="4037184" cy="150810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defRPr/>
            </a:pPr>
            <a:r>
              <a:rPr lang="en-US" sz="1600" dirty="0">
                <a:solidFill>
                  <a:srgbClr val="FFFFFF"/>
                </a:solidFill>
                <a:latin typeface="Aptos Display" panose="020F0302020204030204"/>
              </a:rPr>
              <a:t>Sneaker Deluxe</a:t>
            </a:r>
          </a:p>
          <a:p>
            <a:pPr algn="ctr">
              <a:defRPr/>
            </a:pPr>
            <a:r>
              <a:rPr kumimoji="0" lang="en-US" sz="1200" b="0" i="0" u="none" strike="noStrike" kern="1200" cap="none" spc="0" normalizeH="0" baseline="0" noProof="0" dirty="0">
                <a:ln>
                  <a:noFill/>
                </a:ln>
                <a:solidFill>
                  <a:srgbClr val="FFFFFF"/>
                </a:solidFill>
                <a:effectLst/>
                <a:uLnTx/>
                <a:uFillTx/>
                <a:ea typeface="+mn-lt"/>
                <a:cs typeface="+mn-lt"/>
              </a:rPr>
              <a:t>With </a:t>
            </a:r>
            <a:r>
              <a:rPr lang="en-US" sz="1200" dirty="0">
                <a:solidFill>
                  <a:srgbClr val="FFFFFF"/>
                </a:solidFill>
                <a:ea typeface="+mn-lt"/>
                <a:cs typeface="+mn-lt"/>
              </a:rPr>
              <a:t>strong regulation against counterfeits</a:t>
            </a:r>
            <a:r>
              <a:rPr kumimoji="0" lang="en-US" sz="1200" b="0" i="0" u="none" strike="noStrike" kern="1200" cap="none" spc="0" normalizeH="0" baseline="0" noProof="0" dirty="0">
                <a:ln>
                  <a:noFill/>
                </a:ln>
                <a:solidFill>
                  <a:srgbClr val="FFFFFF"/>
                </a:solidFill>
                <a:effectLst/>
                <a:uLnTx/>
                <a:uFillTx/>
                <a:ea typeface="+mn-lt"/>
                <a:cs typeface="+mn-lt"/>
              </a:rPr>
              <a:t>, </a:t>
            </a:r>
            <a:r>
              <a:rPr lang="en-US" sz="1200" dirty="0">
                <a:solidFill>
                  <a:srgbClr val="FFFFFF"/>
                </a:solidFill>
                <a:ea typeface="+mn-lt"/>
                <a:cs typeface="+mn-lt"/>
              </a:rPr>
              <a:t>consumers have no other option but to buy authentic footwear. Brand value increases but prices also increase significantly. Industry </a:t>
            </a:r>
            <a:r>
              <a:rPr kumimoji="0" lang="en-US" sz="1200" b="0" i="0" u="none" strike="noStrike" kern="1200" cap="none" spc="0" normalizeH="0" baseline="0" noProof="0" dirty="0">
                <a:ln>
                  <a:noFill/>
                </a:ln>
                <a:solidFill>
                  <a:srgbClr val="FFFFFF"/>
                </a:solidFill>
                <a:effectLst/>
                <a:uLnTx/>
                <a:uFillTx/>
                <a:ea typeface="+mn-lt"/>
                <a:cs typeface="+mn-lt"/>
              </a:rPr>
              <a:t>focuses on </a:t>
            </a:r>
            <a:r>
              <a:rPr lang="en-US" sz="1200" dirty="0">
                <a:solidFill>
                  <a:srgbClr val="FFFFFF"/>
                </a:solidFill>
                <a:ea typeface="+mn-lt"/>
                <a:cs typeface="+mn-lt"/>
              </a:rPr>
              <a:t>premium positioning by emphasizing authenticity</a:t>
            </a:r>
            <a:r>
              <a:rPr kumimoji="0" lang="en-US" sz="1200" b="0" i="0" u="none" strike="noStrike" kern="1200" cap="none" spc="0" normalizeH="0" baseline="0" noProof="0" dirty="0">
                <a:ln>
                  <a:noFill/>
                </a:ln>
                <a:solidFill>
                  <a:srgbClr val="FFFFFF"/>
                </a:solidFill>
                <a:effectLst/>
                <a:uLnTx/>
                <a:uFillTx/>
                <a:ea typeface="+mn-lt"/>
                <a:cs typeface="+mn-lt"/>
              </a:rPr>
              <a:t>, </a:t>
            </a:r>
            <a:r>
              <a:rPr lang="en-US" sz="1200" dirty="0">
                <a:solidFill>
                  <a:srgbClr val="FFFFFF"/>
                </a:solidFill>
                <a:ea typeface="+mn-lt"/>
                <a:cs typeface="+mn-lt"/>
              </a:rPr>
              <a:t>quality </a:t>
            </a:r>
            <a:r>
              <a:rPr kumimoji="0" lang="en-US" sz="1200" b="0" i="0" u="none" strike="noStrike" kern="1200" cap="none" spc="0" normalizeH="0" baseline="0" noProof="0" dirty="0">
                <a:ln>
                  <a:noFill/>
                </a:ln>
                <a:solidFill>
                  <a:srgbClr val="FFFFFF"/>
                </a:solidFill>
                <a:effectLst/>
                <a:uLnTx/>
                <a:uFillTx/>
                <a:ea typeface="+mn-lt"/>
                <a:cs typeface="+mn-lt"/>
              </a:rPr>
              <a:t>and </a:t>
            </a:r>
            <a:r>
              <a:rPr lang="en-US" sz="1200" dirty="0">
                <a:solidFill>
                  <a:srgbClr val="FFFFFF"/>
                </a:solidFill>
                <a:ea typeface="+mn-lt"/>
                <a:cs typeface="+mn-lt"/>
              </a:rPr>
              <a:t>innovation to justify higher costs</a:t>
            </a:r>
            <a:r>
              <a:rPr kumimoji="0" lang="en-US" sz="1200" b="0" i="0" u="none" strike="noStrike" kern="1200" cap="none" spc="0" normalizeH="0" baseline="0" noProof="0" dirty="0">
                <a:ln>
                  <a:noFill/>
                </a:ln>
                <a:solidFill>
                  <a:srgbClr val="FFFFFF"/>
                </a:solidFill>
                <a:effectLst/>
                <a:uLnTx/>
                <a:uFillTx/>
                <a:ea typeface="+mn-lt"/>
                <a:cs typeface="+mn-lt"/>
              </a:rPr>
              <a:t>.</a:t>
            </a:r>
            <a:endParaRPr lang="en-US" sz="1200" dirty="0">
              <a:solidFill>
                <a:srgbClr val="FFFFFF"/>
              </a:solidFill>
              <a:ea typeface="+mn-lt"/>
              <a:cs typeface="+mn-lt"/>
            </a:endParaRPr>
          </a:p>
          <a:p>
            <a:pPr algn="ctr">
              <a:defRPr/>
            </a:pPr>
            <a:endParaRPr lang="en-US" sz="1600" dirty="0">
              <a:solidFill>
                <a:srgbClr val="FFFFFF"/>
              </a:solidFill>
              <a:latin typeface="Aptos Display"/>
            </a:endParaRPr>
          </a:p>
        </p:txBody>
      </p:sp>
      <p:sp>
        <p:nvSpPr>
          <p:cNvPr id="29" name="Rectangle 28">
            <a:extLst>
              <a:ext uri="{FF2B5EF4-FFF2-40B4-BE49-F238E27FC236}">
                <a16:creationId xmlns:a16="http://schemas.microsoft.com/office/drawing/2014/main" id="{81F5BE25-0441-27AD-32A0-CE33FA7239C1}"/>
              </a:ext>
            </a:extLst>
          </p:cNvPr>
          <p:cNvSpPr/>
          <p:nvPr/>
        </p:nvSpPr>
        <p:spPr>
          <a:xfrm>
            <a:off x="3383689" y="3595362"/>
            <a:ext cx="2403277"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a:solidFill>
                  <a:srgbClr val="FFFFFF"/>
                </a:solidFill>
                <a:latin typeface="Aptos" panose="020B0004020202020204"/>
              </a:rPr>
              <a:t>CONSUMER PURCHASING    </a:t>
            </a:r>
            <a:endParaRPr lang="en-US" sz="1200" b="0" i="0" u="none" strike="noStrike" kern="1200" cap="none" spc="0" normalizeH="0" baseline="0" noProof="0">
              <a:ln>
                <a:noFill/>
              </a:ln>
              <a:solidFill>
                <a:srgbClr val="FFFFFF"/>
              </a:solidFill>
              <a:effectLst/>
              <a:uLnTx/>
              <a:uFillTx/>
              <a:latin typeface="Aptos" panose="020B0004020202020204"/>
            </a:endParaRPr>
          </a:p>
        </p:txBody>
      </p:sp>
      <p:sp>
        <p:nvSpPr>
          <p:cNvPr id="30" name="Rectangle 29">
            <a:extLst>
              <a:ext uri="{FF2B5EF4-FFF2-40B4-BE49-F238E27FC236}">
                <a16:creationId xmlns:a16="http://schemas.microsoft.com/office/drawing/2014/main" id="{F603464F-B263-CFBB-4FB0-FD20B27A3475}"/>
              </a:ext>
            </a:extLst>
          </p:cNvPr>
          <p:cNvSpPr/>
          <p:nvPr/>
        </p:nvSpPr>
        <p:spPr>
          <a:xfrm rot="16200000">
            <a:off x="3721929" y="3689022"/>
            <a:ext cx="4419184" cy="334547"/>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dirty="0">
                <a:solidFill>
                  <a:srgbClr val="FFFFFF"/>
                </a:solidFill>
                <a:latin typeface="Aptos" panose="020B0004020202020204"/>
              </a:rPr>
              <a:t>COUNTERFEIT                        PRODUCTION</a:t>
            </a:r>
            <a:endParaRPr lang="en-US" sz="1200" b="0" i="0" u="none" strike="noStrike" kern="1200" cap="none" spc="0" normalizeH="0" baseline="0" noProof="0" dirty="0">
              <a:ln>
                <a:noFill/>
              </a:ln>
              <a:solidFill>
                <a:srgbClr val="FFFFFF"/>
              </a:solidFill>
              <a:effectLst/>
              <a:uLnTx/>
              <a:uFillTx/>
              <a:latin typeface="Aptos" panose="020B0004020202020204"/>
            </a:endParaRPr>
          </a:p>
        </p:txBody>
      </p:sp>
      <p:sp>
        <p:nvSpPr>
          <p:cNvPr id="31" name="Rectangle 30">
            <a:extLst>
              <a:ext uri="{FF2B5EF4-FFF2-40B4-BE49-F238E27FC236}">
                <a16:creationId xmlns:a16="http://schemas.microsoft.com/office/drawing/2014/main" id="{523964CD-310B-5CCE-10BB-DCE2FE12644D}"/>
              </a:ext>
            </a:extLst>
          </p:cNvPr>
          <p:cNvSpPr/>
          <p:nvPr/>
        </p:nvSpPr>
        <p:spPr>
          <a:xfrm>
            <a:off x="6058575" y="3600278"/>
            <a:ext cx="2489563"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dirty="0">
                <a:solidFill>
                  <a:srgbClr val="FFFFFF"/>
                </a:solidFill>
                <a:latin typeface="Aptos" panose="020B0004020202020204"/>
              </a:rPr>
              <a:t>POWER FOR FOOTWEAR</a:t>
            </a:r>
            <a:endParaRPr kumimoji="0" lang="en-US" sz="1200" b="0" i="0" u="none" strike="noStrike" kern="1200" cap="none" spc="0" normalizeH="0" baseline="0" noProof="0" dirty="0">
              <a:ln>
                <a:noFill/>
              </a:ln>
              <a:solidFill>
                <a:srgbClr val="FFFFFF"/>
              </a:solidFill>
              <a:effectLst/>
              <a:uLnTx/>
              <a:uFillTx/>
              <a:latin typeface="Aptos" panose="020B0004020202020204"/>
              <a:ea typeface="+mn-ea"/>
              <a:cs typeface="+mn-cs"/>
            </a:endParaRPr>
          </a:p>
        </p:txBody>
      </p:sp>
      <p:sp>
        <p:nvSpPr>
          <p:cNvPr id="32" name="TextBox 31">
            <a:extLst>
              <a:ext uri="{FF2B5EF4-FFF2-40B4-BE49-F238E27FC236}">
                <a16:creationId xmlns:a16="http://schemas.microsoft.com/office/drawing/2014/main" id="{C8542E85-C242-9FDC-CF1B-2B8399CAABA4}"/>
              </a:ext>
            </a:extLst>
          </p:cNvPr>
          <p:cNvSpPr txBox="1"/>
          <p:nvPr/>
        </p:nvSpPr>
        <p:spPr>
          <a:xfrm>
            <a:off x="-548687" y="3509295"/>
            <a:ext cx="2403278" cy="523220"/>
          </a:xfrm>
          <a:prstGeom prst="rect">
            <a:avLst/>
          </a:prstGeom>
          <a:noFill/>
        </p:spPr>
        <p:txBody>
          <a:bodyPr wrap="square" lIns="91440" tIns="45720" rIns="91440" bIns="45720" rtlCol="0" anchor="t">
            <a:spAutoFit/>
          </a:bodyPr>
          <a:lstStyle/>
          <a:p>
            <a:pPr algn="r">
              <a:defRPr/>
            </a:pPr>
            <a:r>
              <a:rPr lang="en-US" sz="1400" dirty="0">
                <a:solidFill>
                  <a:srgbClr val="FFFFFF"/>
                </a:solidFill>
                <a:latin typeface="Aptos" panose="020B0004020202020204"/>
              </a:rPr>
              <a:t>Consumer spending Decreases</a:t>
            </a:r>
            <a:endParaRPr lang="en-US" sz="1400" b="0" i="0" u="none" strike="noStrike" kern="1200" cap="none" spc="0" normalizeH="0" baseline="0" noProof="0" dirty="0">
              <a:ln>
                <a:noFill/>
              </a:ln>
              <a:solidFill>
                <a:srgbClr val="FFFFFF"/>
              </a:solidFill>
              <a:effectLst/>
              <a:uLnTx/>
              <a:uFillTx/>
              <a:latin typeface="Aptos" panose="020B0004020202020204"/>
            </a:endParaRPr>
          </a:p>
        </p:txBody>
      </p:sp>
      <p:sp>
        <p:nvSpPr>
          <p:cNvPr id="4" name="TextBox 3">
            <a:extLst>
              <a:ext uri="{FF2B5EF4-FFF2-40B4-BE49-F238E27FC236}">
                <a16:creationId xmlns:a16="http://schemas.microsoft.com/office/drawing/2014/main" id="{CA2D8A56-F048-EEC5-7808-B87B2DD83D1E}"/>
              </a:ext>
            </a:extLst>
          </p:cNvPr>
          <p:cNvSpPr txBox="1"/>
          <p:nvPr/>
        </p:nvSpPr>
        <p:spPr>
          <a:xfrm>
            <a:off x="10456137" y="6473798"/>
            <a:ext cx="254655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ptos" panose="020B0004020202020204"/>
                <a:ea typeface="+mn-ea"/>
                <a:cs typeface="+mn-cs"/>
              </a:rPr>
              <a:t>Timeline : 6 years</a:t>
            </a:r>
          </a:p>
        </p:txBody>
      </p:sp>
      <p:sp>
        <p:nvSpPr>
          <p:cNvPr id="5" name="TextBox 4">
            <a:extLst>
              <a:ext uri="{FF2B5EF4-FFF2-40B4-BE49-F238E27FC236}">
                <a16:creationId xmlns:a16="http://schemas.microsoft.com/office/drawing/2014/main" id="{A6BF6E0A-F516-9DEE-27D1-EE9148006B3F}"/>
              </a:ext>
            </a:extLst>
          </p:cNvPr>
          <p:cNvSpPr txBox="1"/>
          <p:nvPr/>
        </p:nvSpPr>
        <p:spPr>
          <a:xfrm>
            <a:off x="220819" y="110409"/>
            <a:ext cx="11703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FF"/>
                </a:solidFill>
                <a:ea typeface="+mn-lt"/>
                <a:cs typeface="+mn-lt"/>
              </a:rPr>
              <a:t>The industry faces dynamic challenges and opportunities shaped by change in consumer behavior, counterfeits, sustainability, and innovation, demanding strategic agility and consumer-centric solutions.</a:t>
            </a:r>
            <a:endParaRPr lang="en-US" b="1" dirty="0">
              <a:solidFill>
                <a:srgbClr val="FFFFFF"/>
              </a:solidFill>
              <a:ea typeface="Calibri"/>
              <a:cs typeface="Calibri"/>
            </a:endParaRPr>
          </a:p>
        </p:txBody>
      </p:sp>
      <p:sp>
        <p:nvSpPr>
          <p:cNvPr id="2" name="Rectangle: Rounded Corners 1">
            <a:extLst>
              <a:ext uri="{FF2B5EF4-FFF2-40B4-BE49-F238E27FC236}">
                <a16:creationId xmlns:a16="http://schemas.microsoft.com/office/drawing/2014/main" id="{7AE08CAA-65E5-E998-4D7D-9104AB061F8B}"/>
              </a:ext>
            </a:extLst>
          </p:cNvPr>
          <p:cNvSpPr/>
          <p:nvPr/>
        </p:nvSpPr>
        <p:spPr>
          <a:xfrm>
            <a:off x="6240720" y="1386836"/>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8" name="Rectangle: Rounded Corners 7">
            <a:extLst>
              <a:ext uri="{FF2B5EF4-FFF2-40B4-BE49-F238E27FC236}">
                <a16:creationId xmlns:a16="http://schemas.microsoft.com/office/drawing/2014/main" id="{041674EB-5DCF-83CB-1857-584EADE60D36}"/>
              </a:ext>
            </a:extLst>
          </p:cNvPr>
          <p:cNvSpPr/>
          <p:nvPr/>
        </p:nvSpPr>
        <p:spPr>
          <a:xfrm>
            <a:off x="1392390" y="1386836"/>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9" name="Rectangle: Rounded Corners 8">
            <a:extLst>
              <a:ext uri="{FF2B5EF4-FFF2-40B4-BE49-F238E27FC236}">
                <a16:creationId xmlns:a16="http://schemas.microsoft.com/office/drawing/2014/main" id="{745F4B50-57C6-3103-A123-2FECF8ABA5B8}"/>
              </a:ext>
            </a:extLst>
          </p:cNvPr>
          <p:cNvSpPr/>
          <p:nvPr/>
        </p:nvSpPr>
        <p:spPr>
          <a:xfrm>
            <a:off x="1392390" y="4108265"/>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Tree>
    <p:extLst>
      <p:ext uri="{BB962C8B-B14F-4D97-AF65-F5344CB8AC3E}">
        <p14:creationId xmlns:p14="http://schemas.microsoft.com/office/powerpoint/2010/main" val="96205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CA17F08D-BF1F-1215-2362-4BDEDA913E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6BF6E0A-F516-9DEE-27D1-EE9148006B3F}"/>
              </a:ext>
            </a:extLst>
          </p:cNvPr>
          <p:cNvSpPr txBox="1"/>
          <p:nvPr/>
        </p:nvSpPr>
        <p:spPr>
          <a:xfrm>
            <a:off x="-21678" y="65634"/>
            <a:ext cx="11703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FF"/>
                </a:solidFill>
                <a:ea typeface="+mn-lt"/>
                <a:cs typeface="+mn-lt"/>
              </a:rPr>
              <a:t>Incumbents focus on innovation, affordability, and market expansion, insurgents focus on disruptive innovation, while </a:t>
            </a:r>
            <a:r>
              <a:rPr lang="en-US" b="1" dirty="0" err="1">
                <a:solidFill>
                  <a:srgbClr val="FFFFFF"/>
                </a:solidFill>
                <a:ea typeface="+mn-lt"/>
                <a:cs typeface="+mn-lt"/>
              </a:rPr>
              <a:t>adjacents</a:t>
            </a:r>
            <a:r>
              <a:rPr lang="en-US" b="1" dirty="0">
                <a:solidFill>
                  <a:srgbClr val="FFFFFF"/>
                </a:solidFill>
                <a:ea typeface="+mn-lt"/>
                <a:cs typeface="+mn-lt"/>
              </a:rPr>
              <a:t> explore new markets, materials, distribution and technology integrations to enhance product offerings.</a:t>
            </a:r>
            <a:endParaRPr lang="en-US" b="1" dirty="0">
              <a:solidFill>
                <a:srgbClr val="FFFFFF"/>
              </a:solidFill>
              <a:ea typeface="Calibri"/>
              <a:cs typeface="Calibri"/>
            </a:endParaRPr>
          </a:p>
        </p:txBody>
      </p:sp>
      <p:sp>
        <p:nvSpPr>
          <p:cNvPr id="3" name="AutoShape 3">
            <a:extLst>
              <a:ext uri="{FF2B5EF4-FFF2-40B4-BE49-F238E27FC236}">
                <a16:creationId xmlns:a16="http://schemas.microsoft.com/office/drawing/2014/main" id="{D4068431-1276-E26D-6FE9-554411E00EB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cxnSp>
        <p:nvCxnSpPr>
          <p:cNvPr id="20" name="Straight Arrow Connector 19">
            <a:extLst>
              <a:ext uri="{FF2B5EF4-FFF2-40B4-BE49-F238E27FC236}">
                <a16:creationId xmlns:a16="http://schemas.microsoft.com/office/drawing/2014/main" id="{DBE4142C-7E39-E5A4-826A-542A4B6D6131}"/>
              </a:ext>
            </a:extLst>
          </p:cNvPr>
          <p:cNvCxnSpPr>
            <a:cxnSpLocks/>
          </p:cNvCxnSpPr>
          <p:nvPr/>
        </p:nvCxnSpPr>
        <p:spPr>
          <a:xfrm>
            <a:off x="1898126" y="3772340"/>
            <a:ext cx="780097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CE8B6F9-A86E-7397-3564-AC0F5B0D0763}"/>
              </a:ext>
            </a:extLst>
          </p:cNvPr>
          <p:cNvCxnSpPr>
            <a:cxnSpLocks/>
          </p:cNvCxnSpPr>
          <p:nvPr/>
        </p:nvCxnSpPr>
        <p:spPr>
          <a:xfrm>
            <a:off x="5923895" y="1262798"/>
            <a:ext cx="0" cy="51990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7BB0188-2E53-0CA9-8871-F4FAB2BB67A6}"/>
              </a:ext>
            </a:extLst>
          </p:cNvPr>
          <p:cNvSpPr txBox="1"/>
          <p:nvPr/>
        </p:nvSpPr>
        <p:spPr>
          <a:xfrm>
            <a:off x="9713792" y="3599927"/>
            <a:ext cx="2489329" cy="535315"/>
          </a:xfrm>
          <a:prstGeom prst="rect">
            <a:avLst/>
          </a:prstGeom>
          <a:noFill/>
        </p:spPr>
        <p:txBody>
          <a:bodyPr wrap="square" lIns="91440" tIns="45720" rIns="91440" bIns="45720" rtlCol="0" anchor="t">
            <a:spAutoFit/>
          </a:bodyPr>
          <a:lstStyle/>
          <a:p>
            <a:pPr>
              <a:defRPr/>
            </a:pPr>
            <a:r>
              <a:rPr lang="en-US" sz="1400" dirty="0">
                <a:solidFill>
                  <a:srgbClr val="FFFFFF"/>
                </a:solidFill>
                <a:latin typeface="Aptos" panose="020B0004020202020204"/>
              </a:rPr>
              <a:t>Consumer Spending Increases</a:t>
            </a:r>
            <a:endParaRPr kumimoji="0" lang="en-US" sz="1400" b="0" i="0" u="none" strike="noStrike" kern="1200" cap="none" spc="0" normalizeH="0" baseline="0" noProof="0" dirty="0">
              <a:ln>
                <a:noFill/>
              </a:ln>
              <a:solidFill>
                <a:srgbClr val="FFFFFF"/>
              </a:solidFill>
              <a:effectLst/>
              <a:uLnTx/>
              <a:uFillTx/>
              <a:latin typeface="Aptos" panose="020B0004020202020204"/>
              <a:ea typeface="+mn-ea"/>
              <a:cs typeface="+mn-cs"/>
            </a:endParaRPr>
          </a:p>
        </p:txBody>
      </p:sp>
      <p:sp>
        <p:nvSpPr>
          <p:cNvPr id="23" name="TextBox 22">
            <a:extLst>
              <a:ext uri="{FF2B5EF4-FFF2-40B4-BE49-F238E27FC236}">
                <a16:creationId xmlns:a16="http://schemas.microsoft.com/office/drawing/2014/main" id="{D3AC6CD4-FE2C-6012-D07E-E2683F513672}"/>
              </a:ext>
            </a:extLst>
          </p:cNvPr>
          <p:cNvSpPr txBox="1"/>
          <p:nvPr/>
        </p:nvSpPr>
        <p:spPr>
          <a:xfrm>
            <a:off x="4661130" y="856066"/>
            <a:ext cx="2571790"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Aptos" panose="020B0004020202020204"/>
              </a:rPr>
              <a:t>Counterfeits</a:t>
            </a:r>
            <a:r>
              <a:rPr kumimoji="0" lang="en-US" sz="1400" b="0" i="0" u="none" strike="noStrike" kern="1200" cap="none" spc="0" normalizeH="0" baseline="0" noProof="0" dirty="0">
                <a:ln>
                  <a:noFill/>
                </a:ln>
                <a:solidFill>
                  <a:srgbClr val="FFFFFF"/>
                </a:solidFill>
                <a:effectLst/>
                <a:uLnTx/>
                <a:uFillTx/>
                <a:latin typeface="Aptos" panose="020B0004020202020204"/>
                <a:ea typeface="+mn-ea"/>
                <a:cs typeface="+mn-cs"/>
              </a:rPr>
              <a:t> </a:t>
            </a:r>
            <a:r>
              <a:rPr lang="en-US" sz="1400" dirty="0">
                <a:solidFill>
                  <a:srgbClr val="FFFFFF"/>
                </a:solidFill>
                <a:latin typeface="Aptos" panose="020B0004020202020204"/>
              </a:rPr>
              <a:t>Decreases</a:t>
            </a:r>
            <a:endParaRPr kumimoji="0" lang="en-US" sz="1800" b="0" i="0" u="none" strike="noStrike" kern="1200" cap="none" spc="0" normalizeH="0" baseline="0" noProof="0" dirty="0" err="1">
              <a:ln>
                <a:noFill/>
              </a:ln>
              <a:solidFill>
                <a:srgbClr val="FFFFFF"/>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70537B23-F028-2A44-0251-A18A4DE9C464}"/>
              </a:ext>
            </a:extLst>
          </p:cNvPr>
          <p:cNvSpPr txBox="1"/>
          <p:nvPr/>
        </p:nvSpPr>
        <p:spPr>
          <a:xfrm>
            <a:off x="4831454" y="6469670"/>
            <a:ext cx="3058615" cy="307777"/>
          </a:xfrm>
          <a:prstGeom prst="rect">
            <a:avLst/>
          </a:prstGeom>
          <a:noFill/>
        </p:spPr>
        <p:txBody>
          <a:bodyPr wrap="square" lIns="91440" tIns="45720" rIns="91440" bIns="45720" rtlCol="0" anchor="t">
            <a:spAutoFit/>
          </a:bodyPr>
          <a:lstStyle/>
          <a:p>
            <a:pPr>
              <a:defRPr/>
            </a:pPr>
            <a:r>
              <a:rPr lang="en-US" sz="1400" dirty="0">
                <a:solidFill>
                  <a:srgbClr val="FFFFFF"/>
                </a:solidFill>
                <a:latin typeface="Aptos" panose="020B0004020202020204"/>
              </a:rPr>
              <a:t>Counterfeits Increases</a:t>
            </a:r>
            <a:endParaRPr lang="en-US" sz="1400" b="0" i="0" u="none" strike="noStrike" kern="1200" cap="none" spc="0" normalizeH="0" baseline="0" noProof="0" dirty="0">
              <a:ln>
                <a:noFill/>
              </a:ln>
              <a:solidFill>
                <a:srgbClr val="FFFFFF"/>
              </a:solidFill>
              <a:effectLst/>
              <a:uLnTx/>
              <a:uFillTx/>
              <a:latin typeface="Aptos" panose="020B0004020202020204"/>
            </a:endParaRPr>
          </a:p>
        </p:txBody>
      </p:sp>
      <p:sp>
        <p:nvSpPr>
          <p:cNvPr id="29" name="Rectangle 28">
            <a:extLst>
              <a:ext uri="{FF2B5EF4-FFF2-40B4-BE49-F238E27FC236}">
                <a16:creationId xmlns:a16="http://schemas.microsoft.com/office/drawing/2014/main" id="{81F5BE25-0441-27AD-32A0-CE33FA7239C1}"/>
              </a:ext>
            </a:extLst>
          </p:cNvPr>
          <p:cNvSpPr/>
          <p:nvPr/>
        </p:nvSpPr>
        <p:spPr>
          <a:xfrm>
            <a:off x="3383257" y="3595362"/>
            <a:ext cx="2403277"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dirty="0">
                <a:solidFill>
                  <a:srgbClr val="FFFFFF"/>
                </a:solidFill>
                <a:latin typeface="Aptos" panose="020B0004020202020204"/>
              </a:rPr>
              <a:t>CONSUMER  PURCHASING   </a:t>
            </a:r>
            <a:endParaRPr lang="en-US" sz="1200" b="0" i="0" u="none" strike="noStrike" kern="1200" cap="none" spc="0" normalizeH="0" baseline="0" noProof="0" dirty="0">
              <a:ln>
                <a:noFill/>
              </a:ln>
              <a:solidFill>
                <a:srgbClr val="FFFFFF"/>
              </a:solidFill>
              <a:effectLst/>
              <a:uLnTx/>
              <a:uFillTx/>
              <a:latin typeface="Aptos" panose="020B0004020202020204"/>
            </a:endParaRPr>
          </a:p>
        </p:txBody>
      </p:sp>
      <p:sp>
        <p:nvSpPr>
          <p:cNvPr id="31" name="Rectangle 30">
            <a:extLst>
              <a:ext uri="{FF2B5EF4-FFF2-40B4-BE49-F238E27FC236}">
                <a16:creationId xmlns:a16="http://schemas.microsoft.com/office/drawing/2014/main" id="{523964CD-310B-5CCE-10BB-DCE2FE12644D}"/>
              </a:ext>
            </a:extLst>
          </p:cNvPr>
          <p:cNvSpPr/>
          <p:nvPr/>
        </p:nvSpPr>
        <p:spPr>
          <a:xfrm>
            <a:off x="6059871" y="3600278"/>
            <a:ext cx="2489563"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dirty="0">
                <a:solidFill>
                  <a:srgbClr val="FFFFFF"/>
                </a:solidFill>
                <a:latin typeface="Aptos" panose="020B0004020202020204"/>
              </a:rPr>
              <a:t>POWER FOR FOOTWEAR</a:t>
            </a:r>
            <a:endParaRPr lang="en-US" sz="1200" b="0" i="0" u="none" strike="noStrike" kern="1200" cap="none" spc="0" normalizeH="0" baseline="0" noProof="0" dirty="0">
              <a:ln>
                <a:noFill/>
              </a:ln>
              <a:solidFill>
                <a:srgbClr val="FFFFFF"/>
              </a:solidFill>
              <a:effectLst/>
              <a:uLnTx/>
              <a:uFillTx/>
              <a:latin typeface="Aptos" panose="020B0004020202020204"/>
            </a:endParaRPr>
          </a:p>
        </p:txBody>
      </p:sp>
      <p:sp>
        <p:nvSpPr>
          <p:cNvPr id="32" name="TextBox 31">
            <a:extLst>
              <a:ext uri="{FF2B5EF4-FFF2-40B4-BE49-F238E27FC236}">
                <a16:creationId xmlns:a16="http://schemas.microsoft.com/office/drawing/2014/main" id="{C8542E85-C242-9FDC-CF1B-2B8399CAABA4}"/>
              </a:ext>
            </a:extLst>
          </p:cNvPr>
          <p:cNvSpPr txBox="1"/>
          <p:nvPr/>
        </p:nvSpPr>
        <p:spPr>
          <a:xfrm>
            <a:off x="-517372" y="3624117"/>
            <a:ext cx="2403278" cy="523220"/>
          </a:xfrm>
          <a:prstGeom prst="rect">
            <a:avLst/>
          </a:prstGeom>
          <a:noFill/>
        </p:spPr>
        <p:txBody>
          <a:bodyPr wrap="square" lIns="91440" tIns="45720" rIns="91440" bIns="45720" rtlCol="0" anchor="t">
            <a:spAutoFit/>
          </a:bodyPr>
          <a:lstStyle/>
          <a:p>
            <a:pPr algn="r">
              <a:defRPr/>
            </a:pPr>
            <a:r>
              <a:rPr lang="en-US" sz="1400" dirty="0">
                <a:solidFill>
                  <a:srgbClr val="FFFFFF"/>
                </a:solidFill>
                <a:latin typeface="Aptos" panose="020B0004020202020204"/>
              </a:rPr>
              <a:t>Consumer</a:t>
            </a:r>
            <a:r>
              <a:rPr kumimoji="0" lang="en-US" sz="1400" b="0" i="0" u="none" strike="noStrike" kern="1200" cap="none" spc="0" normalizeH="0" baseline="0" noProof="0" dirty="0">
                <a:ln>
                  <a:noFill/>
                </a:ln>
                <a:solidFill>
                  <a:srgbClr val="FFFFFF"/>
                </a:solidFill>
                <a:effectLst/>
                <a:uLnTx/>
                <a:uFillTx/>
                <a:latin typeface="Aptos" panose="020B0004020202020204"/>
                <a:ea typeface="+mn-ea"/>
                <a:cs typeface="+mn-cs"/>
              </a:rPr>
              <a:t> </a:t>
            </a:r>
            <a:r>
              <a:rPr lang="en-US" sz="1400" dirty="0">
                <a:solidFill>
                  <a:srgbClr val="FFFFFF"/>
                </a:solidFill>
                <a:latin typeface="Aptos" panose="020B0004020202020204"/>
              </a:rPr>
              <a:t>Spending Decreases</a:t>
            </a:r>
            <a:endParaRPr kumimoji="0" lang="en-US" sz="1400" b="0" i="0" u="none" strike="noStrike" kern="1200" cap="none" spc="0" normalizeH="0" baseline="0" noProof="0" dirty="0">
              <a:ln>
                <a:noFill/>
              </a:ln>
              <a:solidFill>
                <a:srgbClr val="FFFFFF"/>
              </a:solidFill>
              <a:effectLst/>
              <a:uLnTx/>
              <a:uFillTx/>
              <a:latin typeface="Aptos" panose="020B0004020202020204"/>
              <a:ea typeface="+mn-ea"/>
              <a:cs typeface="+mn-cs"/>
            </a:endParaRPr>
          </a:p>
        </p:txBody>
      </p:sp>
      <p:sp>
        <p:nvSpPr>
          <p:cNvPr id="4" name="TextBox 3">
            <a:extLst>
              <a:ext uri="{FF2B5EF4-FFF2-40B4-BE49-F238E27FC236}">
                <a16:creationId xmlns:a16="http://schemas.microsoft.com/office/drawing/2014/main" id="{CA2D8A56-F048-EEC5-7808-B87B2DD83D1E}"/>
              </a:ext>
            </a:extLst>
          </p:cNvPr>
          <p:cNvSpPr txBox="1"/>
          <p:nvPr/>
        </p:nvSpPr>
        <p:spPr>
          <a:xfrm>
            <a:off x="10456137" y="6473798"/>
            <a:ext cx="254655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ptos" panose="020B0004020202020204"/>
                <a:ea typeface="+mn-ea"/>
                <a:cs typeface="+mn-cs"/>
              </a:rPr>
              <a:t>Timeline : 6 years</a:t>
            </a:r>
          </a:p>
        </p:txBody>
      </p:sp>
      <p:graphicFrame>
        <p:nvGraphicFramePr>
          <p:cNvPr id="13" name="Table 12">
            <a:extLst>
              <a:ext uri="{FF2B5EF4-FFF2-40B4-BE49-F238E27FC236}">
                <a16:creationId xmlns:a16="http://schemas.microsoft.com/office/drawing/2014/main" id="{C8471D0B-7841-F08C-A7A0-21B251561747}"/>
              </a:ext>
            </a:extLst>
          </p:cNvPr>
          <p:cNvGraphicFramePr>
            <a:graphicFrameLocks noGrp="1"/>
          </p:cNvGraphicFramePr>
          <p:nvPr>
            <p:extLst>
              <p:ext uri="{D42A27DB-BD31-4B8C-83A1-F6EECF244321}">
                <p14:modId xmlns:p14="http://schemas.microsoft.com/office/powerpoint/2010/main" val="2554329587"/>
              </p:ext>
            </p:extLst>
          </p:nvPr>
        </p:nvGraphicFramePr>
        <p:xfrm>
          <a:off x="6204857" y="1423516"/>
          <a:ext cx="5791026" cy="2285377"/>
        </p:xfrm>
        <a:graphic>
          <a:graphicData uri="http://schemas.openxmlformats.org/drawingml/2006/table">
            <a:tbl>
              <a:tblPr bandRow="1">
                <a:tableStyleId>{5C22544A-7EE6-4342-B048-85BDC9FD1C3A}</a:tableStyleId>
              </a:tblPr>
              <a:tblGrid>
                <a:gridCol w="1930342">
                  <a:extLst>
                    <a:ext uri="{9D8B030D-6E8A-4147-A177-3AD203B41FA5}">
                      <a16:colId xmlns:a16="http://schemas.microsoft.com/office/drawing/2014/main" val="3485355177"/>
                    </a:ext>
                  </a:extLst>
                </a:gridCol>
                <a:gridCol w="1930342">
                  <a:extLst>
                    <a:ext uri="{9D8B030D-6E8A-4147-A177-3AD203B41FA5}">
                      <a16:colId xmlns:a16="http://schemas.microsoft.com/office/drawing/2014/main" val="1332525590"/>
                    </a:ext>
                  </a:extLst>
                </a:gridCol>
                <a:gridCol w="1930342">
                  <a:extLst>
                    <a:ext uri="{9D8B030D-6E8A-4147-A177-3AD203B41FA5}">
                      <a16:colId xmlns:a16="http://schemas.microsoft.com/office/drawing/2014/main" val="2169068534"/>
                    </a:ext>
                  </a:extLst>
                </a:gridCol>
              </a:tblGrid>
              <a:tr h="319417">
                <a:tc>
                  <a:txBody>
                    <a:bodyPr/>
                    <a:lstStyle/>
                    <a:p>
                      <a:pPr lvl="0" algn="ctr">
                        <a:buNone/>
                      </a:pPr>
                      <a:r>
                        <a:rPr lang="en-US" sz="1100" b="1" dirty="0">
                          <a:solidFill>
                            <a:schemeClr val="bg1"/>
                          </a:solidFill>
                        </a:rPr>
                        <a:t>INCUMBENTS</a:t>
                      </a:r>
                      <a:endParaRPr lang="en-US">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buNone/>
                      </a:pPr>
                      <a:r>
                        <a:rPr lang="en-US" sz="1100" b="1" dirty="0">
                          <a:solidFill>
                            <a:schemeClr val="bg1"/>
                          </a:solidFill>
                        </a:rPr>
                        <a:t>INSURGENTS</a:t>
                      </a:r>
                      <a:endParaRPr lang="en-US">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buNone/>
                      </a:pPr>
                      <a:r>
                        <a:rPr lang="en-US" sz="1100" b="1" dirty="0">
                          <a:solidFill>
                            <a:schemeClr val="bg1"/>
                          </a:solidFill>
                        </a:rPr>
                        <a:t>ADJACENTS</a:t>
                      </a:r>
                      <a:endParaRPr lang="en-US">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76949">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endParaRPr lang="en-US" sz="1000" b="0" i="0" u="none" strike="noStrike" noProof="0" dirty="0">
                        <a:solidFill>
                          <a:schemeClr val="bg1"/>
                        </a:solidFill>
                        <a:latin typeface="Calibri"/>
                      </a:endParaRPr>
                    </a:p>
                    <a:p>
                      <a:pPr lvl="0" algn="l">
                        <a:lnSpc>
                          <a:spcPct val="100000"/>
                        </a:lnSpc>
                        <a:spcBef>
                          <a:spcPts val="0"/>
                        </a:spcBef>
                        <a:spcAft>
                          <a:spcPts val="0"/>
                        </a:spcAft>
                        <a:buNone/>
                      </a:pPr>
                      <a:r>
                        <a:rPr lang="en-US" sz="1000" b="0" i="0" u="none" strike="noStrike" noProof="0" dirty="0">
                          <a:solidFill>
                            <a:schemeClr val="bg1"/>
                          </a:solidFill>
                          <a:latin typeface="Calibri"/>
                        </a:rPr>
                        <a:t>Nike: Hybrid model of creating exclusivity while setting innovation benchmarks.</a:t>
                      </a:r>
                      <a:endParaRPr lang="en-US">
                        <a:solidFill>
                          <a:schemeClr val="bg1"/>
                        </a:solidFill>
                      </a:endParaRPr>
                    </a:p>
                    <a:p>
                      <a:pPr lvl="0" algn="l">
                        <a:lnSpc>
                          <a:spcPct val="100000"/>
                        </a:lnSpc>
                        <a:spcBef>
                          <a:spcPts val="0"/>
                        </a:spcBef>
                        <a:spcAft>
                          <a:spcPts val="0"/>
                        </a:spcAft>
                        <a:buNone/>
                      </a:pPr>
                      <a:r>
                        <a:rPr lang="en-US" sz="1000" b="0" i="0" u="none" strike="noStrike" noProof="0" dirty="0">
                          <a:solidFill>
                            <a:schemeClr val="bg1"/>
                          </a:solidFill>
                          <a:latin typeface="Calibri"/>
                        </a:rPr>
                        <a:t>Adidas: Focus on innovation and expand into emerging markets.</a:t>
                      </a:r>
                      <a:endParaRPr lang="en-US">
                        <a:solidFill>
                          <a:schemeClr val="bg1"/>
                        </a:solidFill>
                      </a:endParaRPr>
                    </a:p>
                    <a:p>
                      <a:pPr lvl="0" algn="l">
                        <a:lnSpc>
                          <a:spcPct val="100000"/>
                        </a:lnSpc>
                        <a:spcBef>
                          <a:spcPts val="0"/>
                        </a:spcBef>
                        <a:spcAft>
                          <a:spcPts val="0"/>
                        </a:spcAft>
                        <a:buNone/>
                      </a:pPr>
                      <a:r>
                        <a:rPr lang="en-US" sz="1000" b="0" i="0" u="none" strike="noStrike" noProof="0" dirty="0">
                          <a:solidFill>
                            <a:schemeClr val="bg1"/>
                          </a:solidFill>
                          <a:latin typeface="Calibri"/>
                        </a:rPr>
                        <a:t>Puma: Lead emerging markets, increase affordability, optimize manufacturing capabilities.</a:t>
                      </a:r>
                      <a:endParaRPr lang="en-US">
                        <a:solidFill>
                          <a:schemeClr val="bg1"/>
                        </a:solidFill>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r>
                        <a:rPr lang="en-US" sz="1000" b="0" i="0" u="none" strike="noStrike" noProof="0" err="1">
                          <a:solidFill>
                            <a:schemeClr val="bg1"/>
                          </a:solidFill>
                        </a:rPr>
                        <a:t>Allbirds</a:t>
                      </a:r>
                      <a:r>
                        <a:rPr lang="en-US" sz="1000" b="0" i="0" u="none" strike="noStrike" noProof="0" dirty="0">
                          <a:solidFill>
                            <a:schemeClr val="bg1"/>
                          </a:solidFill>
                        </a:rPr>
                        <a:t>: Leverage their reputation for sustainability and innovation in materials.</a:t>
                      </a:r>
                      <a:endParaRPr lang="en-US" sz="1000">
                        <a:solidFill>
                          <a:schemeClr val="bg1"/>
                        </a:solidFill>
                      </a:endParaRPr>
                    </a:p>
                    <a:p>
                      <a:pPr lvl="0" algn="l">
                        <a:lnSpc>
                          <a:spcPct val="100000"/>
                        </a:lnSpc>
                        <a:spcBef>
                          <a:spcPts val="0"/>
                        </a:spcBef>
                        <a:spcAft>
                          <a:spcPts val="0"/>
                        </a:spcAft>
                        <a:buNone/>
                      </a:pPr>
                      <a:r>
                        <a:rPr lang="en-US" sz="1000" b="0" i="0" u="none" strike="noStrike" noProof="0" dirty="0">
                          <a:solidFill>
                            <a:schemeClr val="bg1"/>
                          </a:solidFill>
                        </a:rPr>
                        <a:t>Hoka One </a:t>
                      </a:r>
                      <a:r>
                        <a:rPr lang="en-US" sz="1000" b="0" i="0" u="none" strike="noStrike" noProof="0" err="1">
                          <a:solidFill>
                            <a:schemeClr val="bg1"/>
                          </a:solidFill>
                        </a:rPr>
                        <a:t>One</a:t>
                      </a:r>
                      <a:r>
                        <a:rPr lang="en-US" sz="1000" b="0" i="0" u="none" strike="noStrike" noProof="0" dirty="0">
                          <a:solidFill>
                            <a:schemeClr val="bg1"/>
                          </a:solidFill>
                        </a:rPr>
                        <a:t>: Invest in R&amp;D, leveraging their niche expertise.</a:t>
                      </a:r>
                      <a:endParaRPr lang="en-US" sz="1000">
                        <a:solidFill>
                          <a:schemeClr val="bg1"/>
                        </a:solidFill>
                      </a:endParaRPr>
                    </a:p>
                    <a:p>
                      <a:pPr lvl="0" algn="l">
                        <a:lnSpc>
                          <a:spcPct val="100000"/>
                        </a:lnSpc>
                        <a:spcBef>
                          <a:spcPts val="0"/>
                        </a:spcBef>
                        <a:spcAft>
                          <a:spcPts val="0"/>
                        </a:spcAft>
                        <a:buNone/>
                      </a:pPr>
                      <a:r>
                        <a:rPr lang="en-US" sz="1000" b="0" i="0" u="none" strike="noStrike" noProof="0" err="1">
                          <a:solidFill>
                            <a:schemeClr val="bg1"/>
                          </a:solidFill>
                        </a:rPr>
                        <a:t>Rothy’s</a:t>
                      </a:r>
                      <a:r>
                        <a:rPr lang="en-US" sz="1000" b="0" i="0" u="none" strike="noStrike" noProof="0" dirty="0">
                          <a:solidFill>
                            <a:schemeClr val="bg1"/>
                          </a:solidFill>
                        </a:rPr>
                        <a:t>: Scale and innovate their sustainable, 3D-knitted footwear. </a:t>
                      </a:r>
                      <a:endParaRPr lang="en-US" sz="1000">
                        <a:solidFill>
                          <a:schemeClr val="bg1"/>
                        </a:solidFill>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000" b="0" i="0" u="none" strike="noStrike" noProof="0" dirty="0">
                        <a:solidFill>
                          <a:schemeClr val="bg1"/>
                        </a:solidFill>
                        <a:latin typeface="Calibri"/>
                      </a:endParaRPr>
                    </a:p>
                    <a:p>
                      <a:pPr lvl="0" algn="l">
                        <a:lnSpc>
                          <a:spcPct val="100000"/>
                        </a:lnSpc>
                        <a:spcBef>
                          <a:spcPts val="0"/>
                        </a:spcBef>
                        <a:spcAft>
                          <a:spcPts val="0"/>
                        </a:spcAft>
                        <a:buNone/>
                      </a:pPr>
                      <a:r>
                        <a:rPr lang="en-US" sz="1000" b="0" i="0" u="none" strike="noStrike" noProof="0" dirty="0">
                          <a:solidFill>
                            <a:schemeClr val="bg1"/>
                          </a:solidFill>
                          <a:latin typeface="Calibri"/>
                        </a:rPr>
                        <a:t>Apple: Integrating wearable technology into shoes</a:t>
                      </a:r>
                      <a:endParaRPr lang="en-US">
                        <a:solidFill>
                          <a:schemeClr val="bg1"/>
                        </a:solidFill>
                        <a:latin typeface="Calibri"/>
                      </a:endParaRPr>
                    </a:p>
                    <a:p>
                      <a:pPr lvl="0" algn="l">
                        <a:lnSpc>
                          <a:spcPct val="100000"/>
                        </a:lnSpc>
                        <a:spcBef>
                          <a:spcPts val="0"/>
                        </a:spcBef>
                        <a:spcAft>
                          <a:spcPts val="0"/>
                        </a:spcAft>
                        <a:buNone/>
                      </a:pPr>
                      <a:r>
                        <a:rPr lang="en-US" sz="1000" b="0" i="0" u="none" strike="noStrike" noProof="0" dirty="0">
                          <a:solidFill>
                            <a:schemeClr val="bg1"/>
                          </a:solidFill>
                          <a:latin typeface="Calibri"/>
                        </a:rPr>
                        <a:t>Bolt Threads: Partner with footwear companies to provide sustainable materials.</a:t>
                      </a:r>
                    </a:p>
                    <a:p>
                      <a:pPr lvl="0" algn="l">
                        <a:lnSpc>
                          <a:spcPct val="100000"/>
                        </a:lnSpc>
                        <a:spcBef>
                          <a:spcPts val="0"/>
                        </a:spcBef>
                        <a:spcAft>
                          <a:spcPts val="0"/>
                        </a:spcAft>
                        <a:buNone/>
                      </a:pPr>
                      <a:r>
                        <a:rPr lang="en-US" sz="1000" b="0" i="0" u="none" strike="noStrike" noProof="0" dirty="0">
                          <a:solidFill>
                            <a:schemeClr val="bg1"/>
                          </a:solidFill>
                          <a:latin typeface="Calibri"/>
                        </a:rPr>
                        <a:t>Footlocker, Macy's: Increase the reach of brands with extensive distribution channels.</a:t>
                      </a:r>
                    </a:p>
                    <a:p>
                      <a:pPr lvl="0" algn="l">
                        <a:lnSpc>
                          <a:spcPct val="100000"/>
                        </a:lnSpc>
                        <a:spcBef>
                          <a:spcPts val="0"/>
                        </a:spcBef>
                        <a:spcAft>
                          <a:spcPts val="0"/>
                        </a:spcAft>
                        <a:buNone/>
                      </a:pPr>
                      <a:endParaRPr lang="en-US" sz="1000" b="0" i="0" u="none" strike="noStrike" noProof="0" dirty="0">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pic>
        <p:nvPicPr>
          <p:cNvPr id="33" name="Picture 32" descr="Apple Logo and symbol, meaning, history ...">
            <a:extLst>
              <a:ext uri="{FF2B5EF4-FFF2-40B4-BE49-F238E27FC236}">
                <a16:creationId xmlns:a16="http://schemas.microsoft.com/office/drawing/2014/main" id="{2EE272DA-B67E-D616-3210-146E416CCC8E}"/>
              </a:ext>
            </a:extLst>
          </p:cNvPr>
          <p:cNvPicPr>
            <a:picLocks noChangeAspect="1"/>
          </p:cNvPicPr>
          <p:nvPr/>
        </p:nvPicPr>
        <p:blipFill>
          <a:blip r:embed="rId2"/>
          <a:stretch>
            <a:fillRect/>
          </a:stretch>
        </p:blipFill>
        <p:spPr>
          <a:xfrm>
            <a:off x="10122236" y="1800699"/>
            <a:ext cx="578757" cy="337458"/>
          </a:xfrm>
          <a:prstGeom prst="rect">
            <a:avLst/>
          </a:prstGeom>
        </p:spPr>
      </p:pic>
      <p:sp>
        <p:nvSpPr>
          <p:cNvPr id="41" name="TextBox 40">
            <a:extLst>
              <a:ext uri="{FF2B5EF4-FFF2-40B4-BE49-F238E27FC236}">
                <a16:creationId xmlns:a16="http://schemas.microsoft.com/office/drawing/2014/main" id="{1F2D8989-5269-E012-04FB-941B4729F89D}"/>
              </a:ext>
            </a:extLst>
          </p:cNvPr>
          <p:cNvSpPr txBox="1"/>
          <p:nvPr/>
        </p:nvSpPr>
        <p:spPr>
          <a:xfrm>
            <a:off x="6219362" y="1081393"/>
            <a:ext cx="5787655" cy="307777"/>
          </a:xfrm>
          <a:prstGeom prst="rect">
            <a:avLst/>
          </a:prstGeom>
          <a:noFill/>
        </p:spPr>
        <p:txBody>
          <a:bodyPr wrap="square" lIns="91440" tIns="45720" rIns="91440" bIns="45720" rtlCol="0" anchor="t">
            <a:spAutoFit/>
          </a:bodyPr>
          <a:lstStyle/>
          <a:p>
            <a:pPr algn="ctr">
              <a:defRPr/>
            </a:pPr>
            <a:r>
              <a:rPr lang="en-US" sz="1400" b="1" dirty="0">
                <a:solidFill>
                  <a:srgbClr val="FFFFFF"/>
                </a:solidFill>
                <a:latin typeface="Aptos"/>
              </a:rPr>
              <a:t>Incumbents grow, Insurgents go sustainable, </a:t>
            </a:r>
            <a:r>
              <a:rPr lang="en-US" sz="1400" b="1" dirty="0" err="1">
                <a:solidFill>
                  <a:srgbClr val="FFFFFF"/>
                </a:solidFill>
                <a:latin typeface="Aptos"/>
              </a:rPr>
              <a:t>Adjacents</a:t>
            </a:r>
            <a:r>
              <a:rPr lang="en-US" sz="1400" b="1" dirty="0">
                <a:solidFill>
                  <a:srgbClr val="FFFFFF"/>
                </a:solidFill>
                <a:latin typeface="Aptos"/>
              </a:rPr>
              <a:t> disrupt</a:t>
            </a:r>
          </a:p>
        </p:txBody>
      </p:sp>
      <p:graphicFrame>
        <p:nvGraphicFramePr>
          <p:cNvPr id="43" name="Table 42">
            <a:extLst>
              <a:ext uri="{FF2B5EF4-FFF2-40B4-BE49-F238E27FC236}">
                <a16:creationId xmlns:a16="http://schemas.microsoft.com/office/drawing/2014/main" id="{89D45AE5-0223-56C8-F81C-28AF62F3FC9C}"/>
              </a:ext>
            </a:extLst>
          </p:cNvPr>
          <p:cNvGraphicFramePr>
            <a:graphicFrameLocks noGrp="1"/>
          </p:cNvGraphicFramePr>
          <p:nvPr>
            <p:extLst>
              <p:ext uri="{D42A27DB-BD31-4B8C-83A1-F6EECF244321}">
                <p14:modId xmlns:p14="http://schemas.microsoft.com/office/powerpoint/2010/main" val="529460568"/>
              </p:ext>
            </p:extLst>
          </p:nvPr>
        </p:nvGraphicFramePr>
        <p:xfrm>
          <a:off x="6218812" y="4298460"/>
          <a:ext cx="5773866" cy="2229263"/>
        </p:xfrm>
        <a:graphic>
          <a:graphicData uri="http://schemas.openxmlformats.org/drawingml/2006/table">
            <a:tbl>
              <a:tblPr bandRow="1">
                <a:tableStyleId>{5C22544A-7EE6-4342-B048-85BDC9FD1C3A}</a:tableStyleId>
              </a:tblPr>
              <a:tblGrid>
                <a:gridCol w="1924622">
                  <a:extLst>
                    <a:ext uri="{9D8B030D-6E8A-4147-A177-3AD203B41FA5}">
                      <a16:colId xmlns:a16="http://schemas.microsoft.com/office/drawing/2014/main" val="3485355177"/>
                    </a:ext>
                  </a:extLst>
                </a:gridCol>
                <a:gridCol w="1924622">
                  <a:extLst>
                    <a:ext uri="{9D8B030D-6E8A-4147-A177-3AD203B41FA5}">
                      <a16:colId xmlns:a16="http://schemas.microsoft.com/office/drawing/2014/main" val="1332525590"/>
                    </a:ext>
                  </a:extLst>
                </a:gridCol>
                <a:gridCol w="1924622">
                  <a:extLst>
                    <a:ext uri="{9D8B030D-6E8A-4147-A177-3AD203B41FA5}">
                      <a16:colId xmlns:a16="http://schemas.microsoft.com/office/drawing/2014/main" val="2169068534"/>
                    </a:ext>
                  </a:extLst>
                </a:gridCol>
              </a:tblGrid>
              <a:tr h="293783">
                <a:tc>
                  <a:txBody>
                    <a:bodyPr/>
                    <a:lstStyle/>
                    <a:p>
                      <a:pPr algn="ctr"/>
                      <a:r>
                        <a:rPr lang="en-US" sz="1100" b="1" dirty="0">
                          <a:solidFill>
                            <a:schemeClr val="bg1"/>
                          </a:solidFill>
                        </a:rPr>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dirty="0">
                          <a:solidFill>
                            <a:schemeClr val="bg1"/>
                          </a:solidFill>
                        </a:rPr>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dirty="0">
                          <a:solidFill>
                            <a:schemeClr val="bg1"/>
                          </a:solidFill>
                        </a:rPr>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45180">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r>
                        <a:rPr lang="en-US" sz="1100" b="0" i="0" u="none" strike="noStrike" noProof="0" dirty="0">
                          <a:solidFill>
                            <a:schemeClr val="bg1"/>
                          </a:solidFill>
                        </a:rPr>
                        <a:t>Nike: Invest in authentication technologies, reduce pricing and increase legal efforts.</a:t>
                      </a:r>
                      <a:endParaRPr lang="en-US">
                        <a:solidFill>
                          <a:schemeClr val="bg1"/>
                        </a:solidFill>
                      </a:endParaRPr>
                    </a:p>
                    <a:p>
                      <a:pPr lvl="0" algn="l">
                        <a:lnSpc>
                          <a:spcPct val="100000"/>
                        </a:lnSpc>
                        <a:spcBef>
                          <a:spcPts val="0"/>
                        </a:spcBef>
                        <a:spcAft>
                          <a:spcPts val="0"/>
                        </a:spcAft>
                        <a:buNone/>
                      </a:pPr>
                      <a:r>
                        <a:rPr lang="en-US" sz="1100" b="0" i="0" u="none" strike="noStrike" noProof="0" dirty="0">
                          <a:solidFill>
                            <a:schemeClr val="bg1"/>
                          </a:solidFill>
                        </a:rPr>
                        <a:t>Local Factories in </a:t>
                      </a:r>
                      <a:r>
                        <a:rPr lang="en-US" sz="1100" b="0" i="0" u="none" strike="noStrike" noProof="0" err="1">
                          <a:solidFill>
                            <a:schemeClr val="bg1"/>
                          </a:solidFill>
                        </a:rPr>
                        <a:t>Putian</a:t>
                      </a:r>
                      <a:r>
                        <a:rPr lang="en-US" sz="1100" b="0" i="0" u="none" strike="noStrike" noProof="0" dirty="0">
                          <a:solidFill>
                            <a:schemeClr val="bg1"/>
                          </a:solidFill>
                        </a:rPr>
                        <a:t>: Scale-up counterfeits production.</a:t>
                      </a:r>
                      <a:endParaRPr lang="en-US">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rPr>
                        <a:t>Balena: Innovate bio-based thermoplastic materials, expand sustainable offerings.</a:t>
                      </a:r>
                      <a:endParaRPr lang="en-US">
                        <a:solidFill>
                          <a:schemeClr val="bg1"/>
                        </a:solidFill>
                      </a:endParaRPr>
                    </a:p>
                    <a:p>
                      <a:pPr lvl="0" algn="l">
                        <a:lnSpc>
                          <a:spcPct val="100000"/>
                        </a:lnSpc>
                        <a:spcBef>
                          <a:spcPts val="0"/>
                        </a:spcBef>
                        <a:spcAft>
                          <a:spcPts val="0"/>
                        </a:spcAft>
                        <a:buNone/>
                      </a:pPr>
                      <a:r>
                        <a:rPr lang="en-US" sz="1100" b="0" i="0" u="none" strike="noStrike" noProof="0" dirty="0">
                          <a:solidFill>
                            <a:schemeClr val="bg1"/>
                          </a:solidFill>
                        </a:rPr>
                        <a:t>Hoka One </a:t>
                      </a:r>
                      <a:r>
                        <a:rPr lang="en-US" sz="1100" b="0" i="0" u="none" strike="noStrike" noProof="0" err="1">
                          <a:solidFill>
                            <a:schemeClr val="bg1"/>
                          </a:solidFill>
                        </a:rPr>
                        <a:t>One</a:t>
                      </a:r>
                      <a:r>
                        <a:rPr lang="en-US" sz="1100" b="0" i="0" u="none" strike="noStrike" noProof="0" dirty="0">
                          <a:solidFill>
                            <a:schemeClr val="bg1"/>
                          </a:solidFill>
                        </a:rPr>
                        <a:t>: Improve the distinctive design and technology behind their footwear.</a:t>
                      </a:r>
                      <a:endParaRPr lang="en-US">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endParaRPr lang="en-US" sz="1100" b="0" i="0" u="none" strike="noStrike" noProof="0" dirty="0">
                        <a:solidFill>
                          <a:schemeClr val="bg1"/>
                        </a:solidFill>
                      </a:endParaRPr>
                    </a:p>
                    <a:p>
                      <a:pPr lvl="0" algn="l">
                        <a:lnSpc>
                          <a:spcPct val="100000"/>
                        </a:lnSpc>
                        <a:spcBef>
                          <a:spcPts val="0"/>
                        </a:spcBef>
                        <a:spcAft>
                          <a:spcPts val="0"/>
                        </a:spcAft>
                        <a:buNone/>
                      </a:pPr>
                      <a:r>
                        <a:rPr lang="en-US" sz="1100" b="0" i="0" u="none" strike="noStrike" noProof="0" dirty="0">
                          <a:solidFill>
                            <a:schemeClr val="bg1"/>
                          </a:solidFill>
                        </a:rPr>
                        <a:t>DHL and FedEx: Distribute counterfeit goods globally without verifying the authenticity.</a:t>
                      </a:r>
                      <a:endParaRPr lang="en-US">
                        <a:solidFill>
                          <a:schemeClr val="bg1"/>
                        </a:solidFill>
                      </a:endParaRPr>
                    </a:p>
                    <a:p>
                      <a:pPr lvl="0" algn="l">
                        <a:lnSpc>
                          <a:spcPct val="100000"/>
                        </a:lnSpc>
                        <a:spcBef>
                          <a:spcPts val="0"/>
                        </a:spcBef>
                        <a:spcAft>
                          <a:spcPts val="0"/>
                        </a:spcAft>
                        <a:buNone/>
                      </a:pPr>
                      <a:r>
                        <a:rPr lang="en-US" sz="1100" b="0" i="0" u="none" strike="noStrike" noProof="0" dirty="0">
                          <a:solidFill>
                            <a:schemeClr val="bg1"/>
                          </a:solidFill>
                        </a:rPr>
                        <a:t>Local Textile Manufacturers: Provide counterfeiters with replica footwear materials.</a:t>
                      </a:r>
                      <a:endParaRPr lang="en-US">
                        <a:solidFill>
                          <a:schemeClr val="bg1"/>
                        </a:solidFill>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sp>
        <p:nvSpPr>
          <p:cNvPr id="57" name="TextBox 56">
            <a:extLst>
              <a:ext uri="{FF2B5EF4-FFF2-40B4-BE49-F238E27FC236}">
                <a16:creationId xmlns:a16="http://schemas.microsoft.com/office/drawing/2014/main" id="{1B2A65DF-A33D-1ED3-BD69-E3F8F86709AE}"/>
              </a:ext>
            </a:extLst>
          </p:cNvPr>
          <p:cNvSpPr txBox="1"/>
          <p:nvPr/>
        </p:nvSpPr>
        <p:spPr>
          <a:xfrm>
            <a:off x="6054871" y="3952047"/>
            <a:ext cx="5963854" cy="307777"/>
          </a:xfrm>
          <a:prstGeom prst="rect">
            <a:avLst/>
          </a:prstGeom>
          <a:noFill/>
        </p:spPr>
        <p:txBody>
          <a:bodyPr wrap="square" lIns="91440" tIns="45720" rIns="91440" bIns="45720" rtlCol="0" anchor="t">
            <a:spAutoFit/>
          </a:bodyPr>
          <a:lstStyle/>
          <a:p>
            <a:pPr algn="ctr">
              <a:defRPr/>
            </a:pPr>
            <a:r>
              <a:rPr lang="en-US" sz="1400" b="1" dirty="0">
                <a:solidFill>
                  <a:srgbClr val="FFFFFF"/>
                </a:solidFill>
                <a:latin typeface="Aptos"/>
                <a:ea typeface="+mn-lt"/>
                <a:cs typeface="+mn-lt"/>
              </a:rPr>
              <a:t>Incumbents authenticate, Insurgents innovate, </a:t>
            </a:r>
            <a:r>
              <a:rPr lang="en-US" sz="1400" b="1" dirty="0" err="1">
                <a:solidFill>
                  <a:srgbClr val="FFFFFF"/>
                </a:solidFill>
                <a:latin typeface="Aptos"/>
                <a:ea typeface="+mn-lt"/>
                <a:cs typeface="+mn-lt"/>
              </a:rPr>
              <a:t>Adjacents</a:t>
            </a:r>
            <a:r>
              <a:rPr lang="en-US" sz="1400" b="1" dirty="0">
                <a:solidFill>
                  <a:srgbClr val="FFFFFF"/>
                </a:solidFill>
                <a:latin typeface="Aptos"/>
                <a:ea typeface="+mn-lt"/>
                <a:cs typeface="+mn-lt"/>
              </a:rPr>
              <a:t> collaborate</a:t>
            </a:r>
          </a:p>
        </p:txBody>
      </p:sp>
      <p:graphicFrame>
        <p:nvGraphicFramePr>
          <p:cNvPr id="61" name="Table 60">
            <a:extLst>
              <a:ext uri="{FF2B5EF4-FFF2-40B4-BE49-F238E27FC236}">
                <a16:creationId xmlns:a16="http://schemas.microsoft.com/office/drawing/2014/main" id="{2EE6877D-41DD-1802-9140-41FC7E34403A}"/>
              </a:ext>
            </a:extLst>
          </p:cNvPr>
          <p:cNvGraphicFramePr>
            <a:graphicFrameLocks noGrp="1"/>
          </p:cNvGraphicFramePr>
          <p:nvPr>
            <p:extLst>
              <p:ext uri="{D42A27DB-BD31-4B8C-83A1-F6EECF244321}">
                <p14:modId xmlns:p14="http://schemas.microsoft.com/office/powerpoint/2010/main" val="2414719379"/>
              </p:ext>
            </p:extLst>
          </p:nvPr>
        </p:nvGraphicFramePr>
        <p:xfrm>
          <a:off x="150725" y="1398395"/>
          <a:ext cx="5459904" cy="2133197"/>
        </p:xfrm>
        <a:graphic>
          <a:graphicData uri="http://schemas.openxmlformats.org/drawingml/2006/table">
            <a:tbl>
              <a:tblPr bandRow="1">
                <a:tableStyleId>{5C22544A-7EE6-4342-B048-85BDC9FD1C3A}</a:tableStyleId>
              </a:tblPr>
              <a:tblGrid>
                <a:gridCol w="1819968">
                  <a:extLst>
                    <a:ext uri="{9D8B030D-6E8A-4147-A177-3AD203B41FA5}">
                      <a16:colId xmlns:a16="http://schemas.microsoft.com/office/drawing/2014/main" val="3485355177"/>
                    </a:ext>
                  </a:extLst>
                </a:gridCol>
                <a:gridCol w="1819968">
                  <a:extLst>
                    <a:ext uri="{9D8B030D-6E8A-4147-A177-3AD203B41FA5}">
                      <a16:colId xmlns:a16="http://schemas.microsoft.com/office/drawing/2014/main" val="1332525590"/>
                    </a:ext>
                  </a:extLst>
                </a:gridCol>
                <a:gridCol w="1819968">
                  <a:extLst>
                    <a:ext uri="{9D8B030D-6E8A-4147-A177-3AD203B41FA5}">
                      <a16:colId xmlns:a16="http://schemas.microsoft.com/office/drawing/2014/main" val="2169068534"/>
                    </a:ext>
                  </a:extLst>
                </a:gridCol>
              </a:tblGrid>
              <a:tr h="365357">
                <a:tc>
                  <a:txBody>
                    <a:bodyPr/>
                    <a:lstStyle/>
                    <a:p>
                      <a:pPr algn="ctr"/>
                      <a:r>
                        <a:rPr lang="en-US" sz="1100" b="1" dirty="0">
                          <a:solidFill>
                            <a:schemeClr val="bg1"/>
                          </a:solidFill>
                        </a:rPr>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dirty="0">
                          <a:solidFill>
                            <a:schemeClr val="bg1"/>
                          </a:solidFill>
                        </a:rPr>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dirty="0">
                          <a:solidFill>
                            <a:schemeClr val="bg1"/>
                          </a:solidFill>
                        </a:rPr>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97832">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Nike: Focus on radical innovations and eliminating D2C model..</a:t>
                      </a:r>
                      <a:endParaRPr lang="en-US">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Adidas: Integrate cutting edge tech in shoes.</a:t>
                      </a:r>
                    </a:p>
                    <a:p>
                      <a:pPr lvl="0" algn="l">
                        <a:lnSpc>
                          <a:spcPct val="100000"/>
                        </a:lnSpc>
                        <a:spcBef>
                          <a:spcPts val="0"/>
                        </a:spcBef>
                        <a:spcAft>
                          <a:spcPts val="0"/>
                        </a:spcAft>
                        <a:buNone/>
                      </a:pPr>
                      <a:r>
                        <a:rPr lang="en-US" sz="1100" b="0" i="0" u="none" strike="noStrike" noProof="0" dirty="0">
                          <a:solidFill>
                            <a:schemeClr val="bg1"/>
                          </a:solidFill>
                          <a:latin typeface="Calibri"/>
                        </a:rPr>
                        <a:t>On: Provide high comfort footwear at comparatively affordable pricing.</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Handsfree Labs: Innovate hands-free technology for footwear.</a:t>
                      </a:r>
                      <a:endParaRPr lang="en-US">
                        <a:solidFill>
                          <a:schemeClr val="bg1"/>
                        </a:solidFill>
                        <a:latin typeface="Calibri"/>
                      </a:endParaRPr>
                    </a:p>
                    <a:p>
                      <a:pPr lvl="0" algn="l">
                        <a:lnSpc>
                          <a:spcPct val="100000"/>
                        </a:lnSpc>
                        <a:spcBef>
                          <a:spcPts val="0"/>
                        </a:spcBef>
                        <a:spcAft>
                          <a:spcPts val="0"/>
                        </a:spcAft>
                        <a:buNone/>
                      </a:pPr>
                      <a:r>
                        <a:rPr lang="en-US" sz="1100" b="0" i="0" u="none" strike="noStrike" noProof="0" err="1">
                          <a:solidFill>
                            <a:schemeClr val="bg1"/>
                          </a:solidFill>
                          <a:latin typeface="Calibri"/>
                        </a:rPr>
                        <a:t>Movmenta</a:t>
                      </a:r>
                      <a:r>
                        <a:rPr lang="en-US" sz="1100" b="0" i="0" u="none" strike="noStrike" noProof="0" dirty="0">
                          <a:solidFill>
                            <a:schemeClr val="bg1"/>
                          </a:solidFill>
                          <a:latin typeface="Calibri"/>
                        </a:rPr>
                        <a:t>: Integrate smart sensors into footwear. </a:t>
                      </a:r>
                      <a:endParaRPr lang="en-US">
                        <a:solidFill>
                          <a:schemeClr val="bg1"/>
                        </a:solidFill>
                      </a:endParaRPr>
                    </a:p>
                    <a:p>
                      <a:pPr lvl="0" algn="l">
                        <a:lnSpc>
                          <a:spcPct val="100000"/>
                        </a:lnSpc>
                        <a:spcBef>
                          <a:spcPts val="0"/>
                        </a:spcBef>
                        <a:spcAft>
                          <a:spcPts val="0"/>
                        </a:spcAft>
                        <a:buNone/>
                      </a:pPr>
                      <a:r>
                        <a:rPr lang="en-US" sz="1100" b="0" i="0" u="none" strike="noStrike" noProof="0" dirty="0">
                          <a:solidFill>
                            <a:schemeClr val="bg1"/>
                          </a:solidFill>
                          <a:latin typeface="Calibri"/>
                        </a:rPr>
                        <a:t>Patagonia: Increase its appeals to eco-conscious consumers.</a:t>
                      </a:r>
                      <a:endParaRPr lang="en-US">
                        <a:solidFill>
                          <a:schemeClr val="bg1"/>
                        </a:solidFill>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r>
                        <a:rPr lang="en-US" sz="1100" b="0" i="0" u="none" strike="noStrike" noProof="0" dirty="0">
                          <a:solidFill>
                            <a:schemeClr val="bg1"/>
                          </a:solidFill>
                          <a:latin typeface="Calibri"/>
                        </a:rPr>
                        <a:t>Google: Develop AR solutions for virtual try-ons.</a:t>
                      </a:r>
                      <a:endParaRPr lang="en-US">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Whoop: Integrated into premium footwear to provide detailed analytics.</a:t>
                      </a:r>
                    </a:p>
                    <a:p>
                      <a:pPr lvl="0" algn="l">
                        <a:lnSpc>
                          <a:spcPct val="100000"/>
                        </a:lnSpc>
                        <a:spcBef>
                          <a:spcPts val="0"/>
                        </a:spcBef>
                        <a:spcAft>
                          <a:spcPts val="0"/>
                        </a:spcAft>
                        <a:buNone/>
                      </a:pPr>
                      <a:r>
                        <a:rPr lang="en-US" sz="1100" b="0" i="0" u="none" strike="noStrike" noProof="0" dirty="0">
                          <a:solidFill>
                            <a:schemeClr val="bg1"/>
                          </a:solidFill>
                          <a:latin typeface="Calibri"/>
                        </a:rPr>
                        <a:t>Macy's: Help big brands sell outdated shoes effectively.</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sp>
        <p:nvSpPr>
          <p:cNvPr id="75" name="TextBox 74">
            <a:extLst>
              <a:ext uri="{FF2B5EF4-FFF2-40B4-BE49-F238E27FC236}">
                <a16:creationId xmlns:a16="http://schemas.microsoft.com/office/drawing/2014/main" id="{15BD5E34-C772-9802-DFE7-DFDD42DA8099}"/>
              </a:ext>
            </a:extLst>
          </p:cNvPr>
          <p:cNvSpPr txBox="1"/>
          <p:nvPr/>
        </p:nvSpPr>
        <p:spPr>
          <a:xfrm>
            <a:off x="-21678" y="1077905"/>
            <a:ext cx="5646499" cy="307777"/>
          </a:xfrm>
          <a:prstGeom prst="rect">
            <a:avLst/>
          </a:prstGeom>
          <a:noFill/>
        </p:spPr>
        <p:txBody>
          <a:bodyPr wrap="square" lIns="91440" tIns="45720" rIns="91440" bIns="45720" rtlCol="0" anchor="t">
            <a:spAutoFit/>
          </a:bodyPr>
          <a:lstStyle/>
          <a:p>
            <a:pPr algn="ctr">
              <a:defRPr/>
            </a:pPr>
            <a:r>
              <a:rPr lang="en-US" sz="1400" b="1" dirty="0">
                <a:solidFill>
                  <a:srgbClr val="FFFFFF"/>
                </a:solidFill>
                <a:latin typeface="Aptos"/>
              </a:rPr>
              <a:t>Incumbents innovate, Insurgents differentiate, </a:t>
            </a:r>
            <a:r>
              <a:rPr lang="en-US" sz="1400" b="1" dirty="0" err="1">
                <a:solidFill>
                  <a:srgbClr val="FFFFFF"/>
                </a:solidFill>
                <a:latin typeface="Aptos"/>
              </a:rPr>
              <a:t>Adjacents</a:t>
            </a:r>
            <a:r>
              <a:rPr lang="en-US" sz="1400" b="1" dirty="0">
                <a:solidFill>
                  <a:srgbClr val="FFFFFF"/>
                </a:solidFill>
                <a:latin typeface="Aptos"/>
              </a:rPr>
              <a:t> integrate</a:t>
            </a:r>
          </a:p>
        </p:txBody>
      </p:sp>
      <p:graphicFrame>
        <p:nvGraphicFramePr>
          <p:cNvPr id="79" name="Table 78">
            <a:extLst>
              <a:ext uri="{FF2B5EF4-FFF2-40B4-BE49-F238E27FC236}">
                <a16:creationId xmlns:a16="http://schemas.microsoft.com/office/drawing/2014/main" id="{30B2C4BD-D7E2-46B9-987B-227BA7FA93A9}"/>
              </a:ext>
            </a:extLst>
          </p:cNvPr>
          <p:cNvGraphicFramePr>
            <a:graphicFrameLocks noGrp="1"/>
          </p:cNvGraphicFramePr>
          <p:nvPr>
            <p:extLst>
              <p:ext uri="{D42A27DB-BD31-4B8C-83A1-F6EECF244321}">
                <p14:modId xmlns:p14="http://schemas.microsoft.com/office/powerpoint/2010/main" val="124970199"/>
              </p:ext>
            </p:extLst>
          </p:nvPr>
        </p:nvGraphicFramePr>
        <p:xfrm>
          <a:off x="154066" y="4290155"/>
          <a:ext cx="5459904" cy="2121769"/>
        </p:xfrm>
        <a:graphic>
          <a:graphicData uri="http://schemas.openxmlformats.org/drawingml/2006/table">
            <a:tbl>
              <a:tblPr bandRow="1">
                <a:tableStyleId>{5C22544A-7EE6-4342-B048-85BDC9FD1C3A}</a:tableStyleId>
              </a:tblPr>
              <a:tblGrid>
                <a:gridCol w="1819968">
                  <a:extLst>
                    <a:ext uri="{9D8B030D-6E8A-4147-A177-3AD203B41FA5}">
                      <a16:colId xmlns:a16="http://schemas.microsoft.com/office/drawing/2014/main" val="3485355177"/>
                    </a:ext>
                  </a:extLst>
                </a:gridCol>
                <a:gridCol w="1819968">
                  <a:extLst>
                    <a:ext uri="{9D8B030D-6E8A-4147-A177-3AD203B41FA5}">
                      <a16:colId xmlns:a16="http://schemas.microsoft.com/office/drawing/2014/main" val="1332525590"/>
                    </a:ext>
                  </a:extLst>
                </a:gridCol>
                <a:gridCol w="1819968">
                  <a:extLst>
                    <a:ext uri="{9D8B030D-6E8A-4147-A177-3AD203B41FA5}">
                      <a16:colId xmlns:a16="http://schemas.microsoft.com/office/drawing/2014/main" val="2169068534"/>
                    </a:ext>
                  </a:extLst>
                </a:gridCol>
              </a:tblGrid>
              <a:tr h="308209">
                <a:tc>
                  <a:txBody>
                    <a:bodyPr/>
                    <a:lstStyle/>
                    <a:p>
                      <a:pPr algn="ctr"/>
                      <a:r>
                        <a:rPr lang="en-US" sz="1100" b="1" dirty="0">
                          <a:solidFill>
                            <a:schemeClr val="bg1"/>
                          </a:solidFill>
                        </a:rPr>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dirty="0">
                          <a:solidFill>
                            <a:schemeClr val="bg1"/>
                          </a:solidFill>
                        </a:rPr>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dirty="0">
                          <a:solidFill>
                            <a:schemeClr val="bg1"/>
                          </a:solidFill>
                        </a:rPr>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95147">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Hoka One </a:t>
                      </a:r>
                      <a:r>
                        <a:rPr lang="en-US" sz="1100" b="0" i="0" u="none" strike="noStrike" noProof="0" err="1">
                          <a:solidFill>
                            <a:schemeClr val="bg1"/>
                          </a:solidFill>
                          <a:latin typeface="Calibri"/>
                        </a:rPr>
                        <a:t>One</a:t>
                      </a:r>
                      <a:r>
                        <a:rPr lang="en-US" sz="1100" b="0" i="0" u="none" strike="noStrike" noProof="0" dirty="0">
                          <a:solidFill>
                            <a:schemeClr val="bg1"/>
                          </a:solidFill>
                          <a:latin typeface="Calibri"/>
                        </a:rPr>
                        <a:t>: Innovate rapidly and build loyalty of performance enthusiasts.</a:t>
                      </a:r>
                      <a:endParaRPr lang="en-US">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On: Continue enhancing comfort and performance. Shoes that feel like walking on a cloud</a:t>
                      </a:r>
                      <a:endParaRPr lang="en-US">
                        <a:solidFill>
                          <a:schemeClr val="bg1"/>
                        </a:solidFill>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r>
                        <a:rPr lang="en-US" sz="1100" b="0" i="0" u="none" strike="noStrike" noProof="0" dirty="0">
                          <a:solidFill>
                            <a:schemeClr val="bg1"/>
                          </a:solidFill>
                          <a:latin typeface="Calibri"/>
                        </a:rPr>
                        <a:t>Counterfeiters: Rapidly expand production, optimize manufacturing, reduce costs and increase the distribution channels across geographies.</a:t>
                      </a:r>
                      <a:endParaRPr lang="en-US">
                        <a:solidFill>
                          <a:schemeClr val="bg1"/>
                        </a:solidFill>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marL="0" lvl="0" indent="0" algn="l">
                        <a:lnSpc>
                          <a:spcPct val="100000"/>
                        </a:lnSpc>
                        <a:spcBef>
                          <a:spcPts val="0"/>
                        </a:spcBef>
                        <a:spcAft>
                          <a:spcPts val="0"/>
                        </a:spcAft>
                        <a:buNone/>
                      </a:pPr>
                      <a:endParaRPr lang="en-US" sz="1100" b="0" i="0" u="none" strike="noStrike" noProof="0" dirty="0">
                        <a:solidFill>
                          <a:schemeClr val="bg1"/>
                        </a:solidFill>
                        <a:latin typeface="Calibri"/>
                      </a:endParaRPr>
                    </a:p>
                    <a:p>
                      <a:pPr lvl="0" algn="l">
                        <a:lnSpc>
                          <a:spcPct val="100000"/>
                        </a:lnSpc>
                        <a:spcBef>
                          <a:spcPts val="0"/>
                        </a:spcBef>
                        <a:spcAft>
                          <a:spcPts val="0"/>
                        </a:spcAft>
                        <a:buNone/>
                      </a:pPr>
                      <a:r>
                        <a:rPr lang="en-US" sz="1000" b="0" i="0" u="none" strike="noStrike" noProof="0" dirty="0">
                          <a:solidFill>
                            <a:schemeClr val="bg1"/>
                          </a:solidFill>
                          <a:latin typeface="Calibri"/>
                        </a:rPr>
                        <a:t>Alibaba: Help brands free up inventory by selling at competitive prices.</a:t>
                      </a:r>
                      <a:endParaRPr lang="en-US" sz="1000">
                        <a:solidFill>
                          <a:schemeClr val="bg1"/>
                        </a:solidFill>
                      </a:endParaRPr>
                    </a:p>
                    <a:p>
                      <a:pPr lvl="0" algn="l">
                        <a:lnSpc>
                          <a:spcPct val="100000"/>
                        </a:lnSpc>
                        <a:spcBef>
                          <a:spcPts val="0"/>
                        </a:spcBef>
                        <a:spcAft>
                          <a:spcPts val="0"/>
                        </a:spcAft>
                        <a:buNone/>
                      </a:pPr>
                      <a:r>
                        <a:rPr lang="en-US" sz="1000" b="0" i="0" u="none" strike="noStrike" noProof="0" dirty="0">
                          <a:solidFill>
                            <a:schemeClr val="bg1"/>
                          </a:solidFill>
                          <a:latin typeface="Calibri"/>
                        </a:rPr>
                        <a:t>Social Media: A medium used extensively by counterfeiters.</a:t>
                      </a:r>
                      <a:endParaRPr lang="en-US" sz="1000">
                        <a:solidFill>
                          <a:schemeClr val="bg1"/>
                        </a:solidFill>
                        <a:latin typeface="Calibri"/>
                      </a:endParaRPr>
                    </a:p>
                    <a:p>
                      <a:pPr lvl="0" algn="l">
                        <a:lnSpc>
                          <a:spcPct val="100000"/>
                        </a:lnSpc>
                        <a:spcBef>
                          <a:spcPts val="0"/>
                        </a:spcBef>
                        <a:spcAft>
                          <a:spcPts val="0"/>
                        </a:spcAft>
                        <a:buNone/>
                      </a:pPr>
                      <a:r>
                        <a:rPr lang="en-US" sz="1000" b="0" i="0" u="none" strike="noStrike" noProof="0" dirty="0">
                          <a:solidFill>
                            <a:schemeClr val="bg1"/>
                          </a:solidFill>
                          <a:latin typeface="Calibri"/>
                        </a:rPr>
                        <a:t>PayPal: Enable quick and secure transactions for counterfeit goods</a:t>
                      </a:r>
                      <a:r>
                        <a:rPr lang="en-US" sz="1000" b="0" i="0" u="none" strike="noStrike" noProof="0" dirty="0">
                          <a:solidFill>
                            <a:schemeClr val="bg1"/>
                          </a:solidFill>
                        </a:rPr>
                        <a:t>.</a:t>
                      </a:r>
                      <a:endParaRPr lang="en-US" sz="1000">
                        <a:solidFill>
                          <a:schemeClr val="bg1"/>
                        </a:solidFil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sp>
        <p:nvSpPr>
          <p:cNvPr id="93" name="TextBox 92">
            <a:extLst>
              <a:ext uri="{FF2B5EF4-FFF2-40B4-BE49-F238E27FC236}">
                <a16:creationId xmlns:a16="http://schemas.microsoft.com/office/drawing/2014/main" id="{1B88E9A2-8BC0-F19B-5DFE-6390F3026435}"/>
              </a:ext>
            </a:extLst>
          </p:cNvPr>
          <p:cNvSpPr txBox="1"/>
          <p:nvPr/>
        </p:nvSpPr>
        <p:spPr>
          <a:xfrm>
            <a:off x="151251" y="3973821"/>
            <a:ext cx="5451178" cy="307777"/>
          </a:xfrm>
          <a:prstGeom prst="rect">
            <a:avLst/>
          </a:prstGeom>
          <a:noFill/>
        </p:spPr>
        <p:txBody>
          <a:bodyPr wrap="square" lIns="91440" tIns="45720" rIns="91440" bIns="45720" rtlCol="0" anchor="t">
            <a:spAutoFit/>
          </a:bodyPr>
          <a:lstStyle/>
          <a:p>
            <a:pPr algn="ctr">
              <a:defRPr/>
            </a:pPr>
            <a:r>
              <a:rPr lang="en-US" sz="1400" b="1" dirty="0">
                <a:solidFill>
                  <a:srgbClr val="FFFFFF"/>
                </a:solidFill>
                <a:latin typeface="Aptos"/>
              </a:rPr>
              <a:t>Incumbents go cheap, insurgents scale-up, </a:t>
            </a:r>
            <a:r>
              <a:rPr lang="en-US" sz="1400" b="1" dirty="0" err="1">
                <a:solidFill>
                  <a:srgbClr val="FFFFFF"/>
                </a:solidFill>
                <a:latin typeface="Aptos"/>
              </a:rPr>
              <a:t>Adjacents</a:t>
            </a:r>
            <a:r>
              <a:rPr lang="en-US" sz="1400" b="1" dirty="0">
                <a:solidFill>
                  <a:srgbClr val="FFFFFF"/>
                </a:solidFill>
                <a:latin typeface="Aptos"/>
              </a:rPr>
              <a:t> support</a:t>
            </a:r>
          </a:p>
        </p:txBody>
      </p:sp>
      <p:sp>
        <p:nvSpPr>
          <p:cNvPr id="6" name="Rectangle 5">
            <a:extLst>
              <a:ext uri="{FF2B5EF4-FFF2-40B4-BE49-F238E27FC236}">
                <a16:creationId xmlns:a16="http://schemas.microsoft.com/office/drawing/2014/main" id="{8EDF826E-67F9-BB6D-C089-8A29CC1DBD57}"/>
              </a:ext>
            </a:extLst>
          </p:cNvPr>
          <p:cNvSpPr/>
          <p:nvPr/>
        </p:nvSpPr>
        <p:spPr>
          <a:xfrm rot="16200000">
            <a:off x="3721929" y="3689022"/>
            <a:ext cx="4419184" cy="334547"/>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dirty="0">
                <a:solidFill>
                  <a:srgbClr val="FFFFFF"/>
                </a:solidFill>
                <a:latin typeface="Aptos" panose="020B0004020202020204"/>
              </a:rPr>
              <a:t>COUNTERFEIT                        PRODUCTION</a:t>
            </a:r>
            <a:endParaRPr lang="en-US" sz="1200" b="0" i="0" u="none" strike="noStrike" kern="1200" cap="none" spc="0" normalizeH="0" baseline="0" noProof="0" dirty="0">
              <a:ln>
                <a:noFill/>
              </a:ln>
              <a:solidFill>
                <a:srgbClr val="FFFFFF"/>
              </a:solidFill>
              <a:effectLst/>
              <a:uLnTx/>
              <a:uFillTx/>
              <a:latin typeface="Aptos" panose="020B0004020202020204"/>
            </a:endParaRPr>
          </a:p>
        </p:txBody>
      </p:sp>
      <p:pic>
        <p:nvPicPr>
          <p:cNvPr id="7" name="Picture 6" descr="The $35 Nike Swoosh Logo Design Story ...">
            <a:extLst>
              <a:ext uri="{FF2B5EF4-FFF2-40B4-BE49-F238E27FC236}">
                <a16:creationId xmlns:a16="http://schemas.microsoft.com/office/drawing/2014/main" id="{AFA479E7-2711-63D9-7CE9-928A876F8913}"/>
              </a:ext>
            </a:extLst>
          </p:cNvPr>
          <p:cNvPicPr>
            <a:picLocks noChangeAspect="1"/>
          </p:cNvPicPr>
          <p:nvPr/>
        </p:nvPicPr>
        <p:blipFill>
          <a:blip r:embed="rId3"/>
          <a:stretch>
            <a:fillRect/>
          </a:stretch>
        </p:blipFill>
        <p:spPr>
          <a:xfrm>
            <a:off x="247911" y="1802769"/>
            <a:ext cx="381000" cy="371475"/>
          </a:xfrm>
          <a:prstGeom prst="rect">
            <a:avLst/>
          </a:prstGeom>
        </p:spPr>
      </p:pic>
      <p:pic>
        <p:nvPicPr>
          <p:cNvPr id="8" name="Picture 7" descr="The $35 Nike Swoosh Logo Design Story ...">
            <a:extLst>
              <a:ext uri="{FF2B5EF4-FFF2-40B4-BE49-F238E27FC236}">
                <a16:creationId xmlns:a16="http://schemas.microsoft.com/office/drawing/2014/main" id="{47CE6BBE-9F13-7768-453F-4BE2D41EB7F3}"/>
              </a:ext>
            </a:extLst>
          </p:cNvPr>
          <p:cNvPicPr>
            <a:picLocks noChangeAspect="1"/>
          </p:cNvPicPr>
          <p:nvPr/>
        </p:nvPicPr>
        <p:blipFill>
          <a:blip r:embed="rId3"/>
          <a:stretch>
            <a:fillRect/>
          </a:stretch>
        </p:blipFill>
        <p:spPr>
          <a:xfrm>
            <a:off x="6261233" y="1775265"/>
            <a:ext cx="381000" cy="371475"/>
          </a:xfrm>
          <a:prstGeom prst="rect">
            <a:avLst/>
          </a:prstGeom>
        </p:spPr>
      </p:pic>
      <p:pic>
        <p:nvPicPr>
          <p:cNvPr id="9" name="Picture 8" descr="The $35 Nike Swoosh Logo Design Story ...">
            <a:extLst>
              <a:ext uri="{FF2B5EF4-FFF2-40B4-BE49-F238E27FC236}">
                <a16:creationId xmlns:a16="http://schemas.microsoft.com/office/drawing/2014/main" id="{7E80C079-0FF7-F0EA-11C1-E71CA944EF18}"/>
              </a:ext>
            </a:extLst>
          </p:cNvPr>
          <p:cNvPicPr>
            <a:picLocks noChangeAspect="1"/>
          </p:cNvPicPr>
          <p:nvPr/>
        </p:nvPicPr>
        <p:blipFill>
          <a:blip r:embed="rId3"/>
          <a:stretch>
            <a:fillRect/>
          </a:stretch>
        </p:blipFill>
        <p:spPr>
          <a:xfrm>
            <a:off x="6937736" y="4662879"/>
            <a:ext cx="381000" cy="371475"/>
          </a:xfrm>
          <a:prstGeom prst="rect">
            <a:avLst/>
          </a:prstGeom>
        </p:spPr>
      </p:pic>
      <p:pic>
        <p:nvPicPr>
          <p:cNvPr id="11" name="Picture 10" descr="Adidas Logo: The History And Evolution Of The Iconic Three ...">
            <a:extLst>
              <a:ext uri="{FF2B5EF4-FFF2-40B4-BE49-F238E27FC236}">
                <a16:creationId xmlns:a16="http://schemas.microsoft.com/office/drawing/2014/main" id="{8AA329ED-179B-108F-A7FA-635C9BCCC45A}"/>
              </a:ext>
            </a:extLst>
          </p:cNvPr>
          <p:cNvPicPr>
            <a:picLocks noChangeAspect="1"/>
          </p:cNvPicPr>
          <p:nvPr/>
        </p:nvPicPr>
        <p:blipFill>
          <a:blip r:embed="rId4"/>
          <a:stretch>
            <a:fillRect/>
          </a:stretch>
        </p:blipFill>
        <p:spPr>
          <a:xfrm>
            <a:off x="1261736" y="1814708"/>
            <a:ext cx="399268" cy="378913"/>
          </a:xfrm>
          <a:prstGeom prst="rect">
            <a:avLst/>
          </a:prstGeom>
        </p:spPr>
      </p:pic>
      <p:pic>
        <p:nvPicPr>
          <p:cNvPr id="12" name="Picture 11" descr="Adidas Logo: The History And Evolution Of The Iconic Three ...">
            <a:extLst>
              <a:ext uri="{FF2B5EF4-FFF2-40B4-BE49-F238E27FC236}">
                <a16:creationId xmlns:a16="http://schemas.microsoft.com/office/drawing/2014/main" id="{0370AB6C-5CCC-530A-E31A-93611CBBB3FA}"/>
              </a:ext>
            </a:extLst>
          </p:cNvPr>
          <p:cNvPicPr>
            <a:picLocks noChangeAspect="1"/>
          </p:cNvPicPr>
          <p:nvPr/>
        </p:nvPicPr>
        <p:blipFill>
          <a:blip r:embed="rId4"/>
          <a:stretch>
            <a:fillRect/>
          </a:stretch>
        </p:blipFill>
        <p:spPr>
          <a:xfrm>
            <a:off x="6910211" y="1776765"/>
            <a:ext cx="399268" cy="378913"/>
          </a:xfrm>
          <a:prstGeom prst="rect">
            <a:avLst/>
          </a:prstGeom>
        </p:spPr>
      </p:pic>
      <p:pic>
        <p:nvPicPr>
          <p:cNvPr id="14" name="Picture 13" descr="HandsFree Labs | LinkedIn">
            <a:extLst>
              <a:ext uri="{FF2B5EF4-FFF2-40B4-BE49-F238E27FC236}">
                <a16:creationId xmlns:a16="http://schemas.microsoft.com/office/drawing/2014/main" id="{2353ED8C-1C82-1ACC-D7D4-86015D6539FA}"/>
              </a:ext>
            </a:extLst>
          </p:cNvPr>
          <p:cNvPicPr>
            <a:picLocks noChangeAspect="1"/>
          </p:cNvPicPr>
          <p:nvPr/>
        </p:nvPicPr>
        <p:blipFill>
          <a:blip r:embed="rId5"/>
          <a:stretch>
            <a:fillRect/>
          </a:stretch>
        </p:blipFill>
        <p:spPr>
          <a:xfrm>
            <a:off x="2116377" y="1792527"/>
            <a:ext cx="401877" cy="350207"/>
          </a:xfrm>
          <a:prstGeom prst="rect">
            <a:avLst/>
          </a:prstGeom>
        </p:spPr>
      </p:pic>
      <p:pic>
        <p:nvPicPr>
          <p:cNvPr id="2" name="Picture 1" descr="Movmenta | LinkedIn">
            <a:extLst>
              <a:ext uri="{FF2B5EF4-FFF2-40B4-BE49-F238E27FC236}">
                <a16:creationId xmlns:a16="http://schemas.microsoft.com/office/drawing/2014/main" id="{C48B1738-EAEA-B8E2-0224-5A7A7B6B2FF7}"/>
              </a:ext>
            </a:extLst>
          </p:cNvPr>
          <p:cNvPicPr>
            <a:picLocks noChangeAspect="1"/>
          </p:cNvPicPr>
          <p:nvPr/>
        </p:nvPicPr>
        <p:blipFill>
          <a:blip r:embed="rId6"/>
          <a:stretch>
            <a:fillRect/>
          </a:stretch>
        </p:blipFill>
        <p:spPr>
          <a:xfrm>
            <a:off x="3159881" y="1774976"/>
            <a:ext cx="441477" cy="393096"/>
          </a:xfrm>
          <a:prstGeom prst="rect">
            <a:avLst/>
          </a:prstGeom>
        </p:spPr>
      </p:pic>
      <p:pic>
        <p:nvPicPr>
          <p:cNvPr id="15" name="Picture 14" descr="Google &quot;G&quot; logo.svg - Wikimedia Commons">
            <a:extLst>
              <a:ext uri="{FF2B5EF4-FFF2-40B4-BE49-F238E27FC236}">
                <a16:creationId xmlns:a16="http://schemas.microsoft.com/office/drawing/2014/main" id="{E258E7F3-921F-060D-E24E-582B5AD406F3}"/>
              </a:ext>
            </a:extLst>
          </p:cNvPr>
          <p:cNvPicPr>
            <a:picLocks noChangeAspect="1"/>
          </p:cNvPicPr>
          <p:nvPr/>
        </p:nvPicPr>
        <p:blipFill>
          <a:blip r:embed="rId7"/>
          <a:stretch>
            <a:fillRect/>
          </a:stretch>
        </p:blipFill>
        <p:spPr>
          <a:xfrm>
            <a:off x="4044723" y="1825248"/>
            <a:ext cx="377221" cy="389316"/>
          </a:xfrm>
          <a:prstGeom prst="rect">
            <a:avLst/>
          </a:prstGeom>
        </p:spPr>
      </p:pic>
      <p:pic>
        <p:nvPicPr>
          <p:cNvPr id="16" name="Picture 15" descr="WHOOP">
            <a:extLst>
              <a:ext uri="{FF2B5EF4-FFF2-40B4-BE49-F238E27FC236}">
                <a16:creationId xmlns:a16="http://schemas.microsoft.com/office/drawing/2014/main" id="{D380A8E5-A428-A6AE-FD06-87754FF49ACC}"/>
              </a:ext>
            </a:extLst>
          </p:cNvPr>
          <p:cNvPicPr>
            <a:picLocks noChangeAspect="1"/>
          </p:cNvPicPr>
          <p:nvPr/>
        </p:nvPicPr>
        <p:blipFill>
          <a:blip r:embed="rId8"/>
          <a:stretch>
            <a:fillRect/>
          </a:stretch>
        </p:blipFill>
        <p:spPr>
          <a:xfrm>
            <a:off x="4576914" y="1825247"/>
            <a:ext cx="413507" cy="401412"/>
          </a:xfrm>
          <a:prstGeom prst="rect">
            <a:avLst/>
          </a:prstGeom>
        </p:spPr>
      </p:pic>
      <p:pic>
        <p:nvPicPr>
          <p:cNvPr id="18" name="Picture 17" descr="Puma brand sale colors">
            <a:extLst>
              <a:ext uri="{FF2B5EF4-FFF2-40B4-BE49-F238E27FC236}">
                <a16:creationId xmlns:a16="http://schemas.microsoft.com/office/drawing/2014/main" id="{58D8CBB4-F5DB-8063-83C8-94575ADB6C53}"/>
              </a:ext>
            </a:extLst>
          </p:cNvPr>
          <p:cNvPicPr>
            <a:picLocks noChangeAspect="1"/>
          </p:cNvPicPr>
          <p:nvPr/>
        </p:nvPicPr>
        <p:blipFill>
          <a:blip r:embed="rId9"/>
          <a:stretch>
            <a:fillRect/>
          </a:stretch>
        </p:blipFill>
        <p:spPr>
          <a:xfrm>
            <a:off x="7493680" y="1804005"/>
            <a:ext cx="397783" cy="335039"/>
          </a:xfrm>
          <a:prstGeom prst="rect">
            <a:avLst/>
          </a:prstGeom>
        </p:spPr>
      </p:pic>
      <p:pic>
        <p:nvPicPr>
          <p:cNvPr id="25" name="Picture 24" descr="hoka one one&quot; Sticker for Sale by ...">
            <a:extLst>
              <a:ext uri="{FF2B5EF4-FFF2-40B4-BE49-F238E27FC236}">
                <a16:creationId xmlns:a16="http://schemas.microsoft.com/office/drawing/2014/main" id="{03D2DA50-8915-ED06-5F45-8FBF3D3E3319}"/>
              </a:ext>
            </a:extLst>
          </p:cNvPr>
          <p:cNvPicPr>
            <a:picLocks noChangeAspect="1"/>
          </p:cNvPicPr>
          <p:nvPr/>
        </p:nvPicPr>
        <p:blipFill>
          <a:blip r:embed="rId10"/>
          <a:stretch>
            <a:fillRect/>
          </a:stretch>
        </p:blipFill>
        <p:spPr>
          <a:xfrm>
            <a:off x="9294055" y="4667626"/>
            <a:ext cx="486079" cy="425603"/>
          </a:xfrm>
          <a:prstGeom prst="rect">
            <a:avLst/>
          </a:prstGeom>
        </p:spPr>
      </p:pic>
      <p:pic>
        <p:nvPicPr>
          <p:cNvPr id="26" name="Picture 25" descr="Allbirds (@Allbirds) / X">
            <a:extLst>
              <a:ext uri="{FF2B5EF4-FFF2-40B4-BE49-F238E27FC236}">
                <a16:creationId xmlns:a16="http://schemas.microsoft.com/office/drawing/2014/main" id="{70FC88E5-34F5-4DBE-EE5D-889BF86C8AC0}"/>
              </a:ext>
            </a:extLst>
          </p:cNvPr>
          <p:cNvPicPr>
            <a:picLocks noChangeAspect="1"/>
          </p:cNvPicPr>
          <p:nvPr/>
        </p:nvPicPr>
        <p:blipFill>
          <a:blip r:embed="rId11"/>
          <a:stretch>
            <a:fillRect/>
          </a:stretch>
        </p:blipFill>
        <p:spPr>
          <a:xfrm>
            <a:off x="8157104" y="1788962"/>
            <a:ext cx="413507" cy="401412"/>
          </a:xfrm>
          <a:prstGeom prst="rect">
            <a:avLst/>
          </a:prstGeom>
        </p:spPr>
      </p:pic>
      <p:pic>
        <p:nvPicPr>
          <p:cNvPr id="27" name="Picture 26" descr="Rothy's">
            <a:extLst>
              <a:ext uri="{FF2B5EF4-FFF2-40B4-BE49-F238E27FC236}">
                <a16:creationId xmlns:a16="http://schemas.microsoft.com/office/drawing/2014/main" id="{EBBB6340-6FD9-9A47-0676-3F257A8F849A}"/>
              </a:ext>
            </a:extLst>
          </p:cNvPr>
          <p:cNvPicPr>
            <a:picLocks noChangeAspect="1"/>
          </p:cNvPicPr>
          <p:nvPr/>
        </p:nvPicPr>
        <p:blipFill>
          <a:blip r:embed="rId12"/>
          <a:stretch>
            <a:fillRect/>
          </a:stretch>
        </p:blipFill>
        <p:spPr>
          <a:xfrm>
            <a:off x="9596438" y="1776867"/>
            <a:ext cx="365126" cy="389316"/>
          </a:xfrm>
          <a:prstGeom prst="rect">
            <a:avLst/>
          </a:prstGeom>
        </p:spPr>
      </p:pic>
      <p:pic>
        <p:nvPicPr>
          <p:cNvPr id="28" name="Picture 27" descr="Bolt Threads">
            <a:extLst>
              <a:ext uri="{FF2B5EF4-FFF2-40B4-BE49-F238E27FC236}">
                <a16:creationId xmlns:a16="http://schemas.microsoft.com/office/drawing/2014/main" id="{3BF5F03A-7E14-514F-CD7D-6C5DE86910CA}"/>
              </a:ext>
            </a:extLst>
          </p:cNvPr>
          <p:cNvPicPr>
            <a:picLocks noChangeAspect="1"/>
          </p:cNvPicPr>
          <p:nvPr/>
        </p:nvPicPr>
        <p:blipFill>
          <a:blip r:embed="rId13"/>
          <a:stretch>
            <a:fillRect/>
          </a:stretch>
        </p:blipFill>
        <p:spPr>
          <a:xfrm>
            <a:off x="11410723" y="1788962"/>
            <a:ext cx="498174" cy="389317"/>
          </a:xfrm>
          <a:prstGeom prst="rect">
            <a:avLst/>
          </a:prstGeom>
        </p:spPr>
      </p:pic>
      <p:pic>
        <p:nvPicPr>
          <p:cNvPr id="35" name="Picture 34" descr="Instagram logo 2022.svg - Wikimedia Commons">
            <a:extLst>
              <a:ext uri="{FF2B5EF4-FFF2-40B4-BE49-F238E27FC236}">
                <a16:creationId xmlns:a16="http://schemas.microsoft.com/office/drawing/2014/main" id="{38B49DB8-A183-962C-BE66-F8A120F6B46F}"/>
              </a:ext>
            </a:extLst>
          </p:cNvPr>
          <p:cNvPicPr>
            <a:picLocks noChangeAspect="1"/>
          </p:cNvPicPr>
          <p:nvPr/>
        </p:nvPicPr>
        <p:blipFill>
          <a:blip r:embed="rId14"/>
          <a:stretch>
            <a:fillRect/>
          </a:stretch>
        </p:blipFill>
        <p:spPr>
          <a:xfrm>
            <a:off x="4443866" y="4679724"/>
            <a:ext cx="413507" cy="425602"/>
          </a:xfrm>
          <a:prstGeom prst="rect">
            <a:avLst/>
          </a:prstGeom>
        </p:spPr>
      </p:pic>
      <p:pic>
        <p:nvPicPr>
          <p:cNvPr id="36" name="Picture 35" descr="File:PayPal Logo Icon 2014.svg ...">
            <a:extLst>
              <a:ext uri="{FF2B5EF4-FFF2-40B4-BE49-F238E27FC236}">
                <a16:creationId xmlns:a16="http://schemas.microsoft.com/office/drawing/2014/main" id="{9AD90F6F-8278-C8FA-80E6-119CA624CE77}"/>
              </a:ext>
            </a:extLst>
          </p:cNvPr>
          <p:cNvPicPr>
            <a:picLocks noChangeAspect="1"/>
          </p:cNvPicPr>
          <p:nvPr/>
        </p:nvPicPr>
        <p:blipFill>
          <a:blip r:embed="rId15"/>
          <a:stretch>
            <a:fillRect/>
          </a:stretch>
        </p:blipFill>
        <p:spPr>
          <a:xfrm>
            <a:off x="5182356" y="4722662"/>
            <a:ext cx="400050" cy="376011"/>
          </a:xfrm>
          <a:prstGeom prst="rect">
            <a:avLst/>
          </a:prstGeom>
        </p:spPr>
      </p:pic>
      <p:pic>
        <p:nvPicPr>
          <p:cNvPr id="37" name="Picture 36" descr="Balena&quot; Icon - Download for free – Iconduck">
            <a:extLst>
              <a:ext uri="{FF2B5EF4-FFF2-40B4-BE49-F238E27FC236}">
                <a16:creationId xmlns:a16="http://schemas.microsoft.com/office/drawing/2014/main" id="{9B7D5C48-0677-914B-96D7-648CA8AAD287}"/>
              </a:ext>
            </a:extLst>
          </p:cNvPr>
          <p:cNvPicPr>
            <a:picLocks noChangeAspect="1"/>
          </p:cNvPicPr>
          <p:nvPr/>
        </p:nvPicPr>
        <p:blipFill>
          <a:blip r:embed="rId16"/>
          <a:stretch>
            <a:fillRect/>
          </a:stretch>
        </p:blipFill>
        <p:spPr>
          <a:xfrm>
            <a:off x="8354635" y="4663622"/>
            <a:ext cx="478064" cy="469901"/>
          </a:xfrm>
          <a:prstGeom prst="rect">
            <a:avLst/>
          </a:prstGeom>
        </p:spPr>
      </p:pic>
      <p:pic>
        <p:nvPicPr>
          <p:cNvPr id="38" name="Picture 37" descr="Trademarks held by DHL | Trademark Hall ...">
            <a:extLst>
              <a:ext uri="{FF2B5EF4-FFF2-40B4-BE49-F238E27FC236}">
                <a16:creationId xmlns:a16="http://schemas.microsoft.com/office/drawing/2014/main" id="{5FDD3DD2-149B-B548-4129-357858F0171A}"/>
              </a:ext>
            </a:extLst>
          </p:cNvPr>
          <p:cNvPicPr>
            <a:picLocks noChangeAspect="1"/>
          </p:cNvPicPr>
          <p:nvPr/>
        </p:nvPicPr>
        <p:blipFill>
          <a:blip r:embed="rId17"/>
          <a:stretch>
            <a:fillRect/>
          </a:stretch>
        </p:blipFill>
        <p:spPr>
          <a:xfrm>
            <a:off x="10310057" y="4636105"/>
            <a:ext cx="534459" cy="512839"/>
          </a:xfrm>
          <a:prstGeom prst="rect">
            <a:avLst/>
          </a:prstGeom>
        </p:spPr>
      </p:pic>
      <p:pic>
        <p:nvPicPr>
          <p:cNvPr id="39" name="Picture 38" descr="FedEx Logo: Design, History, And ...">
            <a:extLst>
              <a:ext uri="{FF2B5EF4-FFF2-40B4-BE49-F238E27FC236}">
                <a16:creationId xmlns:a16="http://schemas.microsoft.com/office/drawing/2014/main" id="{9809842B-7DFC-C724-5A70-46607CBFD216}"/>
              </a:ext>
            </a:extLst>
          </p:cNvPr>
          <p:cNvPicPr>
            <a:picLocks noChangeAspect="1"/>
          </p:cNvPicPr>
          <p:nvPr/>
        </p:nvPicPr>
        <p:blipFill>
          <a:blip r:embed="rId18"/>
          <a:stretch>
            <a:fillRect/>
          </a:stretch>
        </p:blipFill>
        <p:spPr>
          <a:xfrm>
            <a:off x="11180914" y="4679724"/>
            <a:ext cx="522364" cy="473983"/>
          </a:xfrm>
          <a:prstGeom prst="rect">
            <a:avLst/>
          </a:prstGeom>
        </p:spPr>
      </p:pic>
      <p:pic>
        <p:nvPicPr>
          <p:cNvPr id="30" name="Picture 29" descr="hoka one one&quot; Sticker for Sale by ...">
            <a:extLst>
              <a:ext uri="{FF2B5EF4-FFF2-40B4-BE49-F238E27FC236}">
                <a16:creationId xmlns:a16="http://schemas.microsoft.com/office/drawing/2014/main" id="{FB200330-E328-0841-712B-6493EEE6E216}"/>
              </a:ext>
            </a:extLst>
          </p:cNvPr>
          <p:cNvPicPr>
            <a:picLocks noChangeAspect="1"/>
          </p:cNvPicPr>
          <p:nvPr/>
        </p:nvPicPr>
        <p:blipFill>
          <a:blip r:embed="rId19"/>
          <a:stretch>
            <a:fillRect/>
          </a:stretch>
        </p:blipFill>
        <p:spPr>
          <a:xfrm>
            <a:off x="243492" y="4605639"/>
            <a:ext cx="504825" cy="428625"/>
          </a:xfrm>
          <a:prstGeom prst="rect">
            <a:avLst/>
          </a:prstGeom>
        </p:spPr>
      </p:pic>
      <p:pic>
        <p:nvPicPr>
          <p:cNvPr id="40" name="Picture 39" descr="hoka one one&quot; Sticker for Sale by ...">
            <a:extLst>
              <a:ext uri="{FF2B5EF4-FFF2-40B4-BE49-F238E27FC236}">
                <a16:creationId xmlns:a16="http://schemas.microsoft.com/office/drawing/2014/main" id="{273128BB-F7C0-038D-921A-8E658CB95C44}"/>
              </a:ext>
            </a:extLst>
          </p:cNvPr>
          <p:cNvPicPr>
            <a:picLocks noChangeAspect="1"/>
          </p:cNvPicPr>
          <p:nvPr/>
        </p:nvPicPr>
        <p:blipFill>
          <a:blip r:embed="rId19"/>
          <a:stretch>
            <a:fillRect/>
          </a:stretch>
        </p:blipFill>
        <p:spPr>
          <a:xfrm>
            <a:off x="8855301" y="1787449"/>
            <a:ext cx="504825" cy="428625"/>
          </a:xfrm>
          <a:prstGeom prst="rect">
            <a:avLst/>
          </a:prstGeom>
        </p:spPr>
      </p:pic>
      <p:pic>
        <p:nvPicPr>
          <p:cNvPr id="42" name="Picture 41" descr="running logo black bkgd - Hawley Lane Shoes">
            <a:extLst>
              <a:ext uri="{FF2B5EF4-FFF2-40B4-BE49-F238E27FC236}">
                <a16:creationId xmlns:a16="http://schemas.microsoft.com/office/drawing/2014/main" id="{5E1D9884-4408-E588-D43E-5482DCF402D6}"/>
              </a:ext>
            </a:extLst>
          </p:cNvPr>
          <p:cNvPicPr>
            <a:picLocks noChangeAspect="1"/>
          </p:cNvPicPr>
          <p:nvPr/>
        </p:nvPicPr>
        <p:blipFill>
          <a:blip r:embed="rId20"/>
          <a:stretch>
            <a:fillRect/>
          </a:stretch>
        </p:blipFill>
        <p:spPr>
          <a:xfrm>
            <a:off x="1202343" y="4667629"/>
            <a:ext cx="449792" cy="353029"/>
          </a:xfrm>
          <a:prstGeom prst="rect">
            <a:avLst/>
          </a:prstGeom>
        </p:spPr>
      </p:pic>
      <p:pic>
        <p:nvPicPr>
          <p:cNvPr id="44" name="Picture 43" descr="Foot Locker: sales down by 5.7% in 2020">
            <a:extLst>
              <a:ext uri="{FF2B5EF4-FFF2-40B4-BE49-F238E27FC236}">
                <a16:creationId xmlns:a16="http://schemas.microsoft.com/office/drawing/2014/main" id="{0879BB27-A7AE-A793-96EC-0B5416814C91}"/>
              </a:ext>
            </a:extLst>
          </p:cNvPr>
          <p:cNvPicPr>
            <a:picLocks noChangeAspect="1"/>
          </p:cNvPicPr>
          <p:nvPr/>
        </p:nvPicPr>
        <p:blipFill>
          <a:blip r:embed="rId21"/>
          <a:stretch>
            <a:fillRect/>
          </a:stretch>
        </p:blipFill>
        <p:spPr>
          <a:xfrm>
            <a:off x="10854342" y="1788962"/>
            <a:ext cx="328841" cy="425602"/>
          </a:xfrm>
          <a:prstGeom prst="rect">
            <a:avLst/>
          </a:prstGeom>
        </p:spPr>
      </p:pic>
      <p:pic>
        <p:nvPicPr>
          <p:cNvPr id="45" name="Picture 44" descr="Foot Locker: sales down by 5.7% in 2020">
            <a:extLst>
              <a:ext uri="{FF2B5EF4-FFF2-40B4-BE49-F238E27FC236}">
                <a16:creationId xmlns:a16="http://schemas.microsoft.com/office/drawing/2014/main" id="{AE4B299D-F01E-F4AD-4A47-ACC810D8412D}"/>
              </a:ext>
            </a:extLst>
          </p:cNvPr>
          <p:cNvPicPr>
            <a:picLocks noChangeAspect="1"/>
          </p:cNvPicPr>
          <p:nvPr/>
        </p:nvPicPr>
        <p:blipFill>
          <a:blip r:embed="rId21"/>
          <a:stretch>
            <a:fillRect/>
          </a:stretch>
        </p:blipFill>
        <p:spPr>
          <a:xfrm>
            <a:off x="3899580" y="4679723"/>
            <a:ext cx="328841" cy="425602"/>
          </a:xfrm>
          <a:prstGeom prst="rect">
            <a:avLst/>
          </a:prstGeom>
        </p:spPr>
      </p:pic>
      <p:pic>
        <p:nvPicPr>
          <p:cNvPr id="46" name="Picture 45" descr="running logo black bkgd - Hawley Lane Shoes">
            <a:extLst>
              <a:ext uri="{FF2B5EF4-FFF2-40B4-BE49-F238E27FC236}">
                <a16:creationId xmlns:a16="http://schemas.microsoft.com/office/drawing/2014/main" id="{791AAA4C-CBBE-25A8-6C6D-DABF98769A25}"/>
              </a:ext>
            </a:extLst>
          </p:cNvPr>
          <p:cNvPicPr>
            <a:picLocks noChangeAspect="1"/>
          </p:cNvPicPr>
          <p:nvPr/>
        </p:nvPicPr>
        <p:blipFill>
          <a:blip r:embed="rId20"/>
          <a:stretch>
            <a:fillRect/>
          </a:stretch>
        </p:blipFill>
        <p:spPr>
          <a:xfrm>
            <a:off x="742723" y="1825247"/>
            <a:ext cx="449792" cy="353029"/>
          </a:xfrm>
          <a:prstGeom prst="rect">
            <a:avLst/>
          </a:prstGeom>
        </p:spPr>
      </p:pic>
      <p:pic>
        <p:nvPicPr>
          <p:cNvPr id="47" name="Picture 46" descr="Patagonia logo =) : r/vectorart">
            <a:extLst>
              <a:ext uri="{FF2B5EF4-FFF2-40B4-BE49-F238E27FC236}">
                <a16:creationId xmlns:a16="http://schemas.microsoft.com/office/drawing/2014/main" id="{E7A1588F-AA93-D313-748C-74540A5245C5}"/>
              </a:ext>
            </a:extLst>
          </p:cNvPr>
          <p:cNvPicPr>
            <a:picLocks noChangeAspect="1"/>
          </p:cNvPicPr>
          <p:nvPr/>
        </p:nvPicPr>
        <p:blipFill>
          <a:blip r:embed="rId22"/>
          <a:stretch>
            <a:fillRect/>
          </a:stretch>
        </p:blipFill>
        <p:spPr>
          <a:xfrm>
            <a:off x="2617486" y="1788962"/>
            <a:ext cx="498174" cy="425602"/>
          </a:xfrm>
          <a:prstGeom prst="rect">
            <a:avLst/>
          </a:prstGeom>
        </p:spPr>
      </p:pic>
      <p:pic>
        <p:nvPicPr>
          <p:cNvPr id="48" name="Picture 47" descr="Macy's">
            <a:extLst>
              <a:ext uri="{FF2B5EF4-FFF2-40B4-BE49-F238E27FC236}">
                <a16:creationId xmlns:a16="http://schemas.microsoft.com/office/drawing/2014/main" id="{C7745E1E-C1DB-B387-C647-24DC55D85D58}"/>
              </a:ext>
            </a:extLst>
          </p:cNvPr>
          <p:cNvPicPr>
            <a:picLocks noChangeAspect="1"/>
          </p:cNvPicPr>
          <p:nvPr/>
        </p:nvPicPr>
        <p:blipFill>
          <a:blip r:embed="rId23"/>
          <a:stretch>
            <a:fillRect/>
          </a:stretch>
        </p:blipFill>
        <p:spPr>
          <a:xfrm>
            <a:off x="5154084" y="1858131"/>
            <a:ext cx="432404" cy="359834"/>
          </a:xfrm>
          <a:prstGeom prst="rect">
            <a:avLst/>
          </a:prstGeom>
        </p:spPr>
      </p:pic>
    </p:spTree>
    <p:extLst>
      <p:ext uri="{BB962C8B-B14F-4D97-AF65-F5344CB8AC3E}">
        <p14:creationId xmlns:p14="http://schemas.microsoft.com/office/powerpoint/2010/main" val="314423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AE28D15F-25F0-7724-8DA9-32E30A981DDA}"/>
            </a:ext>
          </a:extLst>
        </p:cNvPr>
        <p:cNvGrpSpPr/>
        <p:nvPr/>
      </p:nvGrpSpPr>
      <p:grpSpPr>
        <a:xfrm>
          <a:off x="0" y="0"/>
          <a:ext cx="0" cy="0"/>
          <a:chOff x="0" y="0"/>
          <a:chExt cx="0" cy="0"/>
        </a:xfrm>
      </p:grpSpPr>
      <p:pic>
        <p:nvPicPr>
          <p:cNvPr id="10" name="Graphic 9" descr="Saw blade with solid fill">
            <a:extLst>
              <a:ext uri="{FF2B5EF4-FFF2-40B4-BE49-F238E27FC236}">
                <a16:creationId xmlns:a16="http://schemas.microsoft.com/office/drawing/2014/main" id="{BB794841-1A1D-22EE-A4A1-0C8103AAB1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290" y="2781862"/>
            <a:ext cx="914400" cy="914400"/>
          </a:xfrm>
          <a:prstGeom prst="rect">
            <a:avLst/>
          </a:prstGeom>
        </p:spPr>
      </p:pic>
      <p:pic>
        <p:nvPicPr>
          <p:cNvPr id="11" name="Graphic 10" descr="Saw blade with solid fill">
            <a:extLst>
              <a:ext uri="{FF2B5EF4-FFF2-40B4-BE49-F238E27FC236}">
                <a16:creationId xmlns:a16="http://schemas.microsoft.com/office/drawing/2014/main" id="{7A05371D-3753-26FF-453E-472F8825D1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168" y="3346557"/>
            <a:ext cx="914400" cy="914400"/>
          </a:xfrm>
          <a:prstGeom prst="rect">
            <a:avLst/>
          </a:prstGeom>
        </p:spPr>
      </p:pic>
      <p:pic>
        <p:nvPicPr>
          <p:cNvPr id="12" name="Graphic 11" descr="Line arrow: Clockwise curve with solid fill">
            <a:extLst>
              <a:ext uri="{FF2B5EF4-FFF2-40B4-BE49-F238E27FC236}">
                <a16:creationId xmlns:a16="http://schemas.microsoft.com/office/drawing/2014/main" id="{0E51360F-AFC2-C789-AFF8-B263DCFA7A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6961180">
            <a:off x="479339" y="2200186"/>
            <a:ext cx="1280160" cy="1280160"/>
          </a:xfrm>
          <a:prstGeom prst="rect">
            <a:avLst/>
          </a:prstGeom>
        </p:spPr>
      </p:pic>
      <p:pic>
        <p:nvPicPr>
          <p:cNvPr id="14" name="Graphic 13" descr="Line arrow: Counter-clockwise curve with solid fill">
            <a:extLst>
              <a:ext uri="{FF2B5EF4-FFF2-40B4-BE49-F238E27FC236}">
                <a16:creationId xmlns:a16="http://schemas.microsoft.com/office/drawing/2014/main" id="{45841897-2B85-57C9-EE61-A1B3121523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977325">
            <a:off x="1059812" y="3495792"/>
            <a:ext cx="1276549" cy="1276549"/>
          </a:xfrm>
          <a:prstGeom prst="rect">
            <a:avLst/>
          </a:prstGeom>
        </p:spPr>
      </p:pic>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45FD9DB2-2E90-E87E-84F5-BC895332C530}"/>
                  </a:ext>
                </a:extLst>
              </p14:cNvPr>
              <p14:cNvContentPartPr/>
              <p14:nvPr/>
            </p14:nvContentPartPr>
            <p14:xfrm>
              <a:off x="4168730" y="2949732"/>
              <a:ext cx="360" cy="360"/>
            </p14:xfrm>
          </p:contentPart>
        </mc:Choice>
        <mc:Fallback xmlns="">
          <p:pic>
            <p:nvPicPr>
              <p:cNvPr id="16" name="Ink 15">
                <a:extLst>
                  <a:ext uri="{FF2B5EF4-FFF2-40B4-BE49-F238E27FC236}">
                    <a16:creationId xmlns:a16="http://schemas.microsoft.com/office/drawing/2014/main" id="{45FD9DB2-2E90-E87E-84F5-BC895332C530}"/>
                  </a:ext>
                </a:extLst>
              </p:cNvPr>
              <p:cNvPicPr/>
              <p:nvPr/>
            </p:nvPicPr>
            <p:blipFill>
              <a:blip r:embed="rId9"/>
              <a:stretch>
                <a:fillRect/>
              </a:stretch>
            </p:blipFill>
            <p:spPr>
              <a:xfrm>
                <a:off x="4162610" y="2943612"/>
                <a:ext cx="12600" cy="12600"/>
              </a:xfrm>
              <a:prstGeom prst="rect">
                <a:avLst/>
              </a:prstGeom>
            </p:spPr>
          </p:pic>
        </mc:Fallback>
      </mc:AlternateContent>
      <p:sp>
        <p:nvSpPr>
          <p:cNvPr id="18" name="Rectangle: Rounded Corners 17">
            <a:extLst>
              <a:ext uri="{FF2B5EF4-FFF2-40B4-BE49-F238E27FC236}">
                <a16:creationId xmlns:a16="http://schemas.microsoft.com/office/drawing/2014/main" id="{F197CFDA-DF5E-5921-0705-E83F577FE521}"/>
              </a:ext>
            </a:extLst>
          </p:cNvPr>
          <p:cNvSpPr/>
          <p:nvPr/>
        </p:nvSpPr>
        <p:spPr>
          <a:xfrm>
            <a:off x="2996110" y="953729"/>
            <a:ext cx="2790821" cy="564628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19" name="Rectangle: Rounded Corners 18">
            <a:extLst>
              <a:ext uri="{FF2B5EF4-FFF2-40B4-BE49-F238E27FC236}">
                <a16:creationId xmlns:a16="http://schemas.microsoft.com/office/drawing/2014/main" id="{DF613FCF-8B75-2422-24E4-05ACC838B209}"/>
              </a:ext>
            </a:extLst>
          </p:cNvPr>
          <p:cNvSpPr/>
          <p:nvPr/>
        </p:nvSpPr>
        <p:spPr>
          <a:xfrm>
            <a:off x="5862744" y="953729"/>
            <a:ext cx="2790821" cy="564628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25" name="TextBox 24">
            <a:extLst>
              <a:ext uri="{FF2B5EF4-FFF2-40B4-BE49-F238E27FC236}">
                <a16:creationId xmlns:a16="http://schemas.microsoft.com/office/drawing/2014/main" id="{41DCA9D6-E26C-D012-B838-956DD44EEF73}"/>
              </a:ext>
            </a:extLst>
          </p:cNvPr>
          <p:cNvSpPr txBox="1"/>
          <p:nvPr/>
        </p:nvSpPr>
        <p:spPr>
          <a:xfrm>
            <a:off x="5953304" y="1425164"/>
            <a:ext cx="2713032" cy="48167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dirty="0">
                <a:solidFill>
                  <a:srgbClr val="FFFFFF"/>
                </a:solidFill>
                <a:ea typeface="+mn-lt"/>
                <a:cs typeface="+mn-lt"/>
              </a:rPr>
              <a:t>Indistinguishable Counterfeiting: </a:t>
            </a:r>
            <a:r>
              <a:rPr lang="en-US" sz="1200" dirty="0">
                <a:solidFill>
                  <a:srgbClr val="FFFFFF"/>
                </a:solidFill>
                <a:ea typeface="+mn-lt"/>
                <a:cs typeface="+mn-lt"/>
              </a:rPr>
              <a:t>Proliferation of advanced counterfeit manufacturing operations.</a:t>
            </a:r>
            <a:endParaRPr lang="en-US">
              <a:solidFill>
                <a:srgbClr val="FFFFFF"/>
              </a:solidFill>
              <a:ea typeface="Calibri"/>
              <a:cs typeface="Calibri"/>
            </a:endParaRPr>
          </a:p>
          <a:p>
            <a:pPr>
              <a:defRPr/>
            </a:pPr>
            <a:endParaRPr lang="en-US" sz="1200" dirty="0">
              <a:solidFill>
                <a:srgbClr val="FFFFFF"/>
              </a:solidFill>
              <a:ea typeface="+mn-lt"/>
              <a:cs typeface="+mn-lt"/>
            </a:endParaRPr>
          </a:p>
          <a:p>
            <a:pPr>
              <a:defRPr/>
            </a:pPr>
            <a:r>
              <a:rPr lang="en-US" sz="1200" b="1" dirty="0">
                <a:solidFill>
                  <a:srgbClr val="FFFFFF"/>
                </a:solidFill>
                <a:ea typeface="+mn-lt"/>
                <a:cs typeface="+mn-lt"/>
              </a:rPr>
              <a:t>Upstart threats and Fickle Loyalty: </a:t>
            </a:r>
            <a:r>
              <a:rPr lang="en-US" sz="1200" dirty="0">
                <a:solidFill>
                  <a:srgbClr val="FFFFFF"/>
                </a:solidFill>
                <a:ea typeface="+mn-lt"/>
                <a:cs typeface="+mn-lt"/>
              </a:rPr>
              <a:t>Nike’s stagnation in innovation, enabled new entrants like Hoka and On to gain a large market share through disruptive innovation and cheaper footwear, indicating fickle loyalty and changing consumer preferences</a:t>
            </a:r>
            <a:endParaRPr lang="en-US" dirty="0">
              <a:solidFill>
                <a:srgbClr val="FFFFFF"/>
              </a:solidFill>
              <a:ea typeface="+mn-lt"/>
              <a:cs typeface="+mn-lt"/>
            </a:endParaRPr>
          </a:p>
          <a:p>
            <a:pPr>
              <a:defRPr/>
            </a:pPr>
            <a:r>
              <a:rPr lang="en-US" sz="1200" dirty="0">
                <a:solidFill>
                  <a:srgbClr val="FFFFFF"/>
                </a:solidFill>
                <a:ea typeface="+mn-lt"/>
                <a:cs typeface="+mn-lt"/>
              </a:rPr>
              <a:t>.</a:t>
            </a:r>
            <a:endParaRPr lang="en-US" dirty="0">
              <a:solidFill>
                <a:srgbClr val="FFFFFF"/>
              </a:solidFill>
              <a:ea typeface="+mn-lt"/>
              <a:cs typeface="+mn-lt"/>
            </a:endParaRPr>
          </a:p>
          <a:p>
            <a:pPr>
              <a:defRPr/>
            </a:pPr>
            <a:r>
              <a:rPr lang="en-US" sz="1200" b="1" dirty="0">
                <a:solidFill>
                  <a:srgbClr val="FFFFFF"/>
                </a:solidFill>
                <a:ea typeface="+mn-lt"/>
                <a:cs typeface="+mn-lt"/>
              </a:rPr>
              <a:t>Reduced hype: </a:t>
            </a:r>
            <a:r>
              <a:rPr lang="en-US" sz="1100" dirty="0">
                <a:solidFill>
                  <a:srgbClr val="FFFFFF"/>
                </a:solidFill>
                <a:ea typeface="+mn-lt"/>
                <a:cs typeface="+mn-lt"/>
              </a:rPr>
              <a:t>Significant deterioration in the perceived exclusivity of premium sneaker lines and consequently the brand image. Consumers’ reluctance to spend lavishly in the resale market dramatically reduces the demand and its exclusivity.</a:t>
            </a:r>
            <a:endParaRPr lang="en-US" sz="1100" dirty="0">
              <a:solidFill>
                <a:srgbClr val="FFFFFF"/>
              </a:solidFill>
              <a:ea typeface="Calibri"/>
              <a:cs typeface="Calibri"/>
            </a:endParaRPr>
          </a:p>
          <a:p>
            <a:pPr>
              <a:defRPr/>
            </a:pPr>
            <a:endParaRPr lang="en-US" sz="1200" b="1" dirty="0">
              <a:solidFill>
                <a:srgbClr val="FFFFFF"/>
              </a:solidFill>
              <a:ea typeface="+mn-lt"/>
              <a:cs typeface="+mn-lt"/>
            </a:endParaRPr>
          </a:p>
          <a:p>
            <a:pPr>
              <a:defRPr/>
            </a:pPr>
            <a:r>
              <a:rPr lang="en-US" sz="1200" b="1" dirty="0">
                <a:solidFill>
                  <a:srgbClr val="FFFFFF"/>
                </a:solidFill>
                <a:ea typeface="+mn-lt"/>
                <a:cs typeface="+mn-lt"/>
              </a:rPr>
              <a:t>Price conscious Consumers: </a:t>
            </a:r>
            <a:r>
              <a:rPr lang="en-US" sz="1200" dirty="0">
                <a:solidFill>
                  <a:srgbClr val="FFFFFF"/>
                </a:solidFill>
                <a:ea typeface="+mn-lt"/>
                <a:cs typeface="+mn-lt"/>
              </a:rPr>
              <a:t>Inflation driving away price conscious consumers and seek discounted footwear from wholesalers, where Nike does not predominantly exist. Consumers even seek counterfeit footwears.</a:t>
            </a:r>
            <a:endParaRPr lang="en-US" dirty="0">
              <a:solidFill>
                <a:srgbClr val="FFFFFF"/>
              </a:solidFill>
              <a:ea typeface="+mn-lt"/>
              <a:cs typeface="+mn-lt"/>
            </a:endParaRPr>
          </a:p>
          <a:p>
            <a:pPr>
              <a:defRPr/>
            </a:pPr>
            <a:endParaRPr lang="en-US" sz="12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8" name="Rectangle: Rounded Corners 27">
            <a:extLst>
              <a:ext uri="{FF2B5EF4-FFF2-40B4-BE49-F238E27FC236}">
                <a16:creationId xmlns:a16="http://schemas.microsoft.com/office/drawing/2014/main" id="{316C3328-7E2B-A11F-D23B-39B7340763EE}"/>
              </a:ext>
            </a:extLst>
          </p:cNvPr>
          <p:cNvSpPr/>
          <p:nvPr/>
        </p:nvSpPr>
        <p:spPr>
          <a:xfrm>
            <a:off x="8917055" y="922837"/>
            <a:ext cx="2790821" cy="5646282"/>
          </a:xfrm>
          <a:prstGeom prst="roundRect">
            <a:avLst/>
          </a:prstGeom>
          <a:no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34" name="TextBox 33">
            <a:extLst>
              <a:ext uri="{FF2B5EF4-FFF2-40B4-BE49-F238E27FC236}">
                <a16:creationId xmlns:a16="http://schemas.microsoft.com/office/drawing/2014/main" id="{2721813C-1A63-10CF-5F8F-1DFECE63BF72}"/>
              </a:ext>
            </a:extLst>
          </p:cNvPr>
          <p:cNvSpPr txBox="1"/>
          <p:nvPr/>
        </p:nvSpPr>
        <p:spPr>
          <a:xfrm>
            <a:off x="8918007" y="1444088"/>
            <a:ext cx="2784923"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FFFFFF"/>
                </a:solidFill>
                <a:ea typeface="+mn-lt"/>
                <a:cs typeface="+mn-lt"/>
              </a:rPr>
              <a:t>Focus on developing inimitable authentication innovations that counterfeiters cannot replicate. Integrate those technologies into mass production while concurrently reducing costs.</a:t>
            </a:r>
            <a:endParaRPr lang="en-US">
              <a:solidFill>
                <a:srgbClr val="FFFFFF"/>
              </a:solidFill>
              <a:ea typeface="Calibri"/>
              <a:cs typeface="Calibri"/>
            </a:endParaRPr>
          </a:p>
          <a:p>
            <a:endParaRPr lang="en-US" sz="1200" dirty="0">
              <a:solidFill>
                <a:srgbClr val="FFFFFF"/>
              </a:solidFill>
              <a:ea typeface="+mn-lt"/>
              <a:cs typeface="+mn-lt"/>
            </a:endParaRPr>
          </a:p>
          <a:p>
            <a:r>
              <a:rPr lang="en-US" sz="1200" dirty="0">
                <a:solidFill>
                  <a:srgbClr val="FFFFFF"/>
                </a:solidFill>
                <a:ea typeface="+mn-lt"/>
                <a:cs typeface="+mn-lt"/>
              </a:rPr>
              <a:t>Quality focused innovation and establish a hybrid model of maintaining D2C channels and collaboration with </a:t>
            </a:r>
            <a:r>
              <a:rPr lang="en-US" sz="1200">
                <a:solidFill>
                  <a:srgbClr val="FFFFFF"/>
                </a:solidFill>
                <a:ea typeface="+mn-lt"/>
                <a:cs typeface="+mn-lt"/>
              </a:rPr>
              <a:t>wholesalers. Eventually, radically innovate its </a:t>
            </a:r>
            <a:r>
              <a:rPr lang="en-US" sz="1200" dirty="0">
                <a:solidFill>
                  <a:srgbClr val="FFFFFF"/>
                </a:solidFill>
                <a:ea typeface="+mn-lt"/>
                <a:cs typeface="+mn-lt"/>
              </a:rPr>
              <a:t>D2C channels.</a:t>
            </a:r>
            <a:endParaRPr lang="en-US" dirty="0">
              <a:solidFill>
                <a:srgbClr val="FFFFFF"/>
              </a:solidFill>
              <a:ea typeface="+mn-lt"/>
              <a:cs typeface="+mn-lt"/>
            </a:endParaRPr>
          </a:p>
          <a:p>
            <a:endParaRPr lang="en-US" sz="1200" dirty="0">
              <a:solidFill>
                <a:srgbClr val="FFFFFF"/>
              </a:solidFill>
              <a:ea typeface="Calibri"/>
              <a:cs typeface="Calibri"/>
            </a:endParaRPr>
          </a:p>
          <a:p>
            <a:r>
              <a:rPr lang="en-US" sz="1200" dirty="0">
                <a:solidFill>
                  <a:srgbClr val="FFFFFF"/>
                </a:solidFill>
                <a:ea typeface="+mn-lt"/>
                <a:cs typeface="+mn-lt"/>
              </a:rPr>
              <a:t>Invest heavily in integrating 3D printing technology for on-demand personalized production, minimizing inventory needs, reduces waste, and allows for localized </a:t>
            </a:r>
            <a:r>
              <a:rPr lang="en-US" sz="1200">
                <a:solidFill>
                  <a:srgbClr val="FFFFFF"/>
                </a:solidFill>
                <a:ea typeface="+mn-lt"/>
                <a:cs typeface="+mn-lt"/>
              </a:rPr>
              <a:t>production, enhancing the </a:t>
            </a:r>
            <a:r>
              <a:rPr lang="en-US" sz="1200" dirty="0">
                <a:solidFill>
                  <a:srgbClr val="FFFFFF"/>
                </a:solidFill>
                <a:ea typeface="+mn-lt"/>
                <a:cs typeface="+mn-lt"/>
              </a:rPr>
              <a:t>customer experience through customization.</a:t>
            </a:r>
            <a:endParaRPr lang="en-US">
              <a:solidFill>
                <a:srgbClr val="FFFFFF"/>
              </a:solidFill>
              <a:ea typeface="+mn-lt"/>
              <a:cs typeface="+mn-lt"/>
            </a:endParaRPr>
          </a:p>
          <a:p>
            <a:endParaRPr lang="en-US" sz="1200" dirty="0">
              <a:solidFill>
                <a:srgbClr val="FFFFFF"/>
              </a:solidFill>
              <a:ea typeface="+mn-lt"/>
              <a:cs typeface="+mn-lt"/>
            </a:endParaRPr>
          </a:p>
          <a:p>
            <a:r>
              <a:rPr lang="en-US" sz="1200" dirty="0">
                <a:solidFill>
                  <a:srgbClr val="FFFFFF"/>
                </a:solidFill>
                <a:ea typeface="+mn-lt"/>
                <a:cs typeface="+mn-lt"/>
              </a:rPr>
              <a:t>Strengthen sustainability initiatives by increasing the use of eco-friendly materials and promoting transparency in </a:t>
            </a:r>
            <a:r>
              <a:rPr lang="en-US" sz="1200">
                <a:solidFill>
                  <a:srgbClr val="FFFFFF"/>
                </a:solidFill>
                <a:ea typeface="+mn-lt"/>
                <a:cs typeface="+mn-lt"/>
              </a:rPr>
              <a:t>production methods. Nike </a:t>
            </a:r>
            <a:r>
              <a:rPr lang="en-US" sz="1200" dirty="0">
                <a:solidFill>
                  <a:srgbClr val="FFFFFF"/>
                </a:solidFill>
                <a:ea typeface="+mn-lt"/>
                <a:cs typeface="+mn-lt"/>
              </a:rPr>
              <a:t>build loyalty among eco-conscious consumers while addressing competition in sustainable design technologies.</a:t>
            </a:r>
            <a:endParaRPr lang="en-US">
              <a:solidFill>
                <a:srgbClr val="FFFFFF"/>
              </a:solidFill>
              <a:ea typeface="+mn-lt"/>
              <a:cs typeface="+mn-lt"/>
            </a:endParaRPr>
          </a:p>
          <a:p>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B04778CE-AD4F-EC41-0F9E-AA669BED883A}"/>
              </a:ext>
            </a:extLst>
          </p:cNvPr>
          <p:cNvSpPr txBox="1"/>
          <p:nvPr/>
        </p:nvSpPr>
        <p:spPr>
          <a:xfrm>
            <a:off x="53602" y="1501234"/>
            <a:ext cx="2853046" cy="1200329"/>
          </a:xfrm>
          <a:prstGeom prst="rect">
            <a:avLst/>
          </a:prstGeom>
          <a:noFill/>
        </p:spPr>
        <p:txBody>
          <a:bodyPr wrap="square" lIns="91440" tIns="45720" rIns="91440" bIns="45720" rtlCol="0" anchor="t">
            <a:spAutoFit/>
          </a:bodyPr>
          <a:lstStyle/>
          <a:p>
            <a:pPr algn="ctr">
              <a:defRPr/>
            </a:pPr>
            <a:r>
              <a:rPr lang="en-US" sz="1200" b="1" dirty="0">
                <a:solidFill>
                  <a:srgbClr val="FFFFFF"/>
                </a:solidFill>
                <a:latin typeface="Calibri"/>
                <a:ea typeface="Calibri"/>
                <a:cs typeface="Calibri"/>
              </a:rPr>
              <a:t>Counterfeit Proliferation</a:t>
            </a:r>
          </a:p>
          <a:p>
            <a:pPr>
              <a:defRPr/>
            </a:pPr>
            <a:r>
              <a:rPr lang="en-US" sz="1200" dirty="0">
                <a:solidFill>
                  <a:srgbClr val="FFFFFF"/>
                </a:solidFill>
                <a:latin typeface="Calibri"/>
                <a:ea typeface="Calibri"/>
                <a:cs typeface="Calibri"/>
              </a:rPr>
              <a:t>By</a:t>
            </a:r>
            <a:r>
              <a:rPr lang="en-US" sz="1200" dirty="0">
                <a:solidFill>
                  <a:srgbClr val="FFFFFF"/>
                </a:solidFill>
                <a:ea typeface="+mn-lt"/>
                <a:cs typeface="+mn-lt"/>
              </a:rPr>
              <a:t> the end of 2023, the counterfeit sneaker market was valued near $600 billion</a:t>
            </a:r>
            <a:r>
              <a:rPr kumimoji="0" lang="en-US" sz="1200" b="0" i="0" u="none" strike="noStrike" kern="1200" cap="none" spc="0" normalizeH="0" baseline="0" noProof="0" dirty="0">
                <a:ln>
                  <a:noFill/>
                </a:ln>
                <a:solidFill>
                  <a:srgbClr val="FFFFFF"/>
                </a:solidFill>
                <a:effectLst/>
                <a:uLnTx/>
                <a:uFillTx/>
                <a:ea typeface="+mn-lt"/>
                <a:cs typeface="+mn-lt"/>
              </a:rPr>
              <a:t>, </a:t>
            </a:r>
            <a:r>
              <a:rPr lang="en-US" sz="1200" dirty="0">
                <a:solidFill>
                  <a:srgbClr val="FFFFFF"/>
                </a:solidFill>
                <a:ea typeface="+mn-lt"/>
                <a:cs typeface="+mn-lt"/>
              </a:rPr>
              <a:t>about 1.5 times greater than the legitimate footwear industry.</a:t>
            </a:r>
            <a:endParaRPr lang="en-US" dirty="0">
              <a:solidFill>
                <a:srgbClr val="FFFFFF"/>
              </a:solidFill>
              <a:ea typeface="Calibri"/>
              <a:cs typeface="Calibri"/>
            </a:endParaRPr>
          </a:p>
          <a:p>
            <a:pPr marL="0" marR="0" lvl="0" indent="0" algn="ctr" defTabSz="914400">
              <a:lnSpc>
                <a:spcPct val="100000"/>
              </a:lnSpc>
              <a:spcBef>
                <a:spcPts val="0"/>
              </a:spcBef>
              <a:spcAft>
                <a:spcPts val="0"/>
              </a:spcAft>
              <a:buClrTx/>
              <a:buSzTx/>
              <a:buFontTx/>
              <a:buNone/>
              <a:tabLst/>
              <a:defRPr/>
            </a:pPr>
            <a:endParaRPr lang="en-US" sz="1200"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44F27EA8-6DDA-CDBA-D1EA-579D8CFBA466}"/>
              </a:ext>
            </a:extLst>
          </p:cNvPr>
          <p:cNvSpPr txBox="1"/>
          <p:nvPr/>
        </p:nvSpPr>
        <p:spPr>
          <a:xfrm>
            <a:off x="23122" y="4611284"/>
            <a:ext cx="3016620" cy="1431161"/>
          </a:xfrm>
          <a:prstGeom prst="rect">
            <a:avLst/>
          </a:prstGeom>
          <a:noFill/>
        </p:spPr>
        <p:txBody>
          <a:bodyPr wrap="square" lIns="91440" tIns="45720" rIns="91440" bIns="45720" rtlCol="0" anchor="t">
            <a:spAutoFit/>
          </a:bodyPr>
          <a:lstStyle/>
          <a:p>
            <a:pPr algn="ctr">
              <a:defRPr/>
            </a:pPr>
            <a:r>
              <a:rPr lang="en-US" sz="1200" b="1" dirty="0">
                <a:solidFill>
                  <a:srgbClr val="FFFFFF"/>
                </a:solidFill>
                <a:latin typeface="Calibri"/>
                <a:ea typeface="Calibri"/>
                <a:cs typeface="Calibri"/>
              </a:rPr>
              <a:t>Consumer Purchasing Power</a:t>
            </a:r>
            <a:endParaRPr lang="en-US" sz="12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a:p>
            <a:pPr>
              <a:defRPr/>
            </a:pPr>
            <a:r>
              <a:rPr lang="en-US" sz="1100" dirty="0">
                <a:solidFill>
                  <a:srgbClr val="FFFFFF"/>
                </a:solidFill>
                <a:ea typeface="+mn-lt"/>
                <a:cs typeface="+mn-lt"/>
              </a:rPr>
              <a:t>High inflation has led 69% of US consumers to reduce nonessential spending</a:t>
            </a:r>
            <a:r>
              <a:rPr kumimoji="0" lang="en-US" sz="1100" b="0" i="0" u="none" strike="noStrike" kern="1200" cap="none" spc="0" normalizeH="0" baseline="0" noProof="0" dirty="0">
                <a:ln>
                  <a:noFill/>
                </a:ln>
                <a:solidFill>
                  <a:srgbClr val="FFFFFF"/>
                </a:solidFill>
                <a:effectLst/>
                <a:uLnTx/>
                <a:uFillTx/>
                <a:ea typeface="+mn-lt"/>
                <a:cs typeface="+mn-lt"/>
              </a:rPr>
              <a:t>, </a:t>
            </a:r>
            <a:r>
              <a:rPr lang="en-US" sz="1100" dirty="0">
                <a:solidFill>
                  <a:srgbClr val="FFFFFF"/>
                </a:solidFill>
                <a:ea typeface="+mn-lt"/>
                <a:cs typeface="+mn-lt"/>
              </a:rPr>
              <a:t>with many opting for footwear at discounted prices.</a:t>
            </a:r>
            <a:endParaRPr lang="en-US" sz="1100" dirty="0">
              <a:solidFill>
                <a:srgbClr val="FFFFFF"/>
              </a:solidFill>
              <a:ea typeface="Calibri"/>
              <a:cs typeface="Calibri"/>
            </a:endParaRPr>
          </a:p>
          <a:p>
            <a:pPr>
              <a:defRPr/>
            </a:pPr>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a:lnSpc>
                <a:spcPct val="100000"/>
              </a:lnSpc>
              <a:spcBef>
                <a:spcPts val="0"/>
              </a:spcBef>
              <a:spcAft>
                <a:spcPts val="0"/>
              </a:spcAft>
              <a:buClrTx/>
              <a:buSzTx/>
              <a:buFontTx/>
              <a:buNone/>
              <a:tabLst/>
              <a:defRPr/>
            </a:pPr>
            <a:endParaRPr lang="en-US" sz="1400" b="0"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8B8409D5-24C6-56CD-18EB-E7E0B5117B8A}"/>
              </a:ext>
            </a:extLst>
          </p:cNvPr>
          <p:cNvSpPr txBox="1"/>
          <p:nvPr/>
        </p:nvSpPr>
        <p:spPr>
          <a:xfrm>
            <a:off x="3017967" y="1459137"/>
            <a:ext cx="2713032" cy="5816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dirty="0">
                <a:solidFill>
                  <a:srgbClr val="FFFFFF"/>
                </a:solidFill>
                <a:ea typeface="+mn-lt"/>
                <a:cs typeface="+mn-lt"/>
              </a:rPr>
              <a:t>Personalize through D2C ecosystem: </a:t>
            </a:r>
            <a:r>
              <a:rPr lang="en-US" sz="1200" dirty="0">
                <a:solidFill>
                  <a:srgbClr val="FFFFFF"/>
                </a:solidFill>
                <a:ea typeface="+mn-lt"/>
                <a:cs typeface="+mn-lt"/>
              </a:rPr>
              <a:t>. Leverage the data collected through its D2C channels to personalize shopping experiences and organize community building events to revitalize its brand image and experience.</a:t>
            </a:r>
            <a:endParaRPr lang="en-US" dirty="0">
              <a:solidFill>
                <a:srgbClr val="FFFFFF"/>
              </a:solidFill>
              <a:ea typeface="+mn-lt"/>
              <a:cs typeface="+mn-lt"/>
            </a:endParaRPr>
          </a:p>
          <a:p>
            <a:pPr>
              <a:defRPr/>
            </a:pPr>
            <a:endParaRPr lang="en-US" sz="1200" dirty="0">
              <a:solidFill>
                <a:srgbClr val="FFFFFF"/>
              </a:solidFill>
              <a:ea typeface="+mn-lt"/>
              <a:cs typeface="+mn-lt"/>
            </a:endParaRPr>
          </a:p>
          <a:p>
            <a:pPr>
              <a:defRPr/>
            </a:pPr>
            <a:r>
              <a:rPr lang="en-US" sz="1200" b="1" dirty="0">
                <a:solidFill>
                  <a:srgbClr val="FFFFFF"/>
                </a:solidFill>
                <a:ea typeface="+mn-lt"/>
                <a:cs typeface="+mn-lt"/>
              </a:rPr>
              <a:t>Real-time AI counterfeit security:</a:t>
            </a:r>
            <a:r>
              <a:rPr lang="en-US" sz="1200" dirty="0">
                <a:solidFill>
                  <a:srgbClr val="FFFFFF"/>
                </a:solidFill>
                <a:ea typeface="+mn-lt"/>
                <a:cs typeface="+mn-lt"/>
              </a:rPr>
              <a:t> Leverage its resources to invest in developing cutting edge AI models for multiple purposes such as counterfeit detection, blockchain security and optimizing design to align with consumer preferences.</a:t>
            </a:r>
            <a:endParaRPr lang="en-US">
              <a:solidFill>
                <a:srgbClr val="FFFFFF"/>
              </a:solidFill>
              <a:ea typeface="Calibri"/>
              <a:cs typeface="Calibri"/>
            </a:endParaRPr>
          </a:p>
          <a:p>
            <a:pPr>
              <a:defRPr/>
            </a:pPr>
            <a:endParaRPr lang="en-US" sz="1200" dirty="0">
              <a:solidFill>
                <a:srgbClr val="FFFFFF"/>
              </a:solidFill>
              <a:ea typeface="+mn-lt"/>
              <a:cs typeface="+mn-lt"/>
            </a:endParaRPr>
          </a:p>
          <a:p>
            <a:pPr>
              <a:defRPr/>
            </a:pPr>
            <a:r>
              <a:rPr lang="en-US" sz="1200" b="1" dirty="0">
                <a:solidFill>
                  <a:srgbClr val="FFFFFF"/>
                </a:solidFill>
                <a:ea typeface="+mn-lt"/>
                <a:cs typeface="+mn-lt"/>
              </a:rPr>
              <a:t>Scale-up 3D printing: </a:t>
            </a:r>
            <a:r>
              <a:rPr lang="en-US" sz="1200" dirty="0">
                <a:solidFill>
                  <a:srgbClr val="FFFFFF"/>
                </a:solidFill>
                <a:ea typeface="+mn-lt"/>
                <a:cs typeface="+mn-lt"/>
              </a:rPr>
              <a:t>Invest heavily in integrating 3D printing technology into mainstream footwear manufacturing.</a:t>
            </a:r>
            <a:endParaRPr lang="en-US">
              <a:solidFill>
                <a:srgbClr val="FFFFFF"/>
              </a:solidFill>
              <a:ea typeface="Calibri"/>
              <a:cs typeface="Calibri"/>
            </a:endParaRPr>
          </a:p>
          <a:p>
            <a:pPr>
              <a:defRPr/>
            </a:pPr>
            <a:endParaRPr lang="en-US" sz="1200" dirty="0">
              <a:solidFill>
                <a:srgbClr val="FFFFFF"/>
              </a:solidFill>
              <a:ea typeface="+mn-lt"/>
              <a:cs typeface="+mn-lt"/>
            </a:endParaRPr>
          </a:p>
          <a:p>
            <a:pPr>
              <a:defRPr/>
            </a:pPr>
            <a:r>
              <a:rPr lang="en-US" sz="1200" b="1" dirty="0">
                <a:solidFill>
                  <a:srgbClr val="FFFFFF"/>
                </a:solidFill>
                <a:ea typeface="+mn-lt"/>
                <a:cs typeface="+mn-lt"/>
              </a:rPr>
              <a:t>Maintain Loyalty: </a:t>
            </a:r>
            <a:r>
              <a:rPr lang="en-US" sz="1200" dirty="0">
                <a:solidFill>
                  <a:srgbClr val="FFFFFF"/>
                </a:solidFill>
                <a:ea typeface="+mn-lt"/>
                <a:cs typeface="+mn-lt"/>
              </a:rPr>
              <a:t>Create loyalty by perception through its premium sneaker lines, community building and innovative, bold marketing strategies.</a:t>
            </a:r>
            <a:endParaRPr lang="en-US" dirty="0">
              <a:solidFill>
                <a:srgbClr val="FFFFFF"/>
              </a:solidFill>
              <a:ea typeface="+mn-lt"/>
              <a:cs typeface="+mn-lt"/>
            </a:endParaRPr>
          </a:p>
          <a:p>
            <a:pPr>
              <a:defRPr/>
            </a:pPr>
            <a:endParaRPr lang="en-US" sz="1200" b="1" dirty="0">
              <a:solidFill>
                <a:srgbClr val="FFFFFF"/>
              </a:solidFill>
              <a:ea typeface="+mn-lt"/>
              <a:cs typeface="+mn-lt"/>
            </a:endParaRPr>
          </a:p>
          <a:p>
            <a:pPr>
              <a:defRPr/>
            </a:pPr>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B4EFA1CF-32D5-08E9-4601-30A35CEBB490}"/>
              </a:ext>
            </a:extLst>
          </p:cNvPr>
          <p:cNvSpPr txBox="1"/>
          <p:nvPr/>
        </p:nvSpPr>
        <p:spPr>
          <a:xfrm>
            <a:off x="245940" y="162116"/>
            <a:ext cx="11703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FF"/>
                </a:solidFill>
                <a:ea typeface="+mn-lt"/>
                <a:cs typeface="+mn-lt"/>
              </a:rPr>
              <a:t>Nike tackles its D2C failure, counterfeits, and competition by leveraging AI, 3D printing, sustainable practices, strategic marketing and innovation to regain sneaker dominance.</a:t>
            </a:r>
            <a:endParaRPr lang="en-US" b="1" dirty="0">
              <a:solidFill>
                <a:srgbClr val="FFFFFF"/>
              </a:solidFill>
              <a:ea typeface="Calibri"/>
              <a:cs typeface="Calibri"/>
            </a:endParaRPr>
          </a:p>
        </p:txBody>
      </p:sp>
      <p:sp>
        <p:nvSpPr>
          <p:cNvPr id="48" name="AutoShape 3">
            <a:extLst>
              <a:ext uri="{FF2B5EF4-FFF2-40B4-BE49-F238E27FC236}">
                <a16:creationId xmlns:a16="http://schemas.microsoft.com/office/drawing/2014/main" id="{8D042556-55A3-6AD4-7AFE-838D1D047345}"/>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50" name="Rectangle 49">
            <a:extLst>
              <a:ext uri="{FF2B5EF4-FFF2-40B4-BE49-F238E27FC236}">
                <a16:creationId xmlns:a16="http://schemas.microsoft.com/office/drawing/2014/main" id="{75549B26-B197-16F8-0A5D-E82F032ACEF4}"/>
              </a:ext>
            </a:extLst>
          </p:cNvPr>
          <p:cNvSpPr/>
          <p:nvPr/>
        </p:nvSpPr>
        <p:spPr>
          <a:xfrm>
            <a:off x="288676" y="953729"/>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DRIVERS</a:t>
            </a:r>
          </a:p>
        </p:txBody>
      </p:sp>
      <p:sp>
        <p:nvSpPr>
          <p:cNvPr id="52" name="Rectangle 51">
            <a:extLst>
              <a:ext uri="{FF2B5EF4-FFF2-40B4-BE49-F238E27FC236}">
                <a16:creationId xmlns:a16="http://schemas.microsoft.com/office/drawing/2014/main" id="{261AF199-4A44-73E7-7E8E-4997BA4CC9C7}"/>
              </a:ext>
            </a:extLst>
          </p:cNvPr>
          <p:cNvSpPr/>
          <p:nvPr/>
        </p:nvSpPr>
        <p:spPr>
          <a:xfrm>
            <a:off x="3155310" y="1011469"/>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OPPORUNITIES</a:t>
            </a:r>
          </a:p>
        </p:txBody>
      </p:sp>
      <p:sp>
        <p:nvSpPr>
          <p:cNvPr id="54" name="Rectangle 53">
            <a:extLst>
              <a:ext uri="{FF2B5EF4-FFF2-40B4-BE49-F238E27FC236}">
                <a16:creationId xmlns:a16="http://schemas.microsoft.com/office/drawing/2014/main" id="{BF80DD9C-3BDB-8F50-43BE-215620C088A0}"/>
              </a:ext>
            </a:extLst>
          </p:cNvPr>
          <p:cNvSpPr/>
          <p:nvPr/>
        </p:nvSpPr>
        <p:spPr>
          <a:xfrm>
            <a:off x="5946131" y="1009062"/>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THREATS</a:t>
            </a:r>
          </a:p>
        </p:txBody>
      </p:sp>
      <p:sp>
        <p:nvSpPr>
          <p:cNvPr id="56" name="Rectangle 55">
            <a:extLst>
              <a:ext uri="{FF2B5EF4-FFF2-40B4-BE49-F238E27FC236}">
                <a16:creationId xmlns:a16="http://schemas.microsoft.com/office/drawing/2014/main" id="{7032DC7F-40A9-B875-C583-F5A4640E7652}"/>
              </a:ext>
            </a:extLst>
          </p:cNvPr>
          <p:cNvSpPr/>
          <p:nvPr/>
        </p:nvSpPr>
        <p:spPr>
          <a:xfrm>
            <a:off x="9075523" y="1009062"/>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STRATEGIC RESPONSE</a:t>
            </a:r>
          </a:p>
        </p:txBody>
      </p:sp>
    </p:spTree>
    <p:extLst>
      <p:ext uri="{BB962C8B-B14F-4D97-AF65-F5344CB8AC3E}">
        <p14:creationId xmlns:p14="http://schemas.microsoft.com/office/powerpoint/2010/main" val="139536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C808573D-0074-2A83-E4E9-785368F048B2}"/>
            </a:ext>
          </a:extLst>
        </p:cNvPr>
        <p:cNvGrpSpPr/>
        <p:nvPr/>
      </p:nvGrpSpPr>
      <p:grpSpPr>
        <a:xfrm>
          <a:off x="0" y="0"/>
          <a:ext cx="0" cy="0"/>
          <a:chOff x="0" y="0"/>
          <a:chExt cx="0" cy="0"/>
        </a:xfrm>
      </p:grpSpPr>
      <p:sp>
        <p:nvSpPr>
          <p:cNvPr id="60" name="Arrow: Right 59">
            <a:extLst>
              <a:ext uri="{FF2B5EF4-FFF2-40B4-BE49-F238E27FC236}">
                <a16:creationId xmlns:a16="http://schemas.microsoft.com/office/drawing/2014/main" id="{DDA095E0-528A-C74C-4375-EA0DE10332E5}"/>
              </a:ext>
            </a:extLst>
          </p:cNvPr>
          <p:cNvSpPr/>
          <p:nvPr/>
        </p:nvSpPr>
        <p:spPr>
          <a:xfrm>
            <a:off x="373635" y="846376"/>
            <a:ext cx="11336584" cy="426466"/>
          </a:xfrm>
          <a:prstGeom prst="rightArrow">
            <a:avLst/>
          </a:prstGeom>
          <a:solidFill>
            <a:srgbClr val="3185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3" name="AutoShape 3">
            <a:extLst>
              <a:ext uri="{FF2B5EF4-FFF2-40B4-BE49-F238E27FC236}">
                <a16:creationId xmlns:a16="http://schemas.microsoft.com/office/drawing/2014/main" id="{1FEC85EB-3983-7612-31B2-3676BCB6314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ea typeface="+mn-ea"/>
              <a:cs typeface="+mn-cs"/>
            </a:endParaRPr>
          </a:p>
        </p:txBody>
      </p:sp>
      <p:cxnSp>
        <p:nvCxnSpPr>
          <p:cNvPr id="46" name="Straight Arrow Connector 45">
            <a:extLst>
              <a:ext uri="{FF2B5EF4-FFF2-40B4-BE49-F238E27FC236}">
                <a16:creationId xmlns:a16="http://schemas.microsoft.com/office/drawing/2014/main" id="{3560959A-483A-6C13-6848-682A05DA0E38}"/>
              </a:ext>
            </a:extLst>
          </p:cNvPr>
          <p:cNvCxnSpPr>
            <a:cxnSpLocks/>
          </p:cNvCxnSpPr>
          <p:nvPr/>
        </p:nvCxnSpPr>
        <p:spPr>
          <a:xfrm flipV="1">
            <a:off x="324467" y="880093"/>
            <a:ext cx="8373" cy="3018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9C791D8B-F746-449B-D5DF-E4B136D8A5DB}"/>
              </a:ext>
            </a:extLst>
          </p:cNvPr>
          <p:cNvCxnSpPr>
            <a:cxnSpLocks/>
          </p:cNvCxnSpPr>
          <p:nvPr/>
        </p:nvCxnSpPr>
        <p:spPr>
          <a:xfrm>
            <a:off x="324467" y="3898486"/>
            <a:ext cx="114250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Connector: Curved 47">
            <a:extLst>
              <a:ext uri="{FF2B5EF4-FFF2-40B4-BE49-F238E27FC236}">
                <a16:creationId xmlns:a16="http://schemas.microsoft.com/office/drawing/2014/main" id="{6B804026-4EBF-682F-7B9A-C94A0D9ACC0A}"/>
              </a:ext>
            </a:extLst>
          </p:cNvPr>
          <p:cNvCxnSpPr>
            <a:cxnSpLocks/>
          </p:cNvCxnSpPr>
          <p:nvPr/>
        </p:nvCxnSpPr>
        <p:spPr>
          <a:xfrm flipV="1">
            <a:off x="8139162" y="1392758"/>
            <a:ext cx="3718543" cy="846184"/>
          </a:xfrm>
          <a:prstGeom prst="curvedConnector3">
            <a:avLst>
              <a:gd name="adj1" fmla="val 1877"/>
            </a:avLst>
          </a:prstGeom>
          <a:ln w="28575">
            <a:solidFill>
              <a:srgbClr val="7E2B74"/>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AC78A49-ECE4-34EB-60D0-A7B174E8EA9C}"/>
              </a:ext>
            </a:extLst>
          </p:cNvPr>
          <p:cNvCxnSpPr>
            <a:cxnSpLocks/>
          </p:cNvCxnSpPr>
          <p:nvPr/>
        </p:nvCxnSpPr>
        <p:spPr>
          <a:xfrm>
            <a:off x="4107456" y="912750"/>
            <a:ext cx="0" cy="5756943"/>
          </a:xfrm>
          <a:prstGeom prst="line">
            <a:avLst/>
          </a:prstGeom>
          <a:ln w="12700">
            <a:solidFill>
              <a:schemeClr val="tx1">
                <a:lumMod val="65000"/>
                <a:lumOff val="3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F2C9801-7E93-4C5C-281A-BE3512A3C85A}"/>
              </a:ext>
            </a:extLst>
          </p:cNvPr>
          <p:cNvCxnSpPr>
            <a:cxnSpLocks/>
          </p:cNvCxnSpPr>
          <p:nvPr/>
        </p:nvCxnSpPr>
        <p:spPr>
          <a:xfrm>
            <a:off x="8099835" y="912750"/>
            <a:ext cx="0" cy="5719226"/>
          </a:xfrm>
          <a:prstGeom prst="line">
            <a:avLst/>
          </a:prstGeom>
          <a:ln w="12700">
            <a:solidFill>
              <a:schemeClr val="tx1">
                <a:lumMod val="65000"/>
                <a:lumOff val="35000"/>
              </a:schemeClr>
            </a:solidFill>
            <a:prstDash val="dash"/>
          </a:ln>
        </p:spPr>
        <p:style>
          <a:lnRef idx="2">
            <a:schemeClr val="accent1"/>
          </a:lnRef>
          <a:fillRef idx="0">
            <a:schemeClr val="accent1"/>
          </a:fillRef>
          <a:effectRef idx="1">
            <a:schemeClr val="accent1"/>
          </a:effectRef>
          <a:fontRef idx="minor">
            <a:schemeClr val="tx1"/>
          </a:fontRef>
        </p:style>
      </p:cxnSp>
      <p:sp>
        <p:nvSpPr>
          <p:cNvPr id="51" name="Flowchart: Alternate Process 50">
            <a:extLst>
              <a:ext uri="{FF2B5EF4-FFF2-40B4-BE49-F238E27FC236}">
                <a16:creationId xmlns:a16="http://schemas.microsoft.com/office/drawing/2014/main" id="{13365DBC-FA55-7050-B322-7F7EB363F2BB}"/>
              </a:ext>
            </a:extLst>
          </p:cNvPr>
          <p:cNvSpPr/>
          <p:nvPr/>
        </p:nvSpPr>
        <p:spPr>
          <a:xfrm>
            <a:off x="225459" y="4062893"/>
            <a:ext cx="3841948" cy="1900699"/>
          </a:xfrm>
          <a:prstGeom prst="flowChartAlternateProcess">
            <a:avLst/>
          </a:pr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a:p>
            <a:pPr algn="ctr">
              <a:defRPr/>
            </a:pPr>
            <a:endParaRPr lang="en-US">
              <a:solidFill>
                <a:srgbClr val="FFFFFF"/>
              </a:solidFill>
            </a:endParaRPr>
          </a:p>
        </p:txBody>
      </p:sp>
      <p:sp>
        <p:nvSpPr>
          <p:cNvPr id="52" name="Flowchart: Alternate Process 51">
            <a:extLst>
              <a:ext uri="{FF2B5EF4-FFF2-40B4-BE49-F238E27FC236}">
                <a16:creationId xmlns:a16="http://schemas.microsoft.com/office/drawing/2014/main" id="{1949B571-DAF3-A00B-506E-2CF096B1E7B4}"/>
              </a:ext>
            </a:extLst>
          </p:cNvPr>
          <p:cNvSpPr/>
          <p:nvPr/>
        </p:nvSpPr>
        <p:spPr>
          <a:xfrm>
            <a:off x="4198897" y="4021705"/>
            <a:ext cx="3841948" cy="1943207"/>
          </a:xfrm>
          <a:prstGeom prst="flowChartAlternateProcess">
            <a:avLst/>
          </a:prstGeom>
          <a:no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53" name="Flowchart: Alternate Process 52">
            <a:extLst>
              <a:ext uri="{FF2B5EF4-FFF2-40B4-BE49-F238E27FC236}">
                <a16:creationId xmlns:a16="http://schemas.microsoft.com/office/drawing/2014/main" id="{C6252114-2957-70DB-C18D-75A7F00B602A}"/>
              </a:ext>
            </a:extLst>
          </p:cNvPr>
          <p:cNvSpPr/>
          <p:nvPr/>
        </p:nvSpPr>
        <p:spPr>
          <a:xfrm>
            <a:off x="8171870" y="4052596"/>
            <a:ext cx="3841948" cy="1890403"/>
          </a:xfrm>
          <a:prstGeom prst="flowChartAlternateProcess">
            <a:avLst/>
          </a:prstGeom>
          <a:noFill/>
          <a:ln w="28575">
            <a:solidFill>
              <a:srgbClr val="7E2B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54" name="TextBox 53">
            <a:extLst>
              <a:ext uri="{FF2B5EF4-FFF2-40B4-BE49-F238E27FC236}">
                <a16:creationId xmlns:a16="http://schemas.microsoft.com/office/drawing/2014/main" id="{720DEC44-CDAA-0F41-1006-83B8403EFFA1}"/>
              </a:ext>
            </a:extLst>
          </p:cNvPr>
          <p:cNvSpPr txBox="1"/>
          <p:nvPr/>
        </p:nvSpPr>
        <p:spPr>
          <a:xfrm>
            <a:off x="1255135" y="3387964"/>
            <a:ext cx="191236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HORIZON </a:t>
            </a:r>
            <a:r>
              <a:rPr kumimoji="0" lang="en-US" sz="1600" b="0" i="0" u="none" strike="noStrike" kern="1200" cap="none" spc="0" normalizeH="0" baseline="0" noProof="0" dirty="0">
                <a:ln>
                  <a:noFill/>
                </a:ln>
                <a:solidFill>
                  <a:srgbClr val="FFFFFF"/>
                </a:solidFill>
                <a:effectLst/>
                <a:uLnTx/>
                <a:uFillTx/>
                <a:ea typeface="+mn-ea"/>
                <a:cs typeface="+mn-cs"/>
              </a:rPr>
              <a:t>1</a:t>
            </a:r>
            <a:endParaRPr kumimoji="0" lang="en-US" sz="1800" b="0" i="0" u="none" strike="noStrike" kern="1200" cap="none" spc="0" normalizeH="0" baseline="0" noProof="0" dirty="0">
              <a:ln>
                <a:noFill/>
              </a:ln>
              <a:solidFill>
                <a:srgbClr val="FFFFFF"/>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rPr>
              <a:t>(0-2 years)</a:t>
            </a:r>
            <a:endParaRPr kumimoji="0" lang="en-US" sz="1100" b="0" i="0" u="none" strike="noStrike" kern="1200" cap="none" spc="0" normalizeH="0" baseline="0" noProof="0" dirty="0">
              <a:ln>
                <a:noFill/>
              </a:ln>
              <a:solidFill>
                <a:srgbClr val="FFFFFF"/>
              </a:solidFill>
              <a:effectLst/>
              <a:uLnTx/>
              <a:uFillTx/>
              <a:ea typeface="+mn-ea"/>
              <a:cs typeface="+mn-cs"/>
            </a:endParaRPr>
          </a:p>
        </p:txBody>
      </p:sp>
      <p:sp>
        <p:nvSpPr>
          <p:cNvPr id="55" name="TextBox 54">
            <a:extLst>
              <a:ext uri="{FF2B5EF4-FFF2-40B4-BE49-F238E27FC236}">
                <a16:creationId xmlns:a16="http://schemas.microsoft.com/office/drawing/2014/main" id="{D67AED67-11DB-D0CB-35E9-D3FE655E02A1}"/>
              </a:ext>
            </a:extLst>
          </p:cNvPr>
          <p:cNvSpPr txBox="1"/>
          <p:nvPr/>
        </p:nvSpPr>
        <p:spPr>
          <a:xfrm>
            <a:off x="5211126" y="3386211"/>
            <a:ext cx="191236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HORIZON 2</a:t>
            </a:r>
            <a:endParaRPr lang="en-US" dirty="0">
              <a:solidFill>
                <a:srgbClr val="FFFFFF"/>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ea typeface="+mn-ea"/>
                <a:cs typeface="+mn-cs"/>
              </a:rPr>
              <a:t>(2-4 years)</a:t>
            </a:r>
          </a:p>
        </p:txBody>
      </p:sp>
      <p:sp>
        <p:nvSpPr>
          <p:cNvPr id="56" name="TextBox 55">
            <a:extLst>
              <a:ext uri="{FF2B5EF4-FFF2-40B4-BE49-F238E27FC236}">
                <a16:creationId xmlns:a16="http://schemas.microsoft.com/office/drawing/2014/main" id="{457BC1E3-2446-9D7D-972B-043AC93BC9DE}"/>
              </a:ext>
            </a:extLst>
          </p:cNvPr>
          <p:cNvSpPr txBox="1"/>
          <p:nvPr/>
        </p:nvSpPr>
        <p:spPr>
          <a:xfrm>
            <a:off x="9031963" y="3386211"/>
            <a:ext cx="2020525" cy="53860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HORIZON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ea typeface="+mn-ea"/>
                <a:cs typeface="+mn-cs"/>
              </a:rPr>
              <a:t>(4-6 years)</a:t>
            </a:r>
          </a:p>
        </p:txBody>
      </p:sp>
      <p:sp>
        <p:nvSpPr>
          <p:cNvPr id="58" name="Flowchart: Alternate Process 57">
            <a:extLst>
              <a:ext uri="{FF2B5EF4-FFF2-40B4-BE49-F238E27FC236}">
                <a16:creationId xmlns:a16="http://schemas.microsoft.com/office/drawing/2014/main" id="{3D56CC14-6E99-ADDE-7FD6-9A7E7E75E920}"/>
              </a:ext>
            </a:extLst>
          </p:cNvPr>
          <p:cNvSpPr/>
          <p:nvPr/>
        </p:nvSpPr>
        <p:spPr>
          <a:xfrm>
            <a:off x="4807355" y="2286752"/>
            <a:ext cx="2690550" cy="1027472"/>
          </a:xfrm>
          <a:prstGeom prst="flowChartAlternateProcess">
            <a:avLst/>
          </a:prstGeom>
          <a:solidFill>
            <a:srgbClr val="31859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defTabSz="914400" rtl="0" eaLnBrk="1" fontAlgn="auto" latinLnBrk="0" hangingPunct="1">
              <a:lnSpc>
                <a:spcPct val="100000"/>
              </a:lnSpc>
              <a:spcBef>
                <a:spcPts val="0"/>
              </a:spcBef>
              <a:spcAft>
                <a:spcPts val="0"/>
              </a:spcAft>
              <a:buClrTx/>
              <a:buSzTx/>
              <a:tabLst/>
              <a:defRPr/>
            </a:pPr>
            <a:endParaRPr lang="en-US" sz="1100" dirty="0">
              <a:solidFill>
                <a:srgbClr val="FFFFFF"/>
              </a:solidFill>
            </a:endParaRPr>
          </a:p>
          <a:p>
            <a:pPr marL="171450" indent="-171450">
              <a:buFont typeface="Arial" panose="020B0604020202020204" pitchFamily="34" charset="0"/>
              <a:buChar char="•"/>
              <a:defRPr/>
            </a:pPr>
            <a:r>
              <a:rPr lang="en-US" sz="1100" b="1" dirty="0">
                <a:solidFill>
                  <a:srgbClr val="FFFFFF"/>
                </a:solidFill>
                <a:ea typeface="Calibri"/>
                <a:cs typeface="Calibri"/>
              </a:rPr>
              <a:t>AI-driven security</a:t>
            </a:r>
          </a:p>
          <a:p>
            <a:pPr marL="171450" indent="-171450">
              <a:buFont typeface="Arial" panose="020B0604020202020204" pitchFamily="34" charset="0"/>
              <a:buChar char="•"/>
              <a:defRPr/>
            </a:pPr>
            <a:r>
              <a:rPr lang="en-US" sz="1100" b="1" dirty="0">
                <a:solidFill>
                  <a:srgbClr val="FFFFFF"/>
                </a:solidFill>
                <a:ea typeface="Calibri"/>
                <a:cs typeface="Calibri"/>
              </a:rPr>
              <a:t>Leverage D2C channel data to create disruptive innovations</a:t>
            </a:r>
          </a:p>
          <a:p>
            <a:pPr marL="171450" indent="-171450">
              <a:buFont typeface="Arial" panose="020B0604020202020204" pitchFamily="34" charset="0"/>
              <a:buChar char="•"/>
              <a:defRPr/>
            </a:pPr>
            <a:r>
              <a:rPr lang="en-US" sz="1100" b="1" dirty="0">
                <a:solidFill>
                  <a:srgbClr val="FFFFFF"/>
                </a:solidFill>
                <a:ea typeface="Calibri"/>
                <a:cs typeface="Calibri"/>
              </a:rPr>
              <a:t>Gen AI to personalize footwear</a:t>
            </a:r>
          </a:p>
          <a:p>
            <a:pPr marL="171450" indent="-171450">
              <a:buFont typeface="Arial" panose="020B0604020202020204" pitchFamily="34" charset="0"/>
              <a:buChar char="•"/>
              <a:defRPr/>
            </a:pPr>
            <a:r>
              <a:rPr lang="en-US" sz="1100" b="1" dirty="0">
                <a:solidFill>
                  <a:srgbClr val="FFFFFF"/>
                </a:solidFill>
                <a:ea typeface="Calibri"/>
                <a:cs typeface="Calibri"/>
              </a:rPr>
              <a:t>Bold marketing campaigns of its commitment and transparency</a:t>
            </a:r>
          </a:p>
          <a:p>
            <a:pPr marL="171450" indent="-171450">
              <a:buFont typeface="Arial" panose="020B0604020202020204" pitchFamily="34" charset="0"/>
              <a:buChar char="•"/>
              <a:defRPr/>
            </a:pPr>
            <a:endParaRPr lang="en-US" sz="1100" dirty="0">
              <a:solidFill>
                <a:srgbClr val="FFFFFF"/>
              </a:solidFill>
              <a:ea typeface="Calibri"/>
              <a:cs typeface="Calibri"/>
            </a:endParaRPr>
          </a:p>
        </p:txBody>
      </p:sp>
      <p:sp>
        <p:nvSpPr>
          <p:cNvPr id="59" name="Flowchart: Alternate Process 58">
            <a:extLst>
              <a:ext uri="{FF2B5EF4-FFF2-40B4-BE49-F238E27FC236}">
                <a16:creationId xmlns:a16="http://schemas.microsoft.com/office/drawing/2014/main" id="{3E42DCEF-1FE0-4F94-4365-2C2DBEB38066}"/>
              </a:ext>
            </a:extLst>
          </p:cNvPr>
          <p:cNvSpPr/>
          <p:nvPr/>
        </p:nvSpPr>
        <p:spPr>
          <a:xfrm>
            <a:off x="8925739" y="1940582"/>
            <a:ext cx="2412098" cy="1027471"/>
          </a:xfrm>
          <a:prstGeom prst="flowChartAlternateProcess">
            <a:avLst/>
          </a:prstGeom>
          <a:solidFill>
            <a:srgbClr val="31859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defRPr/>
            </a:pPr>
            <a:r>
              <a:rPr lang="en-US" sz="1100" b="1" dirty="0">
                <a:solidFill>
                  <a:srgbClr val="FFFFFF"/>
                </a:solidFill>
                <a:ea typeface="Calibri"/>
                <a:cs typeface="Calibri"/>
              </a:rPr>
              <a:t>Sensors and AI-powered performance tracking footwear</a:t>
            </a:r>
            <a:endParaRPr lang="en-US" sz="1100" b="1" dirty="0">
              <a:solidFill>
                <a:srgbClr val="FFFFFF"/>
              </a:solidFill>
            </a:endParaRPr>
          </a:p>
          <a:p>
            <a:pPr marL="171450" indent="-171450">
              <a:buFont typeface="Arial" panose="020B0604020202020204" pitchFamily="34" charset="0"/>
              <a:buChar char="•"/>
              <a:defRPr/>
            </a:pPr>
            <a:r>
              <a:rPr lang="en-US" sz="1100" b="1" dirty="0">
                <a:solidFill>
                  <a:srgbClr val="FFFFFF"/>
                </a:solidFill>
              </a:rPr>
              <a:t>In-store 3D printing kiosks</a:t>
            </a:r>
          </a:p>
          <a:p>
            <a:pPr marL="171450" indent="-171450">
              <a:buFont typeface="Arial" panose="020B0604020202020204" pitchFamily="34" charset="0"/>
              <a:buChar char="•"/>
              <a:defRPr/>
            </a:pPr>
            <a:r>
              <a:rPr lang="en-US" sz="1100" b="1" dirty="0">
                <a:solidFill>
                  <a:srgbClr val="FFFFFF"/>
                </a:solidFill>
              </a:rPr>
              <a:t>Launch Nike Family </a:t>
            </a:r>
            <a:endParaRPr lang="en-US" sz="1100" b="1" dirty="0">
              <a:solidFill>
                <a:srgbClr val="FFFFFF"/>
              </a:solidFill>
              <a:ea typeface="Calibri"/>
              <a:cs typeface="Calibri"/>
            </a:endParaRPr>
          </a:p>
        </p:txBody>
      </p:sp>
      <p:sp>
        <p:nvSpPr>
          <p:cNvPr id="61" name="TextBox 60">
            <a:extLst>
              <a:ext uri="{FF2B5EF4-FFF2-40B4-BE49-F238E27FC236}">
                <a16:creationId xmlns:a16="http://schemas.microsoft.com/office/drawing/2014/main" id="{1A8B6789-21F3-E663-8F10-B6527901CDBB}"/>
              </a:ext>
            </a:extLst>
          </p:cNvPr>
          <p:cNvSpPr txBox="1"/>
          <p:nvPr/>
        </p:nvSpPr>
        <p:spPr>
          <a:xfrm>
            <a:off x="1349999" y="893086"/>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ea typeface="+mn-ea"/>
                <a:cs typeface="+mn-cs"/>
              </a:rPr>
              <a:t>NOW</a:t>
            </a:r>
            <a:endParaRPr kumimoji="0" lang="en-US" sz="1100" b="1" i="0" u="none" strike="noStrike" kern="1200" cap="none" spc="0" normalizeH="0" baseline="0" noProof="0">
              <a:ln>
                <a:noFill/>
              </a:ln>
              <a:solidFill>
                <a:srgbClr val="FFFFFF"/>
              </a:solidFill>
              <a:effectLst/>
              <a:uLnTx/>
              <a:uFillTx/>
              <a:ea typeface="+mn-ea"/>
              <a:cs typeface="+mn-cs"/>
            </a:endParaRPr>
          </a:p>
        </p:txBody>
      </p:sp>
      <p:sp>
        <p:nvSpPr>
          <p:cNvPr id="62" name="TextBox 61">
            <a:extLst>
              <a:ext uri="{FF2B5EF4-FFF2-40B4-BE49-F238E27FC236}">
                <a16:creationId xmlns:a16="http://schemas.microsoft.com/office/drawing/2014/main" id="{CDAEB2BB-F2D2-D4AF-A01D-2DCC654B95C1}"/>
              </a:ext>
            </a:extLst>
          </p:cNvPr>
          <p:cNvSpPr txBox="1"/>
          <p:nvPr/>
        </p:nvSpPr>
        <p:spPr>
          <a:xfrm>
            <a:off x="5198837" y="893086"/>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ea typeface="+mn-ea"/>
                <a:cs typeface="+mn-cs"/>
              </a:rPr>
              <a:t>NEXT</a:t>
            </a:r>
            <a:endParaRPr kumimoji="0" lang="en-US" sz="1100" b="1" i="0" u="none" strike="noStrike" kern="1200" cap="none" spc="0" normalizeH="0" baseline="0" noProof="0" dirty="0">
              <a:ln>
                <a:noFill/>
              </a:ln>
              <a:solidFill>
                <a:srgbClr val="FFFFFF"/>
              </a:solidFill>
              <a:effectLst/>
              <a:uLnTx/>
              <a:uFillTx/>
              <a:ea typeface="+mn-ea"/>
              <a:cs typeface="+mn-cs"/>
            </a:endParaRPr>
          </a:p>
        </p:txBody>
      </p:sp>
      <p:sp>
        <p:nvSpPr>
          <p:cNvPr id="63" name="TextBox 62">
            <a:extLst>
              <a:ext uri="{FF2B5EF4-FFF2-40B4-BE49-F238E27FC236}">
                <a16:creationId xmlns:a16="http://schemas.microsoft.com/office/drawing/2014/main" id="{AEB26E83-1FBA-A067-82B6-FEF24D7A4DAE}"/>
              </a:ext>
            </a:extLst>
          </p:cNvPr>
          <p:cNvSpPr txBox="1"/>
          <p:nvPr/>
        </p:nvSpPr>
        <p:spPr>
          <a:xfrm>
            <a:off x="9065360" y="912750"/>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FFFFFF"/>
                </a:solidFill>
              </a:rPr>
              <a:t>NEW</a:t>
            </a:r>
            <a:endParaRPr kumimoji="0" lang="en-US" sz="1100" b="1" i="0" u="none" strike="noStrike" kern="1200" cap="none" spc="0" normalizeH="0" baseline="0" noProof="0" dirty="0">
              <a:ln>
                <a:noFill/>
              </a:ln>
              <a:solidFill>
                <a:srgbClr val="FFFFFF"/>
              </a:solidFill>
              <a:effectLst/>
              <a:uLnTx/>
              <a:uFillTx/>
              <a:ea typeface="+mn-ea"/>
              <a:cs typeface="+mn-cs"/>
            </a:endParaRPr>
          </a:p>
        </p:txBody>
      </p:sp>
      <p:sp>
        <p:nvSpPr>
          <p:cNvPr id="64" name="TextBox 63">
            <a:extLst>
              <a:ext uri="{FF2B5EF4-FFF2-40B4-BE49-F238E27FC236}">
                <a16:creationId xmlns:a16="http://schemas.microsoft.com/office/drawing/2014/main" id="{D38F5AA6-A86E-8619-A66F-1D4C5DB2FCDD}"/>
              </a:ext>
            </a:extLst>
          </p:cNvPr>
          <p:cNvSpPr txBox="1"/>
          <p:nvPr/>
        </p:nvSpPr>
        <p:spPr>
          <a:xfrm rot="16200000">
            <a:off x="-758589" y="2237805"/>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ea typeface="+mn-ea"/>
                <a:cs typeface="+mn-cs"/>
              </a:rPr>
              <a:t>Value</a:t>
            </a:r>
            <a:endParaRPr kumimoji="0" lang="en-US" sz="1100" b="1" i="0" u="none" strike="noStrike" kern="1200" cap="none" spc="0" normalizeH="0" baseline="0" noProof="0" dirty="0">
              <a:ln>
                <a:noFill/>
              </a:ln>
              <a:solidFill>
                <a:srgbClr val="FFFFFF"/>
              </a:solidFill>
              <a:effectLst/>
              <a:uLnTx/>
              <a:uFillTx/>
              <a:ea typeface="+mn-ea"/>
              <a:cs typeface="+mn-cs"/>
            </a:endParaRPr>
          </a:p>
        </p:txBody>
      </p:sp>
      <p:cxnSp>
        <p:nvCxnSpPr>
          <p:cNvPr id="65" name="Connector: Curved 64">
            <a:extLst>
              <a:ext uri="{FF2B5EF4-FFF2-40B4-BE49-F238E27FC236}">
                <a16:creationId xmlns:a16="http://schemas.microsoft.com/office/drawing/2014/main" id="{33E43A96-9ECB-C361-60BB-59A7B11A65BA}"/>
              </a:ext>
            </a:extLst>
          </p:cNvPr>
          <p:cNvCxnSpPr>
            <a:cxnSpLocks/>
          </p:cNvCxnSpPr>
          <p:nvPr/>
        </p:nvCxnSpPr>
        <p:spPr>
          <a:xfrm flipV="1">
            <a:off x="390569" y="2939843"/>
            <a:ext cx="3625912" cy="872635"/>
          </a:xfrm>
          <a:prstGeom prst="curvedConnector3">
            <a:avLst>
              <a:gd name="adj1" fmla="val 1732"/>
            </a:avLst>
          </a:prstGeom>
          <a:ln w="28575">
            <a:solidFill>
              <a:srgbClr val="C04F15"/>
            </a:solidFill>
            <a:tailEnd type="triangle"/>
          </a:ln>
        </p:spPr>
        <p:style>
          <a:lnRef idx="2">
            <a:schemeClr val="accent1"/>
          </a:lnRef>
          <a:fillRef idx="0">
            <a:schemeClr val="accent1"/>
          </a:fillRef>
          <a:effectRef idx="1">
            <a:schemeClr val="accent1"/>
          </a:effectRef>
          <a:fontRef idx="minor">
            <a:schemeClr val="tx1"/>
          </a:fontRef>
        </p:style>
      </p:cxnSp>
      <p:cxnSp>
        <p:nvCxnSpPr>
          <p:cNvPr id="66" name="Connector: Curved 65">
            <a:extLst>
              <a:ext uri="{FF2B5EF4-FFF2-40B4-BE49-F238E27FC236}">
                <a16:creationId xmlns:a16="http://schemas.microsoft.com/office/drawing/2014/main" id="{ECFE1920-9439-C287-B228-0AA82BB10866}"/>
              </a:ext>
            </a:extLst>
          </p:cNvPr>
          <p:cNvCxnSpPr>
            <a:cxnSpLocks/>
          </p:cNvCxnSpPr>
          <p:nvPr/>
        </p:nvCxnSpPr>
        <p:spPr>
          <a:xfrm flipV="1">
            <a:off x="4218049" y="2122834"/>
            <a:ext cx="3779791" cy="859837"/>
          </a:xfrm>
          <a:prstGeom prst="curvedConnector3">
            <a:avLst>
              <a:gd name="adj1" fmla="val 1096"/>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10E5DD5-9773-73B4-3FB0-816DD940B7E5}"/>
              </a:ext>
            </a:extLst>
          </p:cNvPr>
          <p:cNvSpPr txBox="1"/>
          <p:nvPr/>
        </p:nvSpPr>
        <p:spPr>
          <a:xfrm>
            <a:off x="338940" y="4099435"/>
            <a:ext cx="3677988"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Calibri"/>
              <a:buChar char="-"/>
            </a:pPr>
            <a:r>
              <a:rPr lang="en-US" sz="900" dirty="0">
                <a:solidFill>
                  <a:srgbClr val="FFFFFF"/>
                </a:solidFill>
                <a:ea typeface="+mn-lt"/>
                <a:cs typeface="+mn-lt"/>
              </a:rPr>
              <a:t>   Improve supply chain efficiency by scaling up Nike’s</a:t>
            </a:r>
            <a:r>
              <a:rPr lang="en-US" sz="900" b="1" dirty="0">
                <a:solidFill>
                  <a:srgbClr val="FFFFFF"/>
                </a:solidFill>
                <a:ea typeface="+mn-lt"/>
                <a:cs typeface="+mn-lt"/>
              </a:rPr>
              <a:t> </a:t>
            </a:r>
            <a:r>
              <a:rPr lang="en-US" sz="900" b="1" err="1">
                <a:solidFill>
                  <a:srgbClr val="FFFFFF"/>
                </a:solidFill>
                <a:ea typeface="+mn-lt"/>
                <a:cs typeface="+mn-lt"/>
              </a:rPr>
              <a:t>FlyPrint</a:t>
            </a:r>
            <a:r>
              <a:rPr lang="en-US" sz="900" b="1" dirty="0">
                <a:solidFill>
                  <a:srgbClr val="FFFFFF"/>
                </a:solidFill>
                <a:ea typeface="+mn-lt"/>
                <a:cs typeface="+mn-lt"/>
              </a:rPr>
              <a:t> technology, 3D printing, digitized laser beams and automation,</a:t>
            </a:r>
            <a:r>
              <a:rPr lang="en-US" sz="900" dirty="0">
                <a:solidFill>
                  <a:srgbClr val="FFFFFF"/>
                </a:solidFill>
                <a:ea typeface="+mn-lt"/>
                <a:cs typeface="+mn-lt"/>
              </a:rPr>
              <a:t> surging the use of </a:t>
            </a:r>
            <a:r>
              <a:rPr lang="en-US" sz="900" b="1" dirty="0">
                <a:solidFill>
                  <a:srgbClr val="FFFFFF"/>
                </a:solidFill>
                <a:ea typeface="+mn-lt"/>
                <a:cs typeface="+mn-lt"/>
              </a:rPr>
              <a:t>environmentally preferred materials to 50% by 2025.</a:t>
            </a:r>
            <a:endParaRPr lang="en-US">
              <a:solidFill>
                <a:srgbClr val="FFFFFF"/>
              </a:solidFill>
              <a:ea typeface="+mn-lt"/>
              <a:cs typeface="+mn-lt"/>
            </a:endParaRPr>
          </a:p>
          <a:p>
            <a:r>
              <a:rPr lang="en-US" sz="900" dirty="0">
                <a:solidFill>
                  <a:srgbClr val="FFFFFF"/>
                </a:solidFill>
                <a:ea typeface="+mn-lt"/>
                <a:cs typeface="+mn-lt"/>
              </a:rPr>
              <a:t>-    Develop a </a:t>
            </a:r>
            <a:r>
              <a:rPr lang="en-US" sz="900" b="1" dirty="0">
                <a:solidFill>
                  <a:srgbClr val="FFFFFF"/>
                </a:solidFill>
                <a:ea typeface="+mn-lt"/>
                <a:cs typeface="+mn-lt"/>
              </a:rPr>
              <a:t>hybrid model</a:t>
            </a:r>
            <a:r>
              <a:rPr lang="en-US" sz="900" dirty="0">
                <a:solidFill>
                  <a:srgbClr val="FFFFFF"/>
                </a:solidFill>
                <a:ea typeface="+mn-lt"/>
                <a:cs typeface="+mn-lt"/>
              </a:rPr>
              <a:t> where Nike efficiently</a:t>
            </a:r>
            <a:r>
              <a:rPr lang="en-US" sz="900" b="1" dirty="0">
                <a:solidFill>
                  <a:srgbClr val="FFFFFF"/>
                </a:solidFill>
                <a:ea typeface="+mn-lt"/>
                <a:cs typeface="+mn-lt"/>
              </a:rPr>
              <a:t> scale-down and optimize their D2C channels</a:t>
            </a:r>
            <a:r>
              <a:rPr lang="en-US" sz="900" dirty="0">
                <a:solidFill>
                  <a:srgbClr val="FFFFFF"/>
                </a:solidFill>
                <a:ea typeface="+mn-lt"/>
                <a:cs typeface="+mn-lt"/>
              </a:rPr>
              <a:t> while establishing strong </a:t>
            </a:r>
            <a:r>
              <a:rPr lang="en-US" sz="900" b="1" dirty="0">
                <a:solidFill>
                  <a:srgbClr val="FFFFFF"/>
                </a:solidFill>
                <a:ea typeface="+mn-lt"/>
                <a:cs typeface="+mn-lt"/>
              </a:rPr>
              <a:t>relationships with wholesalers to sell its $9.3 billion inventory.</a:t>
            </a:r>
            <a:endParaRPr lang="en-US" b="1">
              <a:solidFill>
                <a:srgbClr val="FFFFFF"/>
              </a:solidFill>
              <a:ea typeface="Calibri"/>
              <a:cs typeface="Calibri"/>
            </a:endParaRPr>
          </a:p>
          <a:p>
            <a:pPr>
              <a:buFont typeface="Calibri"/>
              <a:buChar char="-"/>
            </a:pPr>
            <a:r>
              <a:rPr lang="en-US" sz="900" dirty="0">
                <a:solidFill>
                  <a:srgbClr val="FFFFFF"/>
                </a:solidFill>
                <a:ea typeface="+mn-lt"/>
                <a:cs typeface="+mn-lt"/>
              </a:rPr>
              <a:t>   Integrate advanced technology such as</a:t>
            </a:r>
            <a:r>
              <a:rPr lang="en-US" sz="900" b="1" dirty="0">
                <a:solidFill>
                  <a:srgbClr val="FFFFFF"/>
                </a:solidFill>
                <a:ea typeface="+mn-lt"/>
                <a:cs typeface="+mn-lt"/>
              </a:rPr>
              <a:t> Crypto </a:t>
            </a:r>
            <a:r>
              <a:rPr lang="en-US" sz="900" b="1" err="1">
                <a:solidFill>
                  <a:srgbClr val="FFFFFF"/>
                </a:solidFill>
                <a:ea typeface="+mn-lt"/>
                <a:cs typeface="+mn-lt"/>
              </a:rPr>
              <a:t>Kickstarters</a:t>
            </a:r>
            <a:r>
              <a:rPr lang="en-US" sz="900" b="1" dirty="0">
                <a:solidFill>
                  <a:srgbClr val="FFFFFF"/>
                </a:solidFill>
                <a:ea typeface="+mn-lt"/>
                <a:cs typeface="+mn-lt"/>
              </a:rPr>
              <a:t> and Digital Locker</a:t>
            </a:r>
            <a:r>
              <a:rPr lang="en-US" sz="900" dirty="0">
                <a:solidFill>
                  <a:srgbClr val="FFFFFF"/>
                </a:solidFill>
                <a:ea typeface="+mn-lt"/>
                <a:cs typeface="+mn-lt"/>
              </a:rPr>
              <a:t> with enhanced, inimitable product design such as </a:t>
            </a:r>
            <a:r>
              <a:rPr lang="en-US" sz="900" b="1" dirty="0">
                <a:solidFill>
                  <a:srgbClr val="FFFFFF"/>
                </a:solidFill>
                <a:ea typeface="+mn-lt"/>
                <a:cs typeface="+mn-lt"/>
              </a:rPr>
              <a:t>holograms and </a:t>
            </a:r>
            <a:r>
              <a:rPr lang="en-US" sz="900" b="1">
                <a:solidFill>
                  <a:srgbClr val="FFFFFF"/>
                </a:solidFill>
                <a:ea typeface="+mn-lt"/>
                <a:cs typeface="+mn-lt"/>
              </a:rPr>
              <a:t>watermarks</a:t>
            </a:r>
            <a:r>
              <a:rPr lang="en-US" sz="900">
                <a:solidFill>
                  <a:srgbClr val="FFFFFF"/>
                </a:solidFill>
                <a:ea typeface="+mn-lt"/>
                <a:cs typeface="+mn-lt"/>
              </a:rPr>
              <a:t>, and offering</a:t>
            </a:r>
            <a:r>
              <a:rPr lang="en-US" sz="900" dirty="0">
                <a:solidFill>
                  <a:srgbClr val="FFFFFF"/>
                </a:solidFill>
                <a:ea typeface="+mn-lt"/>
                <a:cs typeface="+mn-lt"/>
              </a:rPr>
              <a:t> performance benefits that cannot be replicated.</a:t>
            </a:r>
          </a:p>
          <a:p>
            <a:r>
              <a:rPr lang="en-US" sz="900" dirty="0">
                <a:solidFill>
                  <a:srgbClr val="FFFFFF"/>
                </a:solidFill>
                <a:ea typeface="+mn-lt"/>
                <a:cs typeface="+mn-lt"/>
              </a:rPr>
              <a:t>-  </a:t>
            </a:r>
            <a:r>
              <a:rPr lang="en-US" sz="900" b="1" dirty="0">
                <a:solidFill>
                  <a:srgbClr val="FFFFFF"/>
                </a:solidFill>
                <a:ea typeface="+mn-lt"/>
                <a:cs typeface="+mn-lt"/>
              </a:rPr>
              <a:t>Reduce</a:t>
            </a:r>
            <a:r>
              <a:rPr lang="en-US" sz="900" dirty="0">
                <a:solidFill>
                  <a:srgbClr val="FFFFFF"/>
                </a:solidFill>
                <a:ea typeface="+mn-lt"/>
                <a:cs typeface="+mn-lt"/>
              </a:rPr>
              <a:t> </a:t>
            </a:r>
            <a:r>
              <a:rPr lang="en-US" sz="900" b="1" dirty="0">
                <a:solidFill>
                  <a:srgbClr val="FFFFFF"/>
                </a:solidFill>
                <a:ea typeface="+mn-lt"/>
                <a:cs typeface="+mn-lt"/>
              </a:rPr>
              <a:t>premium sneaker line releases</a:t>
            </a:r>
            <a:r>
              <a:rPr lang="en-US" sz="900" dirty="0">
                <a:solidFill>
                  <a:srgbClr val="FFFFFF"/>
                </a:solidFill>
                <a:ea typeface="+mn-lt"/>
                <a:cs typeface="+mn-lt"/>
              </a:rPr>
              <a:t> and concurrently</a:t>
            </a:r>
            <a:r>
              <a:rPr lang="en-US" sz="900" b="1" dirty="0">
                <a:solidFill>
                  <a:srgbClr val="FFFFFF"/>
                </a:solidFill>
                <a:ea typeface="+mn-lt"/>
                <a:cs typeface="+mn-lt"/>
              </a:rPr>
              <a:t> set dedicated teams at NSLR to shift focus</a:t>
            </a:r>
            <a:r>
              <a:rPr lang="en-US" sz="900" dirty="0">
                <a:solidFill>
                  <a:srgbClr val="FFFFFF"/>
                </a:solidFill>
                <a:ea typeface="+mn-lt"/>
                <a:cs typeface="+mn-lt"/>
              </a:rPr>
              <a:t> from being just a lifestyle shoe brand revamping old ideas, to</a:t>
            </a:r>
            <a:r>
              <a:rPr lang="en-US" sz="900" b="1" dirty="0">
                <a:solidFill>
                  <a:srgbClr val="FFFFFF"/>
                </a:solidFill>
                <a:ea typeface="+mn-lt"/>
                <a:cs typeface="+mn-lt"/>
              </a:rPr>
              <a:t> radically innovating performance shoes and invest in AI</a:t>
            </a:r>
          </a:p>
        </p:txBody>
      </p:sp>
      <p:sp>
        <p:nvSpPr>
          <p:cNvPr id="68" name="TextBox 67">
            <a:extLst>
              <a:ext uri="{FF2B5EF4-FFF2-40B4-BE49-F238E27FC236}">
                <a16:creationId xmlns:a16="http://schemas.microsoft.com/office/drawing/2014/main" id="{19FDAB77-5928-3FA6-8EC4-BD9B07020AF2}"/>
              </a:ext>
            </a:extLst>
          </p:cNvPr>
          <p:cNvSpPr txBox="1"/>
          <p:nvPr/>
        </p:nvSpPr>
        <p:spPr>
          <a:xfrm>
            <a:off x="8366562" y="4060105"/>
            <a:ext cx="3456322" cy="1892826"/>
          </a:xfrm>
          <a:prstGeom prst="rect">
            <a:avLst/>
          </a:prstGeom>
          <a:noFill/>
        </p:spPr>
        <p:txBody>
          <a:bodyPr wrap="square" lIns="91440" tIns="45720" rIns="91440" bIns="45720" rtlCol="0" anchor="t">
            <a:spAutoFit/>
          </a:bodyPr>
          <a:lstStyle/>
          <a:p>
            <a:pPr>
              <a:buFont typeface="Arial" panose="020B0604020202020204" pitchFamily="34" charset="0"/>
              <a:buChar char="•"/>
            </a:pPr>
            <a:r>
              <a:rPr lang="en-US" sz="900" dirty="0">
                <a:solidFill>
                  <a:srgbClr val="FFFFFF"/>
                </a:solidFill>
                <a:ea typeface="+mn-lt"/>
                <a:cs typeface="+mn-lt"/>
              </a:rPr>
              <a:t>. Integrate</a:t>
            </a:r>
            <a:r>
              <a:rPr lang="en-US" sz="900" b="1" dirty="0">
                <a:solidFill>
                  <a:srgbClr val="FFFFFF"/>
                </a:solidFill>
                <a:ea typeface="+mn-lt"/>
                <a:cs typeface="+mn-lt"/>
              </a:rPr>
              <a:t> sensors and AI i</a:t>
            </a:r>
            <a:r>
              <a:rPr lang="en-US" sz="900" dirty="0">
                <a:solidFill>
                  <a:srgbClr val="FFFFFF"/>
                </a:solidFill>
                <a:ea typeface="+mn-lt"/>
                <a:cs typeface="+mn-lt"/>
              </a:rPr>
              <a:t>nto performance shoes, tracking users’ health metrics, synced with mobile apps to</a:t>
            </a:r>
            <a:r>
              <a:rPr lang="en-US" sz="900" b="1" dirty="0">
                <a:solidFill>
                  <a:srgbClr val="FFFFFF"/>
                </a:solidFill>
                <a:ea typeface="+mn-lt"/>
                <a:cs typeface="+mn-lt"/>
              </a:rPr>
              <a:t> provide real time feedback</a:t>
            </a:r>
            <a:r>
              <a:rPr lang="en-US" sz="900" dirty="0">
                <a:solidFill>
                  <a:srgbClr val="FFFFFF"/>
                </a:solidFill>
                <a:ea typeface="+mn-lt"/>
                <a:cs typeface="+mn-lt"/>
              </a:rPr>
              <a:t>. Launch the Adapt series for all sports, integrating temperature adjustment, advanced biomechanics, dynamic cushioning and anti-fatigue designs.</a:t>
            </a:r>
            <a:endParaRPr lang="en-US" sz="900" dirty="0">
              <a:solidFill>
                <a:srgbClr val="FFFFFF"/>
              </a:solidFill>
              <a:ea typeface="Calibri"/>
              <a:cs typeface="Calibri"/>
            </a:endParaRPr>
          </a:p>
          <a:p>
            <a:pPr>
              <a:buFont typeface="Arial" panose="020B0604020202020204" pitchFamily="34" charset="0"/>
              <a:buChar char="•"/>
            </a:pPr>
            <a:r>
              <a:rPr lang="en-US" sz="900" dirty="0">
                <a:solidFill>
                  <a:srgbClr val="FFFFFF"/>
                </a:solidFill>
                <a:ea typeface="+mn-lt"/>
                <a:cs typeface="+mn-lt"/>
              </a:rPr>
              <a:t>  </a:t>
            </a:r>
            <a:r>
              <a:rPr lang="en-US" sz="900" b="1" dirty="0">
                <a:solidFill>
                  <a:srgbClr val="FFFFFF"/>
                </a:solidFill>
                <a:ea typeface="+mn-lt"/>
                <a:cs typeface="+mn-lt"/>
              </a:rPr>
              <a:t> Launch in-store 3D printing kiosks</a:t>
            </a:r>
            <a:r>
              <a:rPr lang="en-US" sz="900" dirty="0">
                <a:solidFill>
                  <a:srgbClr val="FFFFFF"/>
                </a:solidFill>
                <a:ea typeface="+mn-lt"/>
                <a:cs typeface="+mn-lt"/>
              </a:rPr>
              <a:t>, where users can design their shoes using sustainable materials and print footwear locally, </a:t>
            </a:r>
            <a:r>
              <a:rPr lang="en-US" sz="900" b="1" dirty="0">
                <a:solidFill>
                  <a:srgbClr val="FFFFFF"/>
                </a:solidFill>
                <a:ea typeface="+mn-lt"/>
                <a:cs typeface="+mn-lt"/>
              </a:rPr>
              <a:t>circumventing tariffs by shipping raw materials rather than finished products</a:t>
            </a:r>
            <a:r>
              <a:rPr lang="en-US" sz="900" dirty="0">
                <a:solidFill>
                  <a:srgbClr val="FFFFFF"/>
                </a:solidFill>
                <a:ea typeface="+mn-lt"/>
                <a:cs typeface="+mn-lt"/>
              </a:rPr>
              <a:t>, while personalizing shopping experience.</a:t>
            </a:r>
            <a:endParaRPr lang="en-US" sz="900" dirty="0">
              <a:solidFill>
                <a:srgbClr val="FFFFFF"/>
              </a:solidFill>
              <a:ea typeface="Calibri"/>
              <a:cs typeface="Calibri"/>
            </a:endParaRPr>
          </a:p>
          <a:p>
            <a:pPr>
              <a:buFont typeface="Arial" panose="020B0604020202020204" pitchFamily="34" charset="0"/>
              <a:buChar char="•"/>
            </a:pPr>
            <a:r>
              <a:rPr lang="en-US" sz="900" dirty="0">
                <a:solidFill>
                  <a:srgbClr val="FFFFFF"/>
                </a:solidFill>
                <a:ea typeface="+mn-lt"/>
                <a:cs typeface="+mn-lt"/>
              </a:rPr>
              <a:t>  </a:t>
            </a:r>
            <a:r>
              <a:rPr lang="en-US" sz="900" b="1" dirty="0">
                <a:solidFill>
                  <a:srgbClr val="FFFFFF"/>
                </a:solidFill>
                <a:ea typeface="+mn-lt"/>
                <a:cs typeface="+mn-lt"/>
              </a:rPr>
              <a:t> Launch Nike family,</a:t>
            </a:r>
            <a:r>
              <a:rPr lang="en-US" sz="900" dirty="0">
                <a:solidFill>
                  <a:srgbClr val="FFFFFF"/>
                </a:solidFill>
                <a:ea typeface="+mn-lt"/>
                <a:cs typeface="+mn-lt"/>
              </a:rPr>
              <a:t> an ecosystem where every shoe has built-in sensors that are integrated with an app, tracking performance on each footwear they own and provide rewards accordingly. The app will also log users’ entire N</a:t>
            </a:r>
            <a:r>
              <a:rPr lang="en-US" sz="900" b="1" dirty="0">
                <a:solidFill>
                  <a:srgbClr val="FFFFFF"/>
                </a:solidFill>
                <a:ea typeface="+mn-lt"/>
                <a:cs typeface="+mn-lt"/>
              </a:rPr>
              <a:t>ike journey,</a:t>
            </a:r>
            <a:r>
              <a:rPr lang="en-US" sz="900" dirty="0">
                <a:solidFill>
                  <a:srgbClr val="FFFFFF"/>
                </a:solidFill>
                <a:ea typeface="+mn-lt"/>
                <a:cs typeface="+mn-lt"/>
              </a:rPr>
              <a:t> personalizing their Nike  experience.</a:t>
            </a:r>
            <a:endParaRPr lang="en-US" sz="900" dirty="0">
              <a:solidFill>
                <a:srgbClr val="FFFFFF"/>
              </a:solidFill>
              <a:ea typeface="Calibri"/>
              <a:cs typeface="Calibri"/>
            </a:endParaRPr>
          </a:p>
        </p:txBody>
      </p:sp>
      <p:sp>
        <p:nvSpPr>
          <p:cNvPr id="69" name="Flowchart: Alternate Process 68">
            <a:extLst>
              <a:ext uri="{FF2B5EF4-FFF2-40B4-BE49-F238E27FC236}">
                <a16:creationId xmlns:a16="http://schemas.microsoft.com/office/drawing/2014/main" id="{A79ED77A-FA1C-7434-AA93-4E559BF38C15}"/>
              </a:ext>
            </a:extLst>
          </p:cNvPr>
          <p:cNvSpPr/>
          <p:nvPr/>
        </p:nvSpPr>
        <p:spPr>
          <a:xfrm>
            <a:off x="222505" y="6229221"/>
            <a:ext cx="3841948" cy="526406"/>
          </a:xfrm>
          <a:prstGeom prst="flowChartAlternateProcess">
            <a:avLst/>
          </a:prstGeom>
          <a:solidFill>
            <a:srgbClr val="31859C"/>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dirty="0">
                <a:solidFill>
                  <a:srgbClr val="FFFFFF"/>
                </a:solidFill>
                <a:ea typeface="+mn-lt"/>
                <a:cs typeface="+mn-lt"/>
              </a:rPr>
              <a:t>Accelerate authentication tech, sustainability efforts, create lost exclusivity, create a hybrid model and invest heavily on radical innovation.</a:t>
            </a:r>
            <a:endParaRPr lang="en-US" dirty="0">
              <a:solidFill>
                <a:srgbClr val="FFFFFF"/>
              </a:solidFill>
              <a:ea typeface="Calibri"/>
              <a:cs typeface="Calibri"/>
            </a:endParaRPr>
          </a:p>
        </p:txBody>
      </p:sp>
      <p:sp>
        <p:nvSpPr>
          <p:cNvPr id="70" name="TextBox 69">
            <a:extLst>
              <a:ext uri="{FF2B5EF4-FFF2-40B4-BE49-F238E27FC236}">
                <a16:creationId xmlns:a16="http://schemas.microsoft.com/office/drawing/2014/main" id="{7476E62B-AC93-74AB-AFC2-3B7D35D6BFB9}"/>
              </a:ext>
            </a:extLst>
          </p:cNvPr>
          <p:cNvSpPr txBox="1"/>
          <p:nvPr/>
        </p:nvSpPr>
        <p:spPr>
          <a:xfrm>
            <a:off x="4313653" y="4104741"/>
            <a:ext cx="367795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900" dirty="0">
                <a:solidFill>
                  <a:srgbClr val="FFFFFF"/>
                </a:solidFill>
                <a:ea typeface="+mn-lt"/>
                <a:cs typeface="+mn-lt"/>
              </a:rPr>
              <a:t>   Create AI driven tools at the NSLR with advanced </a:t>
            </a:r>
            <a:r>
              <a:rPr lang="en-US" sz="900" b="1" dirty="0">
                <a:solidFill>
                  <a:srgbClr val="FFFFFF"/>
                </a:solidFill>
                <a:ea typeface="+mn-lt"/>
                <a:cs typeface="+mn-lt"/>
              </a:rPr>
              <a:t>image recognition and pattern matching,</a:t>
            </a:r>
            <a:r>
              <a:rPr lang="en-US" sz="900" dirty="0">
                <a:solidFill>
                  <a:srgbClr val="FFFFFF"/>
                </a:solidFill>
                <a:ea typeface="+mn-lt"/>
                <a:cs typeface="+mn-lt"/>
              </a:rPr>
              <a:t> to scan various online platforms, to</a:t>
            </a:r>
            <a:r>
              <a:rPr lang="en-US" sz="900" b="1" dirty="0">
                <a:solidFill>
                  <a:srgbClr val="FFFFFF"/>
                </a:solidFill>
                <a:ea typeface="+mn-lt"/>
                <a:cs typeface="+mn-lt"/>
              </a:rPr>
              <a:t> identify unauthorized use of trademarks and counterfeit products.</a:t>
            </a:r>
          </a:p>
          <a:p>
            <a:pPr>
              <a:buFont typeface="Arial"/>
              <a:buChar char="•"/>
            </a:pPr>
            <a:r>
              <a:rPr lang="en-US" sz="900" dirty="0">
                <a:solidFill>
                  <a:srgbClr val="FFFFFF"/>
                </a:solidFill>
                <a:ea typeface="+mn-lt"/>
                <a:cs typeface="+mn-lt"/>
              </a:rPr>
              <a:t>   With its </a:t>
            </a:r>
            <a:r>
              <a:rPr lang="en-US" sz="900" b="1" dirty="0">
                <a:solidFill>
                  <a:srgbClr val="FFFFFF"/>
                </a:solidFill>
                <a:ea typeface="+mn-lt"/>
                <a:cs typeface="+mn-lt"/>
              </a:rPr>
              <a:t>D2C channels, develop custom generative AI model</a:t>
            </a:r>
            <a:r>
              <a:rPr lang="en-US" sz="900" dirty="0">
                <a:solidFill>
                  <a:srgbClr val="FFFFFF"/>
                </a:solidFill>
                <a:ea typeface="+mn-lt"/>
                <a:cs typeface="+mn-lt"/>
              </a:rPr>
              <a:t> to optimize operations, create </a:t>
            </a:r>
            <a:r>
              <a:rPr lang="en-US" sz="900" b="1" dirty="0">
                <a:solidFill>
                  <a:srgbClr val="FFFFFF"/>
                </a:solidFill>
                <a:ea typeface="+mn-lt"/>
                <a:cs typeface="+mn-lt"/>
              </a:rPr>
              <a:t>disruptive footwear innovations </a:t>
            </a:r>
            <a:r>
              <a:rPr lang="en-US" sz="900" dirty="0">
                <a:solidFill>
                  <a:srgbClr val="FFFFFF"/>
                </a:solidFill>
                <a:ea typeface="+mn-lt"/>
                <a:cs typeface="+mn-lt"/>
              </a:rPr>
              <a:t>and importantly build </a:t>
            </a:r>
            <a:r>
              <a:rPr lang="en-US" sz="900" b="1" dirty="0">
                <a:solidFill>
                  <a:srgbClr val="FFFFFF"/>
                </a:solidFill>
                <a:ea typeface="+mn-lt"/>
                <a:cs typeface="+mn-lt"/>
              </a:rPr>
              <a:t>community building experiences </a:t>
            </a:r>
            <a:r>
              <a:rPr lang="en-US" sz="900" dirty="0">
                <a:solidFill>
                  <a:srgbClr val="FFFFFF"/>
                </a:solidFill>
                <a:ea typeface="+mn-lt"/>
                <a:cs typeface="+mn-lt"/>
              </a:rPr>
              <a:t>based on preferences observed in geographical regions using extensive analytics. </a:t>
            </a:r>
          </a:p>
          <a:p>
            <a:pPr>
              <a:buFont typeface="Arial"/>
              <a:buChar char="•"/>
            </a:pPr>
            <a:r>
              <a:rPr lang="en-US" sz="900" dirty="0">
                <a:solidFill>
                  <a:srgbClr val="FFFFFF"/>
                </a:solidFill>
                <a:ea typeface="+mn-lt"/>
                <a:cs typeface="+mn-lt"/>
              </a:rPr>
              <a:t>   Enhancing its </a:t>
            </a:r>
            <a:r>
              <a:rPr lang="en-US" sz="900" b="1" dirty="0">
                <a:solidFill>
                  <a:srgbClr val="FFFFFF"/>
                </a:solidFill>
                <a:ea typeface="+mn-lt"/>
                <a:cs typeface="+mn-lt"/>
              </a:rPr>
              <a:t>AIR(Athlete Imagined Revolution) </a:t>
            </a:r>
            <a:r>
              <a:rPr lang="en-US" sz="900" dirty="0">
                <a:solidFill>
                  <a:srgbClr val="FFFFFF"/>
                </a:solidFill>
                <a:ea typeface="+mn-lt"/>
                <a:cs typeface="+mn-lt"/>
              </a:rPr>
              <a:t>initiatives using Gen AI to</a:t>
            </a:r>
            <a:r>
              <a:rPr lang="en-US" sz="900" b="1" dirty="0">
                <a:solidFill>
                  <a:srgbClr val="FFFFFF"/>
                </a:solidFill>
                <a:ea typeface="+mn-lt"/>
                <a:cs typeface="+mn-lt"/>
              </a:rPr>
              <a:t> personalize footwear for partnered athletes and reflect on consumer footwear.</a:t>
            </a:r>
            <a:endParaRPr lang="en-US" sz="900" dirty="0">
              <a:solidFill>
                <a:srgbClr val="FFFFFF"/>
              </a:solidFill>
              <a:ea typeface="Calibri"/>
              <a:cs typeface="Calibri"/>
            </a:endParaRPr>
          </a:p>
          <a:p>
            <a:r>
              <a:rPr lang="en-US" sz="900" dirty="0">
                <a:solidFill>
                  <a:srgbClr val="FFFFFF"/>
                </a:solidFill>
                <a:ea typeface="+mn-lt"/>
                <a:cs typeface="+mn-lt"/>
              </a:rPr>
              <a:t> </a:t>
            </a:r>
            <a:r>
              <a:rPr lang="en-US" sz="900" b="1" dirty="0">
                <a:solidFill>
                  <a:srgbClr val="FFFFFF"/>
                </a:solidFill>
                <a:ea typeface="+mn-lt"/>
                <a:cs typeface="+mn-lt"/>
              </a:rPr>
              <a:t>-   </a:t>
            </a:r>
            <a:r>
              <a:rPr lang="en-US" sz="900" dirty="0">
                <a:solidFill>
                  <a:srgbClr val="FFFFFF"/>
                </a:solidFill>
                <a:ea typeface="+mn-lt"/>
                <a:cs typeface="+mn-lt"/>
              </a:rPr>
              <a:t>Develop</a:t>
            </a:r>
            <a:r>
              <a:rPr lang="en-US" sz="900" b="1" dirty="0">
                <a:solidFill>
                  <a:srgbClr val="FFFFFF"/>
                </a:solidFill>
                <a:ea typeface="+mn-lt"/>
                <a:cs typeface="+mn-lt"/>
              </a:rPr>
              <a:t> purpose-driven, bold marketing campaigns,</a:t>
            </a:r>
            <a:r>
              <a:rPr lang="en-US" sz="900" dirty="0">
                <a:solidFill>
                  <a:srgbClr val="FFFFFF"/>
                </a:solidFill>
                <a:ea typeface="+mn-lt"/>
                <a:cs typeface="+mn-lt"/>
              </a:rPr>
              <a:t> promoting their </a:t>
            </a:r>
            <a:r>
              <a:rPr lang="en-US" sz="900" b="1" dirty="0">
                <a:solidFill>
                  <a:srgbClr val="FFFFFF"/>
                </a:solidFill>
                <a:ea typeface="+mn-lt"/>
                <a:cs typeface="+mn-lt"/>
              </a:rPr>
              <a:t>causes, alongside achievement of sustainability goals </a:t>
            </a:r>
            <a:r>
              <a:rPr lang="en-US" sz="900" dirty="0">
                <a:solidFill>
                  <a:srgbClr val="FFFFFF"/>
                </a:solidFill>
                <a:ea typeface="+mn-lt"/>
                <a:cs typeface="+mn-lt"/>
              </a:rPr>
              <a:t>and provide </a:t>
            </a:r>
            <a:r>
              <a:rPr lang="en-US" sz="900" b="1" dirty="0">
                <a:solidFill>
                  <a:srgbClr val="FFFFFF"/>
                </a:solidFill>
                <a:ea typeface="+mn-lt"/>
                <a:cs typeface="+mn-lt"/>
              </a:rPr>
              <a:t>transparency</a:t>
            </a:r>
            <a:r>
              <a:rPr lang="en-US" sz="900" dirty="0">
                <a:solidFill>
                  <a:srgbClr val="FFFFFF"/>
                </a:solidFill>
                <a:ea typeface="+mn-lt"/>
                <a:cs typeface="+mn-lt"/>
              </a:rPr>
              <a:t> in production methods</a:t>
            </a:r>
          </a:p>
          <a:p>
            <a:pPr marL="171450" indent="-171450">
              <a:buFont typeface="Arial"/>
              <a:buChar char="•"/>
            </a:pPr>
            <a:endParaRPr lang="en-US" sz="900" dirty="0">
              <a:solidFill>
                <a:srgbClr val="FFFFFF"/>
              </a:solidFill>
              <a:ea typeface="+mn-lt"/>
              <a:cs typeface="+mn-lt"/>
            </a:endParaRPr>
          </a:p>
        </p:txBody>
      </p:sp>
      <p:sp>
        <p:nvSpPr>
          <p:cNvPr id="71" name="Flowchart: Alternate Process 70">
            <a:extLst>
              <a:ext uri="{FF2B5EF4-FFF2-40B4-BE49-F238E27FC236}">
                <a16:creationId xmlns:a16="http://schemas.microsoft.com/office/drawing/2014/main" id="{583E348D-CF92-A753-2893-ED66F18B0F4A}"/>
              </a:ext>
            </a:extLst>
          </p:cNvPr>
          <p:cNvSpPr/>
          <p:nvPr/>
        </p:nvSpPr>
        <p:spPr>
          <a:xfrm>
            <a:off x="4202336" y="6220390"/>
            <a:ext cx="3841948" cy="526406"/>
          </a:xfrm>
          <a:prstGeom prst="flowChartAlternateProcess">
            <a:avLst/>
          </a:prstGeom>
          <a:solidFill>
            <a:srgbClr val="31859C"/>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dirty="0">
                <a:solidFill>
                  <a:srgbClr val="FFFFFF"/>
                </a:solidFill>
                <a:ea typeface="+mn-lt"/>
                <a:cs typeface="+mn-lt"/>
              </a:rPr>
              <a:t>Create AI tools to combat counterfeits, develop sustainable product designs, personalize footwear for athletes, and promote transparency in sustainability.</a:t>
            </a:r>
            <a:endParaRPr lang="en-US" dirty="0">
              <a:solidFill>
                <a:srgbClr val="FFFFFF"/>
              </a:solidFill>
            </a:endParaRPr>
          </a:p>
        </p:txBody>
      </p:sp>
      <p:sp>
        <p:nvSpPr>
          <p:cNvPr id="4" name="Flowchart: Alternate Process 3">
            <a:extLst>
              <a:ext uri="{FF2B5EF4-FFF2-40B4-BE49-F238E27FC236}">
                <a16:creationId xmlns:a16="http://schemas.microsoft.com/office/drawing/2014/main" id="{E8AAD68A-6B1C-5832-DA61-42060C3FDDE6}"/>
              </a:ext>
            </a:extLst>
          </p:cNvPr>
          <p:cNvSpPr/>
          <p:nvPr/>
        </p:nvSpPr>
        <p:spPr>
          <a:xfrm>
            <a:off x="8176831" y="6196199"/>
            <a:ext cx="3841948" cy="526406"/>
          </a:xfrm>
          <a:prstGeom prst="flowChartAlternateProcess">
            <a:avLst/>
          </a:prstGeom>
          <a:solidFill>
            <a:srgbClr val="31859C"/>
          </a:solidFill>
          <a:ln w="28575">
            <a:solidFill>
              <a:srgbClr val="7E2B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z="1100" dirty="0">
              <a:solidFill>
                <a:srgbClr val="FFFFFF"/>
              </a:solidFill>
              <a:ea typeface="Calibri"/>
              <a:cs typeface="Calibri"/>
            </a:endParaRPr>
          </a:p>
          <a:p>
            <a:pPr algn="ctr">
              <a:defRPr/>
            </a:pPr>
            <a:r>
              <a:rPr lang="en-US" sz="1100" dirty="0">
                <a:solidFill>
                  <a:srgbClr val="FFFFFF"/>
                </a:solidFill>
                <a:ea typeface="Calibri"/>
                <a:cs typeface="Calibri"/>
              </a:rPr>
              <a:t>Invest in its D2C channels again by integrating AI and sensors in footwear, launch in-store 3D printing kiosks, and create a personalized ecosystem tracking user performance.</a:t>
            </a:r>
            <a:endParaRPr lang="en-US" dirty="0">
              <a:solidFill>
                <a:srgbClr val="FFFFFF"/>
              </a:solidFill>
            </a:endParaRPr>
          </a:p>
          <a:p>
            <a:pPr algn="ctr">
              <a:defRPr/>
            </a:pPr>
            <a:endParaRPr lang="en-US" sz="1100" dirty="0">
              <a:solidFill>
                <a:srgbClr val="FFFFFF"/>
              </a:solidFill>
              <a:ea typeface="Calibri"/>
              <a:cs typeface="Calibri"/>
            </a:endParaRPr>
          </a:p>
        </p:txBody>
      </p:sp>
      <p:sp>
        <p:nvSpPr>
          <p:cNvPr id="5" name="Flowchart: Alternate Process 4">
            <a:extLst>
              <a:ext uri="{FF2B5EF4-FFF2-40B4-BE49-F238E27FC236}">
                <a16:creationId xmlns:a16="http://schemas.microsoft.com/office/drawing/2014/main" id="{EB2F3D5A-91E7-964C-BE0D-4252A3678E53}"/>
              </a:ext>
            </a:extLst>
          </p:cNvPr>
          <p:cNvSpPr/>
          <p:nvPr/>
        </p:nvSpPr>
        <p:spPr>
          <a:xfrm>
            <a:off x="820463" y="1285518"/>
            <a:ext cx="2921880" cy="1482377"/>
          </a:xfrm>
          <a:prstGeom prst="flowChartAlternateProcess">
            <a:avLst/>
          </a:prstGeom>
          <a:solidFill>
            <a:srgbClr val="31859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a:buChar char="•"/>
              <a:defRPr/>
            </a:pPr>
            <a:r>
              <a:rPr lang="en-US" sz="1100" b="1" dirty="0">
                <a:solidFill>
                  <a:srgbClr val="FFFFFF"/>
                </a:solidFill>
                <a:ea typeface="Calibri"/>
                <a:cs typeface="Calibri"/>
              </a:rPr>
              <a:t>Scale-up 3D printing, automation and sustainability efforts</a:t>
            </a:r>
            <a:endParaRPr lang="en-US">
              <a:solidFill>
                <a:srgbClr val="FFFFFF"/>
              </a:solidFill>
              <a:ea typeface="Calibri"/>
              <a:cs typeface="Calibri"/>
            </a:endParaRPr>
          </a:p>
          <a:p>
            <a:pPr marL="171450" indent="-171450">
              <a:buFont typeface="Arial"/>
              <a:buChar char="•"/>
              <a:defRPr/>
            </a:pPr>
            <a:r>
              <a:rPr lang="en-US" sz="1100" b="1" dirty="0">
                <a:solidFill>
                  <a:srgbClr val="FFFFFF"/>
                </a:solidFill>
                <a:ea typeface="Calibri"/>
                <a:cs typeface="Calibri"/>
              </a:rPr>
              <a:t>Hybrid model of D2C channels and wholesalers</a:t>
            </a:r>
          </a:p>
          <a:p>
            <a:pPr marL="171450" indent="-171450">
              <a:buFont typeface="Arial"/>
              <a:buChar char="•"/>
              <a:defRPr/>
            </a:pPr>
            <a:r>
              <a:rPr lang="en-US" sz="1100" b="1" dirty="0">
                <a:solidFill>
                  <a:srgbClr val="FFFFFF"/>
                </a:solidFill>
                <a:ea typeface="+mn-lt"/>
                <a:cs typeface="+mn-lt"/>
              </a:rPr>
              <a:t>Blockchain security meets inimitable design</a:t>
            </a:r>
          </a:p>
          <a:p>
            <a:pPr marL="171450" indent="-171450">
              <a:buFont typeface="Arial"/>
              <a:buChar char="•"/>
              <a:defRPr/>
            </a:pPr>
            <a:r>
              <a:rPr lang="en-US" sz="1100" b="1" dirty="0">
                <a:solidFill>
                  <a:srgbClr val="FFFFFF"/>
                </a:solidFill>
                <a:ea typeface="+mn-lt"/>
                <a:cs typeface="+mn-lt"/>
              </a:rPr>
              <a:t>Create exclusivity and radicalize innovation</a:t>
            </a:r>
          </a:p>
        </p:txBody>
      </p:sp>
      <p:sp>
        <p:nvSpPr>
          <p:cNvPr id="6" name="TextBox 2">
            <a:extLst>
              <a:ext uri="{FF2B5EF4-FFF2-40B4-BE49-F238E27FC236}">
                <a16:creationId xmlns:a16="http://schemas.microsoft.com/office/drawing/2014/main" id="{6E8B97D6-E718-9C1F-DA20-1E290BCF9478}"/>
              </a:ext>
            </a:extLst>
          </p:cNvPr>
          <p:cNvSpPr txBox="1"/>
          <p:nvPr/>
        </p:nvSpPr>
        <p:spPr>
          <a:xfrm>
            <a:off x="320335" y="127521"/>
            <a:ext cx="11607520" cy="553998"/>
          </a:xfrm>
          <a:prstGeom prst="rect">
            <a:avLst/>
          </a:prstGeom>
        </p:spPr>
        <p:txBody>
          <a:bodyPr wrap="square" lIns="0" tIns="0" rIns="0" bIns="0" rtlCol="0" anchor="t">
            <a:spAutoFit/>
          </a:bodyPr>
          <a:lstStyle/>
          <a:p>
            <a:pPr defTabSz="609630">
              <a:defRPr/>
            </a:pPr>
            <a:r>
              <a:rPr lang="en-US" b="1" dirty="0">
                <a:solidFill>
                  <a:srgbClr val="FFFFFF"/>
                </a:solidFill>
                <a:ea typeface="+mn-lt"/>
                <a:cs typeface="+mn-lt"/>
              </a:rPr>
              <a:t>Nike’s strategy focuses on optimizing supply chains, innovating through AI and technology, revolutionizing sustainability, and personalizing consumer experiences across three strategic horizons.</a:t>
            </a:r>
            <a:endParaRPr lang="en-US" b="1">
              <a:ea typeface="+mn-lt"/>
              <a:cs typeface="+mn-lt"/>
            </a:endParaRPr>
          </a:p>
        </p:txBody>
      </p:sp>
      <p:sp>
        <p:nvSpPr>
          <p:cNvPr id="8" name="TextBox 7">
            <a:extLst>
              <a:ext uri="{FF2B5EF4-FFF2-40B4-BE49-F238E27FC236}">
                <a16:creationId xmlns:a16="http://schemas.microsoft.com/office/drawing/2014/main" id="{E21895E2-CC76-8D8E-055F-93E7052F4C4F}"/>
              </a:ext>
            </a:extLst>
          </p:cNvPr>
          <p:cNvSpPr txBox="1"/>
          <p:nvPr/>
        </p:nvSpPr>
        <p:spPr>
          <a:xfrm>
            <a:off x="10924856" y="3597379"/>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ptos" panose="02110004020202020204"/>
                <a:ea typeface="+mn-ea"/>
                <a:cs typeface="+mn-cs"/>
              </a:rPr>
              <a:t>Time</a:t>
            </a:r>
            <a:endParaRPr kumimoji="0" lang="en-US" sz="1100" b="1" i="0" u="none" strike="noStrike" kern="1200" cap="none" spc="0" normalizeH="0" baseline="0" noProof="0" dirty="0">
              <a:ln>
                <a:noFill/>
              </a:ln>
              <a:solidFill>
                <a:srgbClr val="FFFFFF"/>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1E440334-0E74-9715-B43E-354F67024FB5}"/>
              </a:ext>
            </a:extLst>
          </p:cNvPr>
          <p:cNvSpPr/>
          <p:nvPr/>
        </p:nvSpPr>
        <p:spPr>
          <a:xfrm>
            <a:off x="351484" y="5982080"/>
            <a:ext cx="11571636" cy="2277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FFFF"/>
                </a:solidFill>
              </a:rPr>
              <a:t>CAPABILITY BUILDING</a:t>
            </a:r>
          </a:p>
        </p:txBody>
      </p:sp>
      <p:cxnSp>
        <p:nvCxnSpPr>
          <p:cNvPr id="10" name="Straight Arrow Connector 9">
            <a:extLst>
              <a:ext uri="{FF2B5EF4-FFF2-40B4-BE49-F238E27FC236}">
                <a16:creationId xmlns:a16="http://schemas.microsoft.com/office/drawing/2014/main" id="{D884E4E0-8F06-6B66-4AE2-CA36AD50A6F3}"/>
              </a:ext>
            </a:extLst>
          </p:cNvPr>
          <p:cNvCxnSpPr>
            <a:cxnSpLocks/>
            <a:endCxn id="9" idx="3"/>
          </p:cNvCxnSpPr>
          <p:nvPr/>
        </p:nvCxnSpPr>
        <p:spPr>
          <a:xfrm>
            <a:off x="6889977" y="6095749"/>
            <a:ext cx="5033143" cy="192"/>
          </a:xfrm>
          <a:prstGeom prst="straightConnector1">
            <a:avLst/>
          </a:prstGeom>
          <a:ln>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3CE33240-5455-6AF4-8632-D1CB74E3F627}"/>
              </a:ext>
            </a:extLst>
          </p:cNvPr>
          <p:cNvCxnSpPr>
            <a:cxnSpLocks/>
          </p:cNvCxnSpPr>
          <p:nvPr/>
        </p:nvCxnSpPr>
        <p:spPr>
          <a:xfrm flipH="1">
            <a:off x="247765" y="6102117"/>
            <a:ext cx="5140312" cy="0"/>
          </a:xfrm>
          <a:prstGeom prst="straightConnector1">
            <a:avLst/>
          </a:prstGeom>
          <a:ln>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1687442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47F347B2-60E9-B8C4-883B-F7BDB3AB272E}"/>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7F4E7556-7E01-03CF-EC94-919542F14744}"/>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23765589-50F8-CA33-5539-9D1462C86EFE}"/>
              </a:ext>
            </a:extLst>
          </p:cNvPr>
          <p:cNvSpPr txBox="1"/>
          <p:nvPr/>
        </p:nvSpPr>
        <p:spPr>
          <a:xfrm>
            <a:off x="145393" y="2806080"/>
            <a:ext cx="1164823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000" b="1" dirty="0">
                <a:solidFill>
                  <a:schemeClr val="bg1"/>
                </a:solidFill>
                <a:ea typeface="+mn-lt"/>
                <a:cs typeface="+mn-lt"/>
              </a:rPr>
              <a:t>APPENDIX</a:t>
            </a:r>
            <a:endParaRPr lang="en-US" sz="6000" b="1" dirty="0">
              <a:solidFill>
                <a:schemeClr val="bg1"/>
              </a:solidFill>
              <a:ea typeface="Calibri"/>
              <a:cs typeface="Calibri"/>
            </a:endParaRPr>
          </a:p>
        </p:txBody>
      </p:sp>
    </p:spTree>
    <p:extLst>
      <p:ext uri="{BB962C8B-B14F-4D97-AF65-F5344CB8AC3E}">
        <p14:creationId xmlns:p14="http://schemas.microsoft.com/office/powerpoint/2010/main" val="1471449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885DEF59-8F4C-17C1-A563-6C578B77C600}"/>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0FF78F6C-E3E6-1B6C-5B79-45BB8A963A09}"/>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sp>
        <p:nvSpPr>
          <p:cNvPr id="73" name="Triangle">
            <a:extLst>
              <a:ext uri="{FF2B5EF4-FFF2-40B4-BE49-F238E27FC236}">
                <a16:creationId xmlns:a16="http://schemas.microsoft.com/office/drawing/2014/main" id="{DF37709A-A3BB-8187-6827-270DE15DE197}"/>
              </a:ext>
            </a:extLst>
          </p:cNvPr>
          <p:cNvSpPr/>
          <p:nvPr/>
        </p:nvSpPr>
        <p:spPr>
          <a:xfrm>
            <a:off x="2417322" y="651114"/>
            <a:ext cx="1699485" cy="280000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0793"/>
                </a:lnTo>
                <a:lnTo>
                  <a:pt x="0" y="0"/>
                </a:lnTo>
                <a:close/>
              </a:path>
            </a:pathLst>
          </a:custGeom>
          <a:solidFill>
            <a:srgbClr val="C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4" name="Triangle">
            <a:extLst>
              <a:ext uri="{FF2B5EF4-FFF2-40B4-BE49-F238E27FC236}">
                <a16:creationId xmlns:a16="http://schemas.microsoft.com/office/drawing/2014/main" id="{1A0BB487-66C9-D1C1-C880-416ED1635B4F}"/>
              </a:ext>
            </a:extLst>
          </p:cNvPr>
          <p:cNvSpPr/>
          <p:nvPr/>
        </p:nvSpPr>
        <p:spPr>
          <a:xfrm>
            <a:off x="7627110" y="651115"/>
            <a:ext cx="1695284" cy="2800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793"/>
                </a:lnTo>
                <a:lnTo>
                  <a:pt x="21600" y="21600"/>
                </a:lnTo>
                <a:close/>
              </a:path>
            </a:pathLst>
          </a:custGeom>
          <a:solidFill>
            <a:schemeClr val="tx2">
              <a:lumMod val="75000"/>
              <a:lumOff val="25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25">
            <a:extLst>
              <a:ext uri="{FF2B5EF4-FFF2-40B4-BE49-F238E27FC236}">
                <a16:creationId xmlns:a16="http://schemas.microsoft.com/office/drawing/2014/main" id="{DBCE71A5-844D-158F-E0B8-0EACE48AE486}"/>
              </a:ext>
            </a:extLst>
          </p:cNvPr>
          <p:cNvSpPr txBox="1"/>
          <p:nvPr/>
        </p:nvSpPr>
        <p:spPr>
          <a:xfrm>
            <a:off x="8027661" y="1653480"/>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FFFFFF"/>
                </a:solidFill>
                <a:latin typeface="Calibri" panose="020F0502020204030204"/>
                <a:cs typeface="Calibri"/>
              </a:rPr>
              <a:t>Counterfeit Production Decreased</a:t>
            </a:r>
            <a:endParaRPr lang="en-US" dirty="0">
              <a:solidFill>
                <a:srgbClr val="FFFFFF"/>
              </a:solidFill>
            </a:endParaRPr>
          </a:p>
        </p:txBody>
      </p:sp>
      <p:cxnSp>
        <p:nvCxnSpPr>
          <p:cNvPr id="98" name="Straight Arrow Connector 97">
            <a:extLst>
              <a:ext uri="{FF2B5EF4-FFF2-40B4-BE49-F238E27FC236}">
                <a16:creationId xmlns:a16="http://schemas.microsoft.com/office/drawing/2014/main" id="{C5B4AFDE-9087-3BBC-9DBE-35A3D99B623B}"/>
              </a:ext>
            </a:extLst>
          </p:cNvPr>
          <p:cNvCxnSpPr>
            <a:cxnSpLocks/>
          </p:cNvCxnSpPr>
          <p:nvPr/>
        </p:nvCxnSpPr>
        <p:spPr>
          <a:xfrm>
            <a:off x="4116807" y="2062313"/>
            <a:ext cx="3510303" cy="0"/>
          </a:xfrm>
          <a:prstGeom prst="straightConnector1">
            <a:avLst/>
          </a:prstGeom>
          <a:ln w="38100">
            <a:solidFill>
              <a:srgbClr val="4472C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9" name="TextBox 25">
            <a:extLst>
              <a:ext uri="{FF2B5EF4-FFF2-40B4-BE49-F238E27FC236}">
                <a16:creationId xmlns:a16="http://schemas.microsoft.com/office/drawing/2014/main" id="{6FDA8A99-3C6F-0C48-B483-6FFEB2FD2D2B}"/>
              </a:ext>
            </a:extLst>
          </p:cNvPr>
          <p:cNvSpPr txBox="1"/>
          <p:nvPr/>
        </p:nvSpPr>
        <p:spPr>
          <a:xfrm>
            <a:off x="2415088" y="1640112"/>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FFFFFF"/>
                </a:solidFill>
                <a:latin typeface="Calibri" panose="020F0502020204030204"/>
                <a:ea typeface="Calibri"/>
                <a:cs typeface="Calibri"/>
              </a:rPr>
              <a:t>Counterfeit Production Increased</a:t>
            </a:r>
          </a:p>
        </p:txBody>
      </p:sp>
      <p:sp>
        <p:nvSpPr>
          <p:cNvPr id="101" name="TextBox 25">
            <a:extLst>
              <a:ext uri="{FF2B5EF4-FFF2-40B4-BE49-F238E27FC236}">
                <a16:creationId xmlns:a16="http://schemas.microsoft.com/office/drawing/2014/main" id="{16815542-7876-ECB4-893A-22B12A05D01A}"/>
              </a:ext>
            </a:extLst>
          </p:cNvPr>
          <p:cNvSpPr txBox="1"/>
          <p:nvPr/>
        </p:nvSpPr>
        <p:spPr>
          <a:xfrm>
            <a:off x="4472885" y="1703685"/>
            <a:ext cx="2752514" cy="338554"/>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FFFFFF"/>
                </a:solidFill>
                <a:latin typeface="Calibri" panose="020F0502020204030204"/>
              </a:rPr>
              <a:t>Counterfeit Production</a:t>
            </a:r>
            <a:endParaRPr lang="en-US" dirty="0">
              <a:solidFill>
                <a:srgbClr val="FFFFFF"/>
              </a:solidFill>
            </a:endParaRPr>
          </a:p>
        </p:txBody>
      </p:sp>
      <p:sp>
        <p:nvSpPr>
          <p:cNvPr id="102" name="Rectangle 101">
            <a:extLst>
              <a:ext uri="{FF2B5EF4-FFF2-40B4-BE49-F238E27FC236}">
                <a16:creationId xmlns:a16="http://schemas.microsoft.com/office/drawing/2014/main" id="{3F0E67C1-C402-4ABC-F8EB-FA35950A4AB1}"/>
              </a:ext>
            </a:extLst>
          </p:cNvPr>
          <p:cNvSpPr/>
          <p:nvPr/>
        </p:nvSpPr>
        <p:spPr>
          <a:xfrm>
            <a:off x="9335796" y="651114"/>
            <a:ext cx="2290267" cy="2768693"/>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rgbClr val="FFFFFF"/>
                </a:solidFill>
                <a:cs typeface="Calibri"/>
              </a:rPr>
              <a:t>Through tightened security and regulations, counterfeits decrease. This increases the industry value, helping companies invest heavily in R&amp;D while leading to healthy competition</a:t>
            </a:r>
            <a:r>
              <a:rPr lang="en-US" sz="1100" dirty="0">
                <a:solidFill>
                  <a:srgbClr val="FFFFFF"/>
                </a:solidFill>
                <a:cs typeface="Calibri"/>
              </a:rPr>
              <a:t>.</a:t>
            </a:r>
            <a:endParaRPr lang="en-US" sz="1100" dirty="0">
              <a:solidFill>
                <a:srgbClr val="FFFFFF"/>
              </a:solidFill>
            </a:endParaRPr>
          </a:p>
        </p:txBody>
      </p:sp>
      <p:sp>
        <p:nvSpPr>
          <p:cNvPr id="103" name="Rectangle 102">
            <a:extLst>
              <a:ext uri="{FF2B5EF4-FFF2-40B4-BE49-F238E27FC236}">
                <a16:creationId xmlns:a16="http://schemas.microsoft.com/office/drawing/2014/main" id="{F0762D60-6769-CA30-430C-3A5AE8CFEFCC}"/>
              </a:ext>
            </a:extLst>
          </p:cNvPr>
          <p:cNvSpPr/>
          <p:nvPr/>
        </p:nvSpPr>
        <p:spPr>
          <a:xfrm>
            <a:off x="259306" y="648320"/>
            <a:ext cx="2127457" cy="277148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rgbClr val="FFFFFF"/>
                </a:solidFill>
                <a:ea typeface="+mn-lt"/>
                <a:cs typeface="+mn-lt"/>
              </a:rPr>
              <a:t>Counterfeiters sell cheap footwear that is indistinguishable from expensive, branded sneakers, through complex distribution networks. Companies reduce cost, seek sustainability to differentiate and invest in inimitable authentication technologies.</a:t>
            </a:r>
            <a:endParaRPr lang="en-US" dirty="0">
              <a:solidFill>
                <a:srgbClr val="FFFFFF"/>
              </a:solidFill>
              <a:ea typeface="+mn-lt"/>
              <a:cs typeface="+mn-lt"/>
            </a:endParaRPr>
          </a:p>
          <a:p>
            <a:pPr algn="ctr"/>
            <a:endParaRPr lang="en-US" sz="1400" dirty="0">
              <a:solidFill>
                <a:srgbClr val="FFFFFF"/>
              </a:solidFill>
              <a:ea typeface="Calibri"/>
              <a:cs typeface="Calibri"/>
            </a:endParaRPr>
          </a:p>
        </p:txBody>
      </p:sp>
      <p:sp>
        <p:nvSpPr>
          <p:cNvPr id="5" name="Triangle">
            <a:extLst>
              <a:ext uri="{FF2B5EF4-FFF2-40B4-BE49-F238E27FC236}">
                <a16:creationId xmlns:a16="http://schemas.microsoft.com/office/drawing/2014/main" id="{FB577576-2EB2-01BF-9A1D-36727233E97F}"/>
              </a:ext>
            </a:extLst>
          </p:cNvPr>
          <p:cNvSpPr/>
          <p:nvPr/>
        </p:nvSpPr>
        <p:spPr>
          <a:xfrm>
            <a:off x="2417322" y="3645036"/>
            <a:ext cx="1699485" cy="280000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0793"/>
                </a:lnTo>
                <a:lnTo>
                  <a:pt x="0" y="0"/>
                </a:lnTo>
                <a:close/>
              </a:path>
            </a:pathLst>
          </a:custGeom>
          <a:solidFill>
            <a:srgbClr val="C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Triangle">
            <a:extLst>
              <a:ext uri="{FF2B5EF4-FFF2-40B4-BE49-F238E27FC236}">
                <a16:creationId xmlns:a16="http://schemas.microsoft.com/office/drawing/2014/main" id="{3D0165EA-BBEF-9971-7C15-43E3FBF4823B}"/>
              </a:ext>
            </a:extLst>
          </p:cNvPr>
          <p:cNvSpPr/>
          <p:nvPr/>
        </p:nvSpPr>
        <p:spPr>
          <a:xfrm>
            <a:off x="7627110" y="3645037"/>
            <a:ext cx="1695284" cy="2800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793"/>
                </a:lnTo>
                <a:lnTo>
                  <a:pt x="21600" y="21600"/>
                </a:lnTo>
                <a:close/>
              </a:path>
            </a:pathLst>
          </a:custGeom>
          <a:solidFill>
            <a:schemeClr val="tx2">
              <a:lumMod val="75000"/>
              <a:lumOff val="25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25">
            <a:extLst>
              <a:ext uri="{FF2B5EF4-FFF2-40B4-BE49-F238E27FC236}">
                <a16:creationId xmlns:a16="http://schemas.microsoft.com/office/drawing/2014/main" id="{730F8E8E-33B8-4BC8-0DC6-8E9505AAEF01}"/>
              </a:ext>
            </a:extLst>
          </p:cNvPr>
          <p:cNvSpPr txBox="1"/>
          <p:nvPr/>
        </p:nvSpPr>
        <p:spPr>
          <a:xfrm>
            <a:off x="8034096" y="4885595"/>
            <a:ext cx="1254628" cy="584775"/>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FFFFFF"/>
                </a:solidFill>
                <a:latin typeface="Calibri" panose="020F0502020204030204"/>
                <a:cs typeface="Calibri"/>
              </a:rPr>
              <a:t>Low Tariff rates</a:t>
            </a:r>
            <a:endParaRPr lang="en-US" dirty="0">
              <a:solidFill>
                <a:srgbClr val="FFFFFF"/>
              </a:solidFill>
            </a:endParaRPr>
          </a:p>
        </p:txBody>
      </p:sp>
      <p:cxnSp>
        <p:nvCxnSpPr>
          <p:cNvPr id="9" name="Straight Arrow Connector 8">
            <a:extLst>
              <a:ext uri="{FF2B5EF4-FFF2-40B4-BE49-F238E27FC236}">
                <a16:creationId xmlns:a16="http://schemas.microsoft.com/office/drawing/2014/main" id="{FEF1D497-07CE-9061-43D0-8BC653763B6E}"/>
              </a:ext>
            </a:extLst>
          </p:cNvPr>
          <p:cNvCxnSpPr>
            <a:cxnSpLocks/>
          </p:cNvCxnSpPr>
          <p:nvPr/>
        </p:nvCxnSpPr>
        <p:spPr>
          <a:xfrm>
            <a:off x="4116807" y="5056235"/>
            <a:ext cx="3510303" cy="0"/>
          </a:xfrm>
          <a:prstGeom prst="straightConnector1">
            <a:avLst/>
          </a:prstGeom>
          <a:ln w="38100">
            <a:solidFill>
              <a:srgbClr val="4472C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25">
            <a:extLst>
              <a:ext uri="{FF2B5EF4-FFF2-40B4-BE49-F238E27FC236}">
                <a16:creationId xmlns:a16="http://schemas.microsoft.com/office/drawing/2014/main" id="{300F0D2C-B67F-C481-7070-47CD1C50B595}"/>
              </a:ext>
            </a:extLst>
          </p:cNvPr>
          <p:cNvSpPr txBox="1"/>
          <p:nvPr/>
        </p:nvSpPr>
        <p:spPr>
          <a:xfrm>
            <a:off x="2417322" y="4807892"/>
            <a:ext cx="1254628" cy="584775"/>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FFFFFF"/>
                </a:solidFill>
                <a:latin typeface="Calibri" panose="020F0502020204030204"/>
                <a:cs typeface="Calibri"/>
              </a:rPr>
              <a:t>High Tariff rates</a:t>
            </a:r>
            <a:endParaRPr lang="en-US" dirty="0">
              <a:solidFill>
                <a:srgbClr val="FFFFFF"/>
              </a:solidFill>
            </a:endParaRPr>
          </a:p>
        </p:txBody>
      </p:sp>
      <p:sp>
        <p:nvSpPr>
          <p:cNvPr id="11" name="TextBox 25">
            <a:extLst>
              <a:ext uri="{FF2B5EF4-FFF2-40B4-BE49-F238E27FC236}">
                <a16:creationId xmlns:a16="http://schemas.microsoft.com/office/drawing/2014/main" id="{6AE829F8-0616-F9B5-DF1C-A9C93D28CE97}"/>
              </a:ext>
            </a:extLst>
          </p:cNvPr>
          <p:cNvSpPr txBox="1"/>
          <p:nvPr/>
        </p:nvSpPr>
        <p:spPr>
          <a:xfrm>
            <a:off x="4888561" y="4394451"/>
            <a:ext cx="1997066" cy="584775"/>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FFFFFF"/>
                </a:solidFill>
                <a:latin typeface="Calibri" panose="020F0502020204030204"/>
                <a:cs typeface="Calibri"/>
              </a:rPr>
              <a:t>Geopolitical tension affecting Tariff rates</a:t>
            </a:r>
            <a:endParaRPr lang="en-US" dirty="0">
              <a:solidFill>
                <a:srgbClr val="FFFFFF"/>
              </a:solidFill>
            </a:endParaRPr>
          </a:p>
        </p:txBody>
      </p:sp>
      <p:sp>
        <p:nvSpPr>
          <p:cNvPr id="12" name="Rectangle 11">
            <a:extLst>
              <a:ext uri="{FF2B5EF4-FFF2-40B4-BE49-F238E27FC236}">
                <a16:creationId xmlns:a16="http://schemas.microsoft.com/office/drawing/2014/main" id="{4506F8EF-B757-7244-1015-548162D3A6A7}"/>
              </a:ext>
            </a:extLst>
          </p:cNvPr>
          <p:cNvSpPr/>
          <p:nvPr/>
        </p:nvSpPr>
        <p:spPr>
          <a:xfrm>
            <a:off x="9367112" y="3645036"/>
            <a:ext cx="2279831" cy="2800007"/>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rgbClr val="FFFFFF"/>
                </a:solidFill>
                <a:ea typeface="+mn-lt"/>
                <a:cs typeface="+mn-lt"/>
              </a:rPr>
              <a:t>This allows companies to release cheaper product lines, almost similar to counterfeit footwear. This increases the sales and value of companies, since global supply chain eases, thereby enabling companies to optimize production.</a:t>
            </a:r>
            <a:endParaRPr lang="en-US">
              <a:solidFill>
                <a:srgbClr val="FFFFFF"/>
              </a:solidFill>
              <a:ea typeface="+mn-lt"/>
              <a:cs typeface="+mn-lt"/>
            </a:endParaRPr>
          </a:p>
          <a:p>
            <a:pPr algn="ctr"/>
            <a:endParaRPr lang="en-US" sz="1400" dirty="0">
              <a:solidFill>
                <a:srgbClr val="FFFFFF"/>
              </a:solidFill>
              <a:ea typeface="Calibri"/>
              <a:cs typeface="Calibri"/>
            </a:endParaRPr>
          </a:p>
        </p:txBody>
      </p:sp>
      <p:sp>
        <p:nvSpPr>
          <p:cNvPr id="13" name="Rectangle 12">
            <a:extLst>
              <a:ext uri="{FF2B5EF4-FFF2-40B4-BE49-F238E27FC236}">
                <a16:creationId xmlns:a16="http://schemas.microsoft.com/office/drawing/2014/main" id="{D4F7B915-4EB2-89F7-7CD7-48329B1C7179}"/>
              </a:ext>
            </a:extLst>
          </p:cNvPr>
          <p:cNvSpPr/>
          <p:nvPr/>
        </p:nvSpPr>
        <p:spPr>
          <a:xfrm>
            <a:off x="259306" y="3652681"/>
            <a:ext cx="2106580" cy="279236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rgbClr val="FFFFFF"/>
                </a:solidFill>
                <a:ea typeface="+mn-lt"/>
                <a:cs typeface="+mn-lt"/>
              </a:rPr>
              <a:t>Consumers seek for cheaper footwear due to inflated costs. While brands try to reduce the price, they also invest in technology to justify the high price through innovative product offerings.</a:t>
            </a:r>
            <a:endParaRPr lang="en-US" dirty="0">
              <a:solidFill>
                <a:srgbClr val="FFFFFF"/>
              </a:solidFill>
            </a:endParaRPr>
          </a:p>
          <a:p>
            <a:pPr algn="ctr"/>
            <a:r>
              <a:rPr lang="en-US" sz="1400" dirty="0">
                <a:solidFill>
                  <a:srgbClr val="FFFFFF"/>
                </a:solidFill>
              </a:rPr>
              <a:t>.</a:t>
            </a:r>
            <a:endParaRPr lang="en-US" dirty="0">
              <a:solidFill>
                <a:srgbClr val="FFFFFF"/>
              </a:solidFill>
            </a:endParaRPr>
          </a:p>
        </p:txBody>
      </p:sp>
      <p:sp>
        <p:nvSpPr>
          <p:cNvPr id="14" name="TextBox 25">
            <a:extLst>
              <a:ext uri="{FF2B5EF4-FFF2-40B4-BE49-F238E27FC236}">
                <a16:creationId xmlns:a16="http://schemas.microsoft.com/office/drawing/2014/main" id="{4E70A7B4-2472-0680-775F-17E2283DD86F}"/>
              </a:ext>
            </a:extLst>
          </p:cNvPr>
          <p:cNvSpPr txBox="1"/>
          <p:nvPr/>
        </p:nvSpPr>
        <p:spPr>
          <a:xfrm>
            <a:off x="4810251" y="2071517"/>
            <a:ext cx="2188543" cy="338554"/>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noProof="1">
                <a:solidFill>
                  <a:srgbClr val="FFFFFF"/>
                </a:solidFill>
                <a:latin typeface="Calibri" panose="020F0502020204030204"/>
                <a:ea typeface="Calibri"/>
                <a:cs typeface="Calibri"/>
              </a:rPr>
              <a:t>ECONOMIC</a:t>
            </a:r>
          </a:p>
        </p:txBody>
      </p:sp>
      <p:sp>
        <p:nvSpPr>
          <p:cNvPr id="15" name="TextBox 25">
            <a:extLst>
              <a:ext uri="{FF2B5EF4-FFF2-40B4-BE49-F238E27FC236}">
                <a16:creationId xmlns:a16="http://schemas.microsoft.com/office/drawing/2014/main" id="{EEE3054B-E37F-25F4-F96F-268577A069AB}"/>
              </a:ext>
            </a:extLst>
          </p:cNvPr>
          <p:cNvSpPr txBox="1"/>
          <p:nvPr/>
        </p:nvSpPr>
        <p:spPr>
          <a:xfrm>
            <a:off x="4810251" y="5065847"/>
            <a:ext cx="2188543" cy="338554"/>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noProof="1">
                <a:solidFill>
                  <a:srgbClr val="FFFFFF"/>
                </a:solidFill>
                <a:latin typeface="Calibri" panose="020F0502020204030204"/>
                <a:ea typeface="Calibri"/>
                <a:cs typeface="Calibri"/>
              </a:rPr>
              <a:t>POLITICAL</a:t>
            </a:r>
          </a:p>
        </p:txBody>
      </p:sp>
    </p:spTree>
    <p:extLst>
      <p:ext uri="{BB962C8B-B14F-4D97-AF65-F5344CB8AC3E}">
        <p14:creationId xmlns:p14="http://schemas.microsoft.com/office/powerpoint/2010/main" val="307522374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p:cNvGrpSpPr/>
        <p:nvPr/>
      </p:nvGrpSpPr>
      <p:grpSpPr>
        <a:xfrm>
          <a:off x="0" y="0"/>
          <a:ext cx="0" cy="0"/>
          <a:chOff x="0" y="0"/>
          <a:chExt cx="0" cy="0"/>
        </a:xfrm>
      </p:grpSpPr>
      <p:pic>
        <p:nvPicPr>
          <p:cNvPr id="2" name="Picture 1" descr="reuters.com">
            <a:extLst>
              <a:ext uri="{FF2B5EF4-FFF2-40B4-BE49-F238E27FC236}">
                <a16:creationId xmlns:a16="http://schemas.microsoft.com/office/drawing/2014/main" id="{E0E2587C-0EFB-C98D-E9EB-F32306323B92}"/>
              </a:ext>
            </a:extLst>
          </p:cNvPr>
          <p:cNvPicPr>
            <a:picLocks noChangeAspect="1"/>
          </p:cNvPicPr>
          <p:nvPr/>
        </p:nvPicPr>
        <p:blipFill>
          <a:blip r:embed="rId2"/>
          <a:stretch>
            <a:fillRect/>
          </a:stretch>
        </p:blipFill>
        <p:spPr>
          <a:xfrm>
            <a:off x="176593" y="1178791"/>
            <a:ext cx="7291006" cy="4294797"/>
          </a:xfrm>
          <a:prstGeom prst="rect">
            <a:avLst/>
          </a:prstGeom>
        </p:spPr>
      </p:pic>
      <p:sp>
        <p:nvSpPr>
          <p:cNvPr id="4" name="TextBox 3">
            <a:extLst>
              <a:ext uri="{FF2B5EF4-FFF2-40B4-BE49-F238E27FC236}">
                <a16:creationId xmlns:a16="http://schemas.microsoft.com/office/drawing/2014/main" id="{974E4C16-34AE-8A0A-0189-4E1D4CBB5EA4}"/>
              </a:ext>
            </a:extLst>
          </p:cNvPr>
          <p:cNvSpPr txBox="1"/>
          <p:nvPr/>
        </p:nvSpPr>
        <p:spPr>
          <a:xfrm>
            <a:off x="7635467" y="1175987"/>
            <a:ext cx="437117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mn-lt"/>
                <a:cs typeface="+mn-lt"/>
              </a:rPr>
              <a:t>Nike's Annual Revenue (in billions of US dollars):</a:t>
            </a:r>
            <a:br>
              <a:rPr lang="en-US" sz="1400" dirty="0">
                <a:ea typeface="+mn-lt"/>
                <a:cs typeface="+mn-lt"/>
              </a:rPr>
            </a:br>
            <a:r>
              <a:rPr lang="en-US" sz="1400" dirty="0">
                <a:solidFill>
                  <a:schemeClr val="bg1"/>
                </a:solidFill>
                <a:ea typeface="+mn-lt"/>
                <a:cs typeface="+mn-lt"/>
              </a:rPr>
              <a:t>2024: $51.36</a:t>
            </a:r>
            <a:br>
              <a:rPr lang="en-US" sz="1400" dirty="0">
                <a:ea typeface="+mn-lt"/>
                <a:cs typeface="+mn-lt"/>
              </a:rPr>
            </a:br>
            <a:r>
              <a:rPr lang="en-US" sz="1400" dirty="0">
                <a:solidFill>
                  <a:schemeClr val="bg1"/>
                </a:solidFill>
                <a:ea typeface="+mn-lt"/>
                <a:cs typeface="+mn-lt"/>
              </a:rPr>
              <a:t>2023: $51.22</a:t>
            </a:r>
            <a:br>
              <a:rPr lang="en-US" sz="1400" dirty="0">
                <a:ea typeface="+mn-lt"/>
                <a:cs typeface="+mn-lt"/>
              </a:rPr>
            </a:br>
            <a:r>
              <a:rPr lang="en-US" sz="1400" dirty="0">
                <a:solidFill>
                  <a:schemeClr val="bg1"/>
                </a:solidFill>
                <a:ea typeface="+mn-lt"/>
                <a:cs typeface="+mn-lt"/>
              </a:rPr>
              <a:t>2022: $46.71</a:t>
            </a:r>
            <a:br>
              <a:rPr lang="en-US" sz="1400" dirty="0">
                <a:ea typeface="+mn-lt"/>
                <a:cs typeface="+mn-lt"/>
              </a:rPr>
            </a:br>
            <a:r>
              <a:rPr lang="en-US" sz="1400" dirty="0">
                <a:solidFill>
                  <a:schemeClr val="bg1"/>
                </a:solidFill>
                <a:ea typeface="+mn-lt"/>
                <a:cs typeface="+mn-lt"/>
              </a:rPr>
              <a:t>2021: $44.54</a:t>
            </a:r>
          </a:p>
          <a:p>
            <a:endParaRPr lang="en-US" sz="1400" dirty="0">
              <a:solidFill>
                <a:schemeClr val="bg1"/>
              </a:solidFill>
              <a:ea typeface="+mn-lt"/>
              <a:cs typeface="+mn-lt"/>
            </a:endParaRPr>
          </a:p>
          <a:p>
            <a:endParaRPr lang="en-US" sz="1400" dirty="0">
              <a:solidFill>
                <a:schemeClr val="bg1"/>
              </a:solidFill>
              <a:ea typeface="+mn-lt"/>
              <a:cs typeface="+mn-lt"/>
            </a:endParaRPr>
          </a:p>
          <a:p>
            <a:r>
              <a:rPr lang="en-US" sz="1400" dirty="0">
                <a:solidFill>
                  <a:schemeClr val="bg1"/>
                </a:solidFill>
                <a:ea typeface="+mn-lt"/>
                <a:cs typeface="+mn-lt"/>
              </a:rPr>
              <a:t>Nike's Quarterly Revenue (in billions of US dollars):</a:t>
            </a:r>
            <a:br>
              <a:rPr lang="en-US" sz="1400" dirty="0">
                <a:ea typeface="+mn-lt"/>
                <a:cs typeface="+mn-lt"/>
              </a:rPr>
            </a:br>
            <a:r>
              <a:rPr lang="en-US" sz="1400" dirty="0">
                <a:solidFill>
                  <a:schemeClr val="bg1"/>
                </a:solidFill>
                <a:ea typeface="+mn-lt"/>
                <a:cs typeface="+mn-lt"/>
              </a:rPr>
              <a:t>2024-08-31 (Q1 2025): $11.59 (10% decrease year-over-year)</a:t>
            </a:r>
            <a:br>
              <a:rPr lang="en-US" sz="1400" dirty="0">
                <a:ea typeface="+mn-lt"/>
                <a:cs typeface="+mn-lt"/>
              </a:rPr>
            </a:br>
            <a:r>
              <a:rPr lang="en-US" sz="1400" dirty="0">
                <a:solidFill>
                  <a:schemeClr val="bg1"/>
                </a:solidFill>
                <a:ea typeface="+mn-lt"/>
                <a:cs typeface="+mn-lt"/>
              </a:rPr>
              <a:t>2024-05-31 (Q4 2024): $12.61 (2% decrease year-over-year)</a:t>
            </a:r>
            <a:br>
              <a:rPr lang="en-US" sz="1400" dirty="0">
                <a:ea typeface="+mn-lt"/>
                <a:cs typeface="+mn-lt"/>
              </a:rPr>
            </a:br>
            <a:r>
              <a:rPr lang="en-US" sz="1400" dirty="0">
                <a:solidFill>
                  <a:schemeClr val="bg1"/>
                </a:solidFill>
                <a:ea typeface="+mn-lt"/>
                <a:cs typeface="+mn-lt"/>
              </a:rPr>
              <a:t>2024-02-29 (Q3 2024): $12.43</a:t>
            </a:r>
            <a:br>
              <a:rPr lang="en-US" sz="1400" dirty="0">
                <a:ea typeface="+mn-lt"/>
                <a:cs typeface="+mn-lt"/>
              </a:rPr>
            </a:br>
            <a:r>
              <a:rPr lang="en-US" sz="1400" dirty="0">
                <a:solidFill>
                  <a:schemeClr val="bg1"/>
                </a:solidFill>
                <a:ea typeface="+mn-lt"/>
                <a:cs typeface="+mn-lt"/>
              </a:rPr>
              <a:t>2023-11-30 (Q2 2024): $13.39</a:t>
            </a:r>
            <a:br>
              <a:rPr lang="en-US" sz="1400" dirty="0">
                <a:ea typeface="+mn-lt"/>
                <a:cs typeface="+mn-lt"/>
              </a:rPr>
            </a:br>
            <a:r>
              <a:rPr lang="en-US" sz="1400" dirty="0">
                <a:solidFill>
                  <a:schemeClr val="bg1"/>
                </a:solidFill>
                <a:ea typeface="+mn-lt"/>
                <a:cs typeface="+mn-lt"/>
              </a:rPr>
              <a:t>2023-08-31 (Q1 2024): $12.94Nike Digital Sales:</a:t>
            </a:r>
            <a:br>
              <a:rPr lang="en-US" sz="1400" dirty="0">
                <a:ea typeface="+mn-lt"/>
                <a:cs typeface="+mn-lt"/>
              </a:rPr>
            </a:br>
            <a:r>
              <a:rPr lang="en-US" sz="1400" dirty="0">
                <a:solidFill>
                  <a:schemeClr val="bg1"/>
                </a:solidFill>
                <a:ea typeface="+mn-lt"/>
                <a:cs typeface="+mn-lt"/>
              </a:rPr>
              <a:t>Q4 2024: 10% decline</a:t>
            </a:r>
            <a:br>
              <a:rPr lang="en-US" sz="1400" dirty="0">
                <a:ea typeface="+mn-lt"/>
                <a:cs typeface="+mn-lt"/>
              </a:rPr>
            </a:br>
            <a:r>
              <a:rPr lang="en-US" sz="1400" dirty="0">
                <a:solidFill>
                  <a:schemeClr val="bg1"/>
                </a:solidFill>
                <a:ea typeface="+mn-lt"/>
                <a:cs typeface="+mn-lt"/>
              </a:rPr>
              <a:t>Q3 2024: 4% </a:t>
            </a:r>
            <a:r>
              <a:rPr lang="en-US" sz="1400" dirty="0" err="1">
                <a:solidFill>
                  <a:schemeClr val="bg1"/>
                </a:solidFill>
                <a:ea typeface="+mn-lt"/>
                <a:cs typeface="+mn-lt"/>
              </a:rPr>
              <a:t>declineNike</a:t>
            </a:r>
            <a:r>
              <a:rPr lang="en-US" sz="1400" dirty="0">
                <a:solidFill>
                  <a:schemeClr val="bg1"/>
                </a:solidFill>
                <a:ea typeface="+mn-lt"/>
                <a:cs typeface="+mn-lt"/>
              </a:rPr>
              <a:t> Direct Revenue:</a:t>
            </a:r>
            <a:br>
              <a:rPr lang="en-US" sz="1400" dirty="0">
                <a:ea typeface="+mn-lt"/>
                <a:cs typeface="+mn-lt"/>
              </a:rPr>
            </a:br>
            <a:r>
              <a:rPr lang="en-US" sz="1400" dirty="0">
                <a:solidFill>
                  <a:schemeClr val="bg1"/>
                </a:solidFill>
                <a:ea typeface="+mn-lt"/>
                <a:cs typeface="+mn-lt"/>
              </a:rPr>
              <a:t>Q4 2024: $5.1 billion (8% decline)</a:t>
            </a:r>
            <a:endParaRPr lang="en-US" sz="1400" dirty="0">
              <a:solidFill>
                <a:schemeClr val="bg1"/>
              </a:solidFill>
              <a:ea typeface="Calibri"/>
              <a:cs typeface="Calibri"/>
            </a:endParaRPr>
          </a:p>
        </p:txBody>
      </p:sp>
    </p:spTree>
    <p:extLst>
      <p:ext uri="{BB962C8B-B14F-4D97-AF65-F5344CB8AC3E}">
        <p14:creationId xmlns:p14="http://schemas.microsoft.com/office/powerpoint/2010/main" val="1528422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56B41A53-CD11-2B17-E9E7-CD441E35D5CD}"/>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0EDF3962-2A64-B210-32FA-056D6B3B2A24}"/>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Calibri"/>
              <a:ea typeface="+mn-ea"/>
              <a:cs typeface="+mn-cs"/>
            </a:endParaRPr>
          </a:p>
        </p:txBody>
      </p:sp>
      <p:sp>
        <p:nvSpPr>
          <p:cNvPr id="5" name="TextBox 4">
            <a:extLst>
              <a:ext uri="{FF2B5EF4-FFF2-40B4-BE49-F238E27FC236}">
                <a16:creationId xmlns:a16="http://schemas.microsoft.com/office/drawing/2014/main" id="{5E41DB82-9175-813D-B594-888FCA2AEF83}"/>
              </a:ext>
            </a:extLst>
          </p:cNvPr>
          <p:cNvSpPr txBox="1"/>
          <p:nvPr/>
        </p:nvSpPr>
        <p:spPr>
          <a:xfrm>
            <a:off x="8288904" y="3432255"/>
            <a:ext cx="3512164" cy="1600438"/>
          </a:xfrm>
          <a:prstGeom prst="rect">
            <a:avLst/>
          </a:prstGeom>
          <a:noFill/>
        </p:spPr>
        <p:txBody>
          <a:bodyPr wrap="square" lIns="91440" tIns="45720" rIns="91440" bIns="45720" anchor="t">
            <a:spAutoFit/>
          </a:bodyPr>
          <a:lstStyle/>
          <a:p>
            <a:pPr marL="285750" indent="-285750">
              <a:buFont typeface="Arial,Sans-Serif"/>
              <a:buChar char="•"/>
            </a:pPr>
            <a:r>
              <a:rPr lang="en-US" sz="1400" dirty="0">
                <a:solidFill>
                  <a:srgbClr val="FFFFFF"/>
                </a:solidFill>
                <a:ea typeface="+mn-lt"/>
                <a:cs typeface="+mn-lt"/>
              </a:rPr>
              <a:t>As of 2023, the value of the counterfeit footwear industry is 1.5 times that of the legitimate footwear industry.</a:t>
            </a:r>
          </a:p>
          <a:p>
            <a:pPr marL="285750" indent="-285750">
              <a:buFont typeface="Arial"/>
              <a:buChar char="•"/>
            </a:pPr>
            <a:endParaRPr lang="en-US" sz="1400" dirty="0">
              <a:solidFill>
                <a:srgbClr val="FFFFFF"/>
              </a:solidFill>
              <a:ea typeface="+mn-lt"/>
              <a:cs typeface="+mn-lt"/>
            </a:endParaRPr>
          </a:p>
          <a:p>
            <a:pPr marL="285750" indent="-285750">
              <a:buFont typeface="Arial"/>
              <a:buChar char="•"/>
            </a:pPr>
            <a:r>
              <a:rPr lang="en-US" sz="1400" dirty="0">
                <a:solidFill>
                  <a:srgbClr val="FFFFFF"/>
                </a:solidFill>
                <a:ea typeface="+mn-lt"/>
                <a:cs typeface="+mn-lt"/>
              </a:rPr>
              <a:t>The overall counterfeit market is projected to grow to $1.79 trillion by 2030, a 75% increase in just one year.</a:t>
            </a:r>
            <a:endParaRPr lang="en-US" sz="1400" b="0" i="0" dirty="0">
              <a:solidFill>
                <a:srgbClr val="FFFFFF"/>
              </a:solidFill>
              <a:effectLst/>
              <a:ea typeface="Calibri"/>
              <a:cs typeface="Calibri"/>
            </a:endParaRPr>
          </a:p>
        </p:txBody>
      </p:sp>
      <p:graphicFrame>
        <p:nvGraphicFramePr>
          <p:cNvPr id="3" name="Table 2">
            <a:extLst>
              <a:ext uri="{FF2B5EF4-FFF2-40B4-BE49-F238E27FC236}">
                <a16:creationId xmlns:a16="http://schemas.microsoft.com/office/drawing/2014/main" id="{B2B637BC-C57C-C33C-B2F5-8B50565F1898}"/>
              </a:ext>
            </a:extLst>
          </p:cNvPr>
          <p:cNvGraphicFramePr>
            <a:graphicFrameLocks noGrp="1"/>
          </p:cNvGraphicFramePr>
          <p:nvPr>
            <p:extLst>
              <p:ext uri="{D42A27DB-BD31-4B8C-83A1-F6EECF244321}">
                <p14:modId xmlns:p14="http://schemas.microsoft.com/office/powerpoint/2010/main" val="1257940248"/>
              </p:ext>
            </p:extLst>
          </p:nvPr>
        </p:nvGraphicFramePr>
        <p:xfrm>
          <a:off x="317220" y="1469685"/>
          <a:ext cx="7131381" cy="3564757"/>
        </p:xfrm>
        <a:graphic>
          <a:graphicData uri="http://schemas.openxmlformats.org/drawingml/2006/table">
            <a:tbl>
              <a:tblPr bandRow="1">
                <a:tableStyleId>{5C22544A-7EE6-4342-B048-85BDC9FD1C3A}</a:tableStyleId>
              </a:tblPr>
              <a:tblGrid>
                <a:gridCol w="2377127">
                  <a:extLst>
                    <a:ext uri="{9D8B030D-6E8A-4147-A177-3AD203B41FA5}">
                      <a16:colId xmlns:a16="http://schemas.microsoft.com/office/drawing/2014/main" val="2150665780"/>
                    </a:ext>
                  </a:extLst>
                </a:gridCol>
                <a:gridCol w="2377127">
                  <a:extLst>
                    <a:ext uri="{9D8B030D-6E8A-4147-A177-3AD203B41FA5}">
                      <a16:colId xmlns:a16="http://schemas.microsoft.com/office/drawing/2014/main" val="1244188314"/>
                    </a:ext>
                  </a:extLst>
                </a:gridCol>
                <a:gridCol w="2377127">
                  <a:extLst>
                    <a:ext uri="{9D8B030D-6E8A-4147-A177-3AD203B41FA5}">
                      <a16:colId xmlns:a16="http://schemas.microsoft.com/office/drawing/2014/main" val="24282411"/>
                    </a:ext>
                  </a:extLst>
                </a:gridCol>
              </a:tblGrid>
              <a:tr h="882537">
                <a:tc>
                  <a:txBody>
                    <a:bodyPr/>
                    <a:lstStyle/>
                    <a:p>
                      <a:pPr algn="l" fontAlgn="b"/>
                      <a:r>
                        <a:rPr lang="en-US" b="0" dirty="0">
                          <a:solidFill>
                            <a:schemeClr val="bg1"/>
                          </a:solidFill>
                          <a:effectLst/>
                        </a:rPr>
                        <a:t>Year</a:t>
                      </a:r>
                    </a:p>
                  </a:txBody>
                  <a:tcPr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A0C5C0"/>
                      </a:solidFill>
                      <a:prstDash val="solid"/>
                      <a:round/>
                      <a:headEnd type="none" w="med" len="med"/>
                      <a:tailEnd type="none" w="med" len="med"/>
                    </a:lnB>
                    <a:noFill/>
                  </a:tcPr>
                </a:tc>
                <a:tc>
                  <a:txBody>
                    <a:bodyPr/>
                    <a:lstStyle/>
                    <a:p>
                      <a:pPr algn="l" fontAlgn="b"/>
                      <a:r>
                        <a:rPr lang="en-US" b="0" dirty="0">
                          <a:solidFill>
                            <a:schemeClr val="bg1"/>
                          </a:solidFill>
                          <a:effectLst/>
                        </a:rPr>
                        <a:t>Legitimate Footwear Industry Value</a:t>
                      </a:r>
                    </a:p>
                  </a:txBody>
                  <a:tcPr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A0D0C0"/>
                      </a:solidFill>
                      <a:prstDash val="solid"/>
                      <a:round/>
                      <a:headEnd type="none" w="med" len="med"/>
                      <a:tailEnd type="none" w="med" len="med"/>
                    </a:lnB>
                    <a:noFill/>
                  </a:tcPr>
                </a:tc>
                <a:tc>
                  <a:txBody>
                    <a:bodyPr/>
                    <a:lstStyle/>
                    <a:p>
                      <a:pPr algn="l" fontAlgn="b"/>
                      <a:r>
                        <a:rPr lang="en-US" b="0" dirty="0">
                          <a:solidFill>
                            <a:schemeClr val="bg1"/>
                          </a:solidFill>
                          <a:effectLst/>
                        </a:rPr>
                        <a:t>Counterfeit Footwear Industry Value</a:t>
                      </a:r>
                    </a:p>
                  </a:txBody>
                  <a:tcPr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20CCC0"/>
                      </a:solidFill>
                      <a:prstDash val="solid"/>
                      <a:round/>
                      <a:headEnd type="none" w="med" len="med"/>
                      <a:tailEnd type="none" w="med" len="med"/>
                    </a:lnB>
                    <a:noFill/>
                  </a:tcPr>
                </a:tc>
                <a:extLst>
                  <a:ext uri="{0D108BD9-81ED-4DB2-BD59-A6C34878D82A}">
                    <a16:rowId xmlns:a16="http://schemas.microsoft.com/office/drawing/2014/main" val="3511999483"/>
                  </a:ext>
                </a:extLst>
              </a:tr>
              <a:tr h="536444">
                <a:tc>
                  <a:txBody>
                    <a:bodyPr/>
                    <a:lstStyle/>
                    <a:p>
                      <a:pPr fontAlgn="base"/>
                      <a:r>
                        <a:rPr lang="en-US" dirty="0">
                          <a:solidFill>
                            <a:schemeClr val="bg1"/>
                          </a:solidFill>
                          <a:effectLst/>
                        </a:rPr>
                        <a:t>2019</a:t>
                      </a:r>
                    </a:p>
                  </a:txBody>
                  <a:tcPr anchor="ctr">
                    <a:lnL w="9525" cap="flat" cmpd="sng" algn="ctr">
                      <a:solidFill>
                        <a:srgbClr val="A0C5C0"/>
                      </a:solidFill>
                      <a:prstDash val="solid"/>
                      <a:round/>
                      <a:headEnd type="none" w="med" len="med"/>
                      <a:tailEnd type="none" w="med" len="med"/>
                    </a:lnL>
                    <a:lnR w="9525" cap="flat" cmpd="sng" algn="ctr">
                      <a:solidFill>
                        <a:srgbClr val="A0D0C0"/>
                      </a:solidFill>
                      <a:prstDash val="solid"/>
                      <a:round/>
                      <a:headEnd type="none" w="med" len="med"/>
                      <a:tailEnd type="none" w="med" len="med"/>
                    </a:lnR>
                    <a:lnT w="9525" cap="flat" cmpd="sng" algn="ctr">
                      <a:solidFill>
                        <a:srgbClr val="A0C5C0"/>
                      </a:solidFill>
                      <a:prstDash val="solid"/>
                      <a:round/>
                      <a:headEnd type="none" w="med" len="med"/>
                      <a:tailEnd type="none" w="med" len="med"/>
                    </a:lnT>
                    <a:lnB w="9525" cap="flat" cmpd="sng" algn="ctr">
                      <a:solidFill>
                        <a:srgbClr val="A0C6C0"/>
                      </a:solidFill>
                      <a:prstDash val="solid"/>
                      <a:round/>
                      <a:headEnd type="none" w="med" len="med"/>
                      <a:tailEnd type="none" w="med" len="med"/>
                    </a:lnB>
                    <a:noFill/>
                  </a:tcPr>
                </a:tc>
                <a:tc>
                  <a:txBody>
                    <a:bodyPr/>
                    <a:lstStyle/>
                    <a:p>
                      <a:pPr fontAlgn="base"/>
                      <a:r>
                        <a:rPr lang="en-US" dirty="0">
                          <a:solidFill>
                            <a:schemeClr val="bg1"/>
                          </a:solidFill>
                          <a:effectLst/>
                        </a:rPr>
                        <a:t>$397.7 billion</a:t>
                      </a:r>
                    </a:p>
                  </a:txBody>
                  <a:tcPr anchor="ctr">
                    <a:lnL w="9525" cap="flat" cmpd="sng" algn="ctr">
                      <a:solidFill>
                        <a:srgbClr val="A0D0C0"/>
                      </a:solidFill>
                      <a:prstDash val="solid"/>
                      <a:round/>
                      <a:headEnd type="none" w="med" len="med"/>
                      <a:tailEnd type="none" w="med" len="med"/>
                    </a:lnL>
                    <a:lnR w="9525" cap="flat" cmpd="sng" algn="ctr">
                      <a:solidFill>
                        <a:srgbClr val="20CCC0"/>
                      </a:solidFill>
                      <a:prstDash val="solid"/>
                      <a:round/>
                      <a:headEnd type="none" w="med" len="med"/>
                      <a:tailEnd type="none" w="med" len="med"/>
                    </a:lnR>
                    <a:lnT w="9525" cap="flat" cmpd="sng" algn="ctr">
                      <a:solidFill>
                        <a:srgbClr val="A0D0C0"/>
                      </a:solidFill>
                      <a:prstDash val="solid"/>
                      <a:round/>
                      <a:headEnd type="none" w="med" len="med"/>
                      <a:tailEnd type="none" w="med" len="med"/>
                    </a:lnT>
                    <a:lnB w="9525" cap="flat" cmpd="sng" algn="ctr">
                      <a:solidFill>
                        <a:srgbClr val="A0E0C0"/>
                      </a:solidFill>
                      <a:prstDash val="solid"/>
                      <a:round/>
                      <a:headEnd type="none" w="med" len="med"/>
                      <a:tailEnd type="none" w="med" len="med"/>
                    </a:lnB>
                    <a:noFill/>
                  </a:tcPr>
                </a:tc>
                <a:tc>
                  <a:txBody>
                    <a:bodyPr/>
                    <a:lstStyle/>
                    <a:p>
                      <a:pPr fontAlgn="base"/>
                      <a:r>
                        <a:rPr lang="en-US" dirty="0">
                          <a:solidFill>
                            <a:schemeClr val="bg1"/>
                          </a:solidFill>
                          <a:effectLst/>
                        </a:rPr>
                        <a:t>$111.4 billion</a:t>
                      </a:r>
                    </a:p>
                  </a:txBody>
                  <a:tcPr anchor="ctr">
                    <a:lnL w="9525" cap="flat" cmpd="sng" algn="ctr">
                      <a:solidFill>
                        <a:srgbClr val="20CCC0"/>
                      </a:solidFill>
                      <a:prstDash val="solid"/>
                      <a:round/>
                      <a:headEnd type="none" w="med" len="med"/>
                      <a:tailEnd type="none" w="med" len="med"/>
                    </a:lnL>
                    <a:lnR w="9525" cap="flat" cmpd="sng" algn="ctr">
                      <a:solidFill>
                        <a:srgbClr val="20CCC0"/>
                      </a:solidFill>
                      <a:prstDash val="solid"/>
                      <a:round/>
                      <a:headEnd type="none" w="med" len="med"/>
                      <a:tailEnd type="none" w="med" len="med"/>
                    </a:lnR>
                    <a:lnT w="9525" cap="flat" cmpd="sng" algn="ctr">
                      <a:solidFill>
                        <a:srgbClr val="20CCC0"/>
                      </a:solidFill>
                      <a:prstDash val="solid"/>
                      <a:round/>
                      <a:headEnd type="none" w="med" len="med"/>
                      <a:tailEnd type="none" w="med" len="med"/>
                    </a:lnT>
                    <a:lnB w="9525" cap="flat" cmpd="sng" algn="ctr">
                      <a:solidFill>
                        <a:srgbClr val="20CDC0"/>
                      </a:solidFill>
                      <a:prstDash val="solid"/>
                      <a:round/>
                      <a:headEnd type="none" w="med" len="med"/>
                      <a:tailEnd type="none" w="med" len="med"/>
                    </a:lnB>
                    <a:noFill/>
                  </a:tcPr>
                </a:tc>
                <a:extLst>
                  <a:ext uri="{0D108BD9-81ED-4DB2-BD59-A6C34878D82A}">
                    <a16:rowId xmlns:a16="http://schemas.microsoft.com/office/drawing/2014/main" val="4133035311"/>
                  </a:ext>
                </a:extLst>
              </a:tr>
              <a:tr h="536444">
                <a:tc>
                  <a:txBody>
                    <a:bodyPr/>
                    <a:lstStyle/>
                    <a:p>
                      <a:pPr fontAlgn="base"/>
                      <a:r>
                        <a:rPr lang="en-US" dirty="0">
                          <a:solidFill>
                            <a:schemeClr val="bg1"/>
                          </a:solidFill>
                          <a:effectLst/>
                        </a:rPr>
                        <a:t>2020</a:t>
                      </a:r>
                    </a:p>
                  </a:txBody>
                  <a:tcPr anchor="ctr">
                    <a:lnL w="9525" cap="flat" cmpd="sng" algn="ctr">
                      <a:solidFill>
                        <a:srgbClr val="A0C6C0"/>
                      </a:solidFill>
                      <a:prstDash val="solid"/>
                      <a:round/>
                      <a:headEnd type="none" w="med" len="med"/>
                      <a:tailEnd type="none" w="med" len="med"/>
                    </a:lnL>
                    <a:lnR w="9525" cap="flat" cmpd="sng" algn="ctr">
                      <a:solidFill>
                        <a:srgbClr val="A0E0C0"/>
                      </a:solidFill>
                      <a:prstDash val="solid"/>
                      <a:round/>
                      <a:headEnd type="none" w="med" len="med"/>
                      <a:tailEnd type="none" w="med" len="med"/>
                    </a:lnR>
                    <a:lnT w="9525" cap="flat" cmpd="sng" algn="ctr">
                      <a:solidFill>
                        <a:srgbClr val="A0C6C0"/>
                      </a:solidFill>
                      <a:prstDash val="solid"/>
                      <a:round/>
                      <a:headEnd type="none" w="med" len="med"/>
                      <a:tailEnd type="none" w="med" len="med"/>
                    </a:lnT>
                    <a:lnB w="9525" cap="flat" cmpd="sng" algn="ctr">
                      <a:solidFill>
                        <a:srgbClr val="A0E0C0"/>
                      </a:solidFill>
                      <a:prstDash val="solid"/>
                      <a:round/>
                      <a:headEnd type="none" w="med" len="med"/>
                      <a:tailEnd type="none" w="med" len="med"/>
                    </a:lnB>
                    <a:noFill/>
                  </a:tcPr>
                </a:tc>
                <a:tc>
                  <a:txBody>
                    <a:bodyPr/>
                    <a:lstStyle/>
                    <a:p>
                      <a:pPr fontAlgn="base"/>
                      <a:r>
                        <a:rPr lang="en-US" dirty="0">
                          <a:solidFill>
                            <a:schemeClr val="bg1"/>
                          </a:solidFill>
                          <a:effectLst/>
                        </a:rPr>
                        <a:t>$342.0 billion</a:t>
                      </a:r>
                    </a:p>
                  </a:txBody>
                  <a:tcPr anchor="ctr">
                    <a:lnL w="9525" cap="flat" cmpd="sng" algn="ctr">
                      <a:solidFill>
                        <a:srgbClr val="A0E0C0"/>
                      </a:solidFill>
                      <a:prstDash val="solid"/>
                      <a:round/>
                      <a:headEnd type="none" w="med" len="med"/>
                      <a:tailEnd type="none" w="med" len="med"/>
                    </a:lnL>
                    <a:lnR w="9525" cap="flat" cmpd="sng" algn="ctr">
                      <a:solidFill>
                        <a:srgbClr val="20CDC0"/>
                      </a:solidFill>
                      <a:prstDash val="solid"/>
                      <a:round/>
                      <a:headEnd type="none" w="med" len="med"/>
                      <a:tailEnd type="none" w="med" len="med"/>
                    </a:lnR>
                    <a:lnT w="9525" cap="flat" cmpd="sng" algn="ctr">
                      <a:solidFill>
                        <a:srgbClr val="A0E0C0"/>
                      </a:solidFill>
                      <a:prstDash val="solid"/>
                      <a:round/>
                      <a:headEnd type="none" w="med" len="med"/>
                      <a:tailEnd type="none" w="med" len="med"/>
                    </a:lnT>
                    <a:lnB w="9525" cap="flat" cmpd="sng" algn="ctr">
                      <a:solidFill>
                        <a:srgbClr val="20D8C0"/>
                      </a:solidFill>
                      <a:prstDash val="solid"/>
                      <a:round/>
                      <a:headEnd type="none" w="med" len="med"/>
                      <a:tailEnd type="none" w="med" len="med"/>
                    </a:lnB>
                    <a:noFill/>
                  </a:tcPr>
                </a:tc>
                <a:tc>
                  <a:txBody>
                    <a:bodyPr/>
                    <a:lstStyle/>
                    <a:p>
                      <a:pPr fontAlgn="base"/>
                      <a:r>
                        <a:rPr lang="en-US" dirty="0">
                          <a:solidFill>
                            <a:schemeClr val="bg1"/>
                          </a:solidFill>
                          <a:effectLst/>
                        </a:rPr>
                        <a:t>$450.0 billion</a:t>
                      </a:r>
                    </a:p>
                  </a:txBody>
                  <a:tcPr anchor="ctr">
                    <a:lnL w="9525" cap="flat" cmpd="sng" algn="ctr">
                      <a:solidFill>
                        <a:srgbClr val="20CDC0"/>
                      </a:solidFill>
                      <a:prstDash val="solid"/>
                      <a:round/>
                      <a:headEnd type="none" w="med" len="med"/>
                      <a:tailEnd type="none" w="med" len="med"/>
                    </a:lnL>
                    <a:lnR w="9525" cap="flat" cmpd="sng" algn="ctr">
                      <a:solidFill>
                        <a:srgbClr val="20CDC0"/>
                      </a:solidFill>
                      <a:prstDash val="solid"/>
                      <a:round/>
                      <a:headEnd type="none" w="med" len="med"/>
                      <a:tailEnd type="none" w="med" len="med"/>
                    </a:lnR>
                    <a:lnT w="9525" cap="flat" cmpd="sng" algn="ctr">
                      <a:solidFill>
                        <a:srgbClr val="20CDC0"/>
                      </a:solidFill>
                      <a:prstDash val="solid"/>
                      <a:round/>
                      <a:headEnd type="none" w="med" len="med"/>
                      <a:tailEnd type="none" w="med" len="med"/>
                    </a:lnT>
                    <a:lnB w="9525" cap="flat" cmpd="sng" algn="ctr">
                      <a:solidFill>
                        <a:srgbClr val="20CAC0"/>
                      </a:solidFill>
                      <a:prstDash val="solid"/>
                      <a:round/>
                      <a:headEnd type="none" w="med" len="med"/>
                      <a:tailEnd type="none" w="med" len="med"/>
                    </a:lnB>
                    <a:noFill/>
                  </a:tcPr>
                </a:tc>
                <a:extLst>
                  <a:ext uri="{0D108BD9-81ED-4DB2-BD59-A6C34878D82A}">
                    <a16:rowId xmlns:a16="http://schemas.microsoft.com/office/drawing/2014/main" val="168291655"/>
                  </a:ext>
                </a:extLst>
              </a:tr>
              <a:tr h="536444">
                <a:tc>
                  <a:txBody>
                    <a:bodyPr/>
                    <a:lstStyle/>
                    <a:p>
                      <a:pPr fontAlgn="base"/>
                      <a:r>
                        <a:rPr lang="en-US" dirty="0">
                          <a:solidFill>
                            <a:schemeClr val="bg1"/>
                          </a:solidFill>
                          <a:effectLst/>
                        </a:rPr>
                        <a:t>2021</a:t>
                      </a:r>
                    </a:p>
                  </a:txBody>
                  <a:tcPr anchor="ctr">
                    <a:lnL w="9525" cap="flat" cmpd="sng" algn="ctr">
                      <a:solidFill>
                        <a:srgbClr val="A0E0C0"/>
                      </a:solidFill>
                      <a:prstDash val="solid"/>
                      <a:round/>
                      <a:headEnd type="none" w="med" len="med"/>
                      <a:tailEnd type="none" w="med" len="med"/>
                    </a:lnL>
                    <a:lnR w="9525" cap="flat" cmpd="sng" algn="ctr">
                      <a:solidFill>
                        <a:srgbClr val="20D8C0"/>
                      </a:solidFill>
                      <a:prstDash val="solid"/>
                      <a:round/>
                      <a:headEnd type="none" w="med" len="med"/>
                      <a:tailEnd type="none" w="med" len="med"/>
                    </a:lnR>
                    <a:lnT w="9525" cap="flat" cmpd="sng" algn="ctr">
                      <a:solidFill>
                        <a:srgbClr val="A0E0C0"/>
                      </a:solidFill>
                      <a:prstDash val="solid"/>
                      <a:round/>
                      <a:headEnd type="none" w="med" len="med"/>
                      <a:tailEnd type="none" w="med" len="med"/>
                    </a:lnT>
                    <a:lnB w="9525" cap="flat" cmpd="sng" algn="ctr">
                      <a:solidFill>
                        <a:srgbClr val="A0D2C0"/>
                      </a:solidFill>
                      <a:prstDash val="solid"/>
                      <a:round/>
                      <a:headEnd type="none" w="med" len="med"/>
                      <a:tailEnd type="none" w="med" len="med"/>
                    </a:lnB>
                    <a:noFill/>
                  </a:tcPr>
                </a:tc>
                <a:tc>
                  <a:txBody>
                    <a:bodyPr/>
                    <a:lstStyle/>
                    <a:p>
                      <a:pPr fontAlgn="base"/>
                      <a:r>
                        <a:rPr lang="en-US" dirty="0">
                          <a:solidFill>
                            <a:schemeClr val="bg1"/>
                          </a:solidFill>
                          <a:effectLst/>
                        </a:rPr>
                        <a:t>$346.5 billion</a:t>
                      </a:r>
                    </a:p>
                  </a:txBody>
                  <a:tcPr anchor="ctr">
                    <a:lnL w="9525" cap="flat" cmpd="sng" algn="ctr">
                      <a:solidFill>
                        <a:srgbClr val="20D8C0"/>
                      </a:solidFill>
                      <a:prstDash val="solid"/>
                      <a:round/>
                      <a:headEnd type="none" w="med" len="med"/>
                      <a:tailEnd type="none" w="med" len="med"/>
                    </a:lnL>
                    <a:lnR w="9525" cap="flat" cmpd="sng" algn="ctr">
                      <a:solidFill>
                        <a:srgbClr val="20CAC0"/>
                      </a:solidFill>
                      <a:prstDash val="solid"/>
                      <a:round/>
                      <a:headEnd type="none" w="med" len="med"/>
                      <a:tailEnd type="none" w="med" len="med"/>
                    </a:lnR>
                    <a:lnT w="9525" cap="flat" cmpd="sng" algn="ctr">
                      <a:solidFill>
                        <a:srgbClr val="20D8C0"/>
                      </a:solidFill>
                      <a:prstDash val="solid"/>
                      <a:round/>
                      <a:headEnd type="none" w="med" len="med"/>
                      <a:tailEnd type="none" w="med" len="med"/>
                    </a:lnT>
                    <a:lnB w="9525" cap="flat" cmpd="sng" algn="ctr">
                      <a:solidFill>
                        <a:srgbClr val="A0DAC0"/>
                      </a:solidFill>
                      <a:prstDash val="solid"/>
                      <a:round/>
                      <a:headEnd type="none" w="med" len="med"/>
                      <a:tailEnd type="none" w="med" len="med"/>
                    </a:lnB>
                    <a:noFill/>
                  </a:tcPr>
                </a:tc>
                <a:tc>
                  <a:txBody>
                    <a:bodyPr/>
                    <a:lstStyle/>
                    <a:p>
                      <a:pPr fontAlgn="base"/>
                      <a:r>
                        <a:rPr lang="en-US" dirty="0">
                          <a:solidFill>
                            <a:schemeClr val="bg1"/>
                          </a:solidFill>
                          <a:effectLst/>
                        </a:rPr>
                        <a:t>$495.0 billion</a:t>
                      </a:r>
                    </a:p>
                  </a:txBody>
                  <a:tcPr anchor="ctr">
                    <a:lnL w="9525" cap="flat" cmpd="sng" algn="ctr">
                      <a:solidFill>
                        <a:srgbClr val="20CAC0"/>
                      </a:solidFill>
                      <a:prstDash val="solid"/>
                      <a:round/>
                      <a:headEnd type="none" w="med" len="med"/>
                      <a:tailEnd type="none" w="med" len="med"/>
                    </a:lnL>
                    <a:lnR w="9525" cap="flat" cmpd="sng" algn="ctr">
                      <a:solidFill>
                        <a:srgbClr val="20CAC0"/>
                      </a:solidFill>
                      <a:prstDash val="solid"/>
                      <a:round/>
                      <a:headEnd type="none" w="med" len="med"/>
                      <a:tailEnd type="none" w="med" len="med"/>
                    </a:lnR>
                    <a:lnT w="9525" cap="flat" cmpd="sng" algn="ctr">
                      <a:solidFill>
                        <a:srgbClr val="20CAC0"/>
                      </a:solidFill>
                      <a:prstDash val="solid"/>
                      <a:round/>
                      <a:headEnd type="none" w="med" len="med"/>
                      <a:tailEnd type="none" w="med" len="med"/>
                    </a:lnT>
                    <a:lnB w="9525" cap="flat" cmpd="sng" algn="ctr">
                      <a:solidFill>
                        <a:srgbClr val="A0D8C0"/>
                      </a:solidFill>
                      <a:prstDash val="solid"/>
                      <a:round/>
                      <a:headEnd type="none" w="med" len="med"/>
                      <a:tailEnd type="none" w="med" len="med"/>
                    </a:lnB>
                    <a:noFill/>
                  </a:tcPr>
                </a:tc>
                <a:extLst>
                  <a:ext uri="{0D108BD9-81ED-4DB2-BD59-A6C34878D82A}">
                    <a16:rowId xmlns:a16="http://schemas.microsoft.com/office/drawing/2014/main" val="1193466008"/>
                  </a:ext>
                </a:extLst>
              </a:tr>
              <a:tr h="536444">
                <a:tc>
                  <a:txBody>
                    <a:bodyPr/>
                    <a:lstStyle/>
                    <a:p>
                      <a:pPr fontAlgn="base"/>
                      <a:r>
                        <a:rPr lang="en-US" dirty="0">
                          <a:solidFill>
                            <a:schemeClr val="bg1"/>
                          </a:solidFill>
                          <a:effectLst/>
                        </a:rPr>
                        <a:t>2022</a:t>
                      </a:r>
                    </a:p>
                  </a:txBody>
                  <a:tcPr anchor="ctr">
                    <a:lnL w="9525" cap="flat" cmpd="sng" algn="ctr">
                      <a:solidFill>
                        <a:srgbClr val="A0D2C0"/>
                      </a:solidFill>
                      <a:prstDash val="solid"/>
                      <a:round/>
                      <a:headEnd type="none" w="med" len="med"/>
                      <a:tailEnd type="none" w="med" len="med"/>
                    </a:lnL>
                    <a:lnR w="9525" cap="flat" cmpd="sng" algn="ctr">
                      <a:solidFill>
                        <a:srgbClr val="A0DAC0"/>
                      </a:solidFill>
                      <a:prstDash val="solid"/>
                      <a:round/>
                      <a:headEnd type="none" w="med" len="med"/>
                      <a:tailEnd type="none" w="med" len="med"/>
                    </a:lnR>
                    <a:lnT w="9525" cap="flat" cmpd="sng" algn="ctr">
                      <a:solidFill>
                        <a:srgbClr val="A0D2C0"/>
                      </a:solidFill>
                      <a:prstDash val="solid"/>
                      <a:round/>
                      <a:headEnd type="none" w="med" len="med"/>
                      <a:tailEnd type="none" w="med" len="med"/>
                    </a:lnT>
                    <a:lnB w="9525" cap="flat" cmpd="sng" algn="ctr">
                      <a:solidFill>
                        <a:srgbClr val="20C5C0"/>
                      </a:solidFill>
                      <a:prstDash val="solid"/>
                      <a:round/>
                      <a:headEnd type="none" w="med" len="med"/>
                      <a:tailEnd type="none" w="med" len="med"/>
                    </a:lnB>
                    <a:noFill/>
                  </a:tcPr>
                </a:tc>
                <a:tc>
                  <a:txBody>
                    <a:bodyPr/>
                    <a:lstStyle/>
                    <a:p>
                      <a:pPr fontAlgn="base"/>
                      <a:r>
                        <a:rPr lang="en-US" dirty="0">
                          <a:solidFill>
                            <a:schemeClr val="bg1"/>
                          </a:solidFill>
                          <a:effectLst/>
                        </a:rPr>
                        <a:t>$381.9 billion</a:t>
                      </a:r>
                    </a:p>
                  </a:txBody>
                  <a:tcPr anchor="ctr">
                    <a:lnL w="9525" cap="flat" cmpd="sng" algn="ctr">
                      <a:solidFill>
                        <a:srgbClr val="A0DAC0"/>
                      </a:solidFill>
                      <a:prstDash val="solid"/>
                      <a:round/>
                      <a:headEnd type="none" w="med" len="med"/>
                      <a:tailEnd type="none" w="med" len="med"/>
                    </a:lnL>
                    <a:lnR w="9525" cap="flat" cmpd="sng" algn="ctr">
                      <a:solidFill>
                        <a:srgbClr val="A0D8C0"/>
                      </a:solidFill>
                      <a:prstDash val="solid"/>
                      <a:round/>
                      <a:headEnd type="none" w="med" len="med"/>
                      <a:tailEnd type="none" w="med" len="med"/>
                    </a:lnR>
                    <a:lnT w="9525" cap="flat" cmpd="sng" algn="ctr">
                      <a:solidFill>
                        <a:srgbClr val="A0DAC0"/>
                      </a:solidFill>
                      <a:prstDash val="solid"/>
                      <a:round/>
                      <a:headEnd type="none" w="med" len="med"/>
                      <a:tailEnd type="none" w="med" len="med"/>
                    </a:lnT>
                    <a:lnB w="9525" cap="flat" cmpd="sng" algn="ctr">
                      <a:solidFill>
                        <a:srgbClr val="20CDC0"/>
                      </a:solidFill>
                      <a:prstDash val="solid"/>
                      <a:round/>
                      <a:headEnd type="none" w="med" len="med"/>
                      <a:tailEnd type="none" w="med" len="med"/>
                    </a:lnB>
                    <a:noFill/>
                  </a:tcPr>
                </a:tc>
                <a:tc>
                  <a:txBody>
                    <a:bodyPr/>
                    <a:lstStyle/>
                    <a:p>
                      <a:pPr fontAlgn="base"/>
                      <a:r>
                        <a:rPr lang="en-US" dirty="0">
                          <a:solidFill>
                            <a:schemeClr val="bg1"/>
                          </a:solidFill>
                          <a:effectLst/>
                        </a:rPr>
                        <a:t>$500.0 billion</a:t>
                      </a:r>
                    </a:p>
                  </a:txBody>
                  <a:tcPr anchor="ctr">
                    <a:lnL w="9525" cap="flat" cmpd="sng" algn="ctr">
                      <a:solidFill>
                        <a:srgbClr val="A0D8C0"/>
                      </a:solidFill>
                      <a:prstDash val="solid"/>
                      <a:round/>
                      <a:headEnd type="none" w="med" len="med"/>
                      <a:tailEnd type="none" w="med" len="med"/>
                    </a:lnL>
                    <a:lnR w="9525" cap="flat" cmpd="sng" algn="ctr">
                      <a:solidFill>
                        <a:srgbClr val="A0D8C0"/>
                      </a:solidFill>
                      <a:prstDash val="solid"/>
                      <a:round/>
                      <a:headEnd type="none" w="med" len="med"/>
                      <a:tailEnd type="none" w="med" len="med"/>
                    </a:lnR>
                    <a:lnT w="9525" cap="flat" cmpd="sng" algn="ctr">
                      <a:solidFill>
                        <a:srgbClr val="A0D8C0"/>
                      </a:solidFill>
                      <a:prstDash val="solid"/>
                      <a:round/>
                      <a:headEnd type="none" w="med" len="med"/>
                      <a:tailEnd type="none" w="med" len="med"/>
                    </a:lnT>
                    <a:lnB w="9525" cap="flat" cmpd="sng" algn="ctr">
                      <a:solidFill>
                        <a:srgbClr val="A0CCC0"/>
                      </a:solidFill>
                      <a:prstDash val="solid"/>
                      <a:round/>
                      <a:headEnd type="none" w="med" len="med"/>
                      <a:tailEnd type="none" w="med" len="med"/>
                    </a:lnB>
                    <a:noFill/>
                  </a:tcPr>
                </a:tc>
                <a:extLst>
                  <a:ext uri="{0D108BD9-81ED-4DB2-BD59-A6C34878D82A}">
                    <a16:rowId xmlns:a16="http://schemas.microsoft.com/office/drawing/2014/main" val="1222777091"/>
                  </a:ext>
                </a:extLst>
              </a:tr>
              <a:tr h="536444">
                <a:tc>
                  <a:txBody>
                    <a:bodyPr/>
                    <a:lstStyle/>
                    <a:p>
                      <a:pPr fontAlgn="base"/>
                      <a:r>
                        <a:rPr lang="en-US" dirty="0">
                          <a:solidFill>
                            <a:schemeClr val="bg1"/>
                          </a:solidFill>
                          <a:effectLst/>
                        </a:rPr>
                        <a:t>2023</a:t>
                      </a:r>
                    </a:p>
                  </a:txBody>
                  <a:tcPr anchor="ctr">
                    <a:lnL w="9525" cap="flat" cmpd="sng" algn="ctr">
                      <a:solidFill>
                        <a:srgbClr val="20C5C0"/>
                      </a:solidFill>
                      <a:prstDash val="solid"/>
                      <a:round/>
                      <a:headEnd type="none" w="med" len="med"/>
                      <a:tailEnd type="none" w="med" len="med"/>
                    </a:lnL>
                    <a:lnR w="9525" cap="flat" cmpd="sng" algn="ctr">
                      <a:solidFill>
                        <a:srgbClr val="20CDC0"/>
                      </a:solidFill>
                      <a:prstDash val="solid"/>
                      <a:round/>
                      <a:headEnd type="none" w="med" len="med"/>
                      <a:tailEnd type="none" w="med" len="med"/>
                    </a:lnR>
                    <a:lnT w="9525" cap="flat" cmpd="sng" algn="ctr">
                      <a:solidFill>
                        <a:srgbClr val="20C5C0"/>
                      </a:solidFill>
                      <a:prstDash val="solid"/>
                      <a:round/>
                      <a:headEnd type="none" w="med" len="med"/>
                      <a:tailEnd type="none" w="med" len="med"/>
                    </a:lnT>
                    <a:lnB w="9525" cap="flat" cmpd="sng" algn="ctr">
                      <a:solidFill>
                        <a:srgbClr val="20C5C0"/>
                      </a:solidFill>
                      <a:prstDash val="solid"/>
                      <a:round/>
                      <a:headEnd type="none" w="med" len="med"/>
                      <a:tailEnd type="none" w="med" len="med"/>
                    </a:lnB>
                    <a:noFill/>
                  </a:tcPr>
                </a:tc>
                <a:tc>
                  <a:txBody>
                    <a:bodyPr/>
                    <a:lstStyle/>
                    <a:p>
                      <a:pPr fontAlgn="base"/>
                      <a:r>
                        <a:rPr lang="en-US" dirty="0">
                          <a:solidFill>
                            <a:schemeClr val="bg1"/>
                          </a:solidFill>
                          <a:effectLst/>
                        </a:rPr>
                        <a:t>$398.5 billion</a:t>
                      </a:r>
                    </a:p>
                  </a:txBody>
                  <a:tcPr anchor="ctr">
                    <a:lnL w="9525" cap="flat" cmpd="sng" algn="ctr">
                      <a:solidFill>
                        <a:srgbClr val="20CDC0"/>
                      </a:solidFill>
                      <a:prstDash val="solid"/>
                      <a:round/>
                      <a:headEnd type="none" w="med" len="med"/>
                      <a:tailEnd type="none" w="med" len="med"/>
                    </a:lnL>
                    <a:lnR w="9525" cap="flat" cmpd="sng" algn="ctr">
                      <a:solidFill>
                        <a:srgbClr val="A0CCC0"/>
                      </a:solidFill>
                      <a:prstDash val="solid"/>
                      <a:round/>
                      <a:headEnd type="none" w="med" len="med"/>
                      <a:tailEnd type="none" w="med" len="med"/>
                    </a:lnR>
                    <a:lnT w="9525" cap="flat" cmpd="sng" algn="ctr">
                      <a:solidFill>
                        <a:srgbClr val="20CDC0"/>
                      </a:solidFill>
                      <a:prstDash val="solid"/>
                      <a:round/>
                      <a:headEnd type="none" w="med" len="med"/>
                      <a:tailEnd type="none" w="med" len="med"/>
                    </a:lnT>
                    <a:lnB w="9525" cap="flat" cmpd="sng" algn="ctr">
                      <a:solidFill>
                        <a:srgbClr val="20CDC0"/>
                      </a:solidFill>
                      <a:prstDash val="solid"/>
                      <a:round/>
                      <a:headEnd type="none" w="med" len="med"/>
                      <a:tailEnd type="none" w="med" len="med"/>
                    </a:lnB>
                    <a:noFill/>
                  </a:tcPr>
                </a:tc>
                <a:tc>
                  <a:txBody>
                    <a:bodyPr/>
                    <a:lstStyle/>
                    <a:p>
                      <a:pPr fontAlgn="base"/>
                      <a:r>
                        <a:rPr lang="en-US" dirty="0">
                          <a:solidFill>
                            <a:schemeClr val="bg1"/>
                          </a:solidFill>
                          <a:effectLst/>
                        </a:rPr>
                        <a:t>$599.0 billion</a:t>
                      </a:r>
                    </a:p>
                  </a:txBody>
                  <a:tcPr anchor="ctr">
                    <a:lnL w="9525" cap="flat" cmpd="sng" algn="ctr">
                      <a:solidFill>
                        <a:srgbClr val="A0CCC0"/>
                      </a:solidFill>
                      <a:prstDash val="solid"/>
                      <a:round/>
                      <a:headEnd type="none" w="med" len="med"/>
                      <a:tailEnd type="none" w="med" len="med"/>
                    </a:lnL>
                    <a:lnR w="9525" cap="flat" cmpd="sng" algn="ctr">
                      <a:solidFill>
                        <a:srgbClr val="A0CCC0"/>
                      </a:solidFill>
                      <a:prstDash val="solid"/>
                      <a:round/>
                      <a:headEnd type="none" w="med" len="med"/>
                      <a:tailEnd type="none" w="med" len="med"/>
                    </a:lnR>
                    <a:lnT w="9525" cap="flat" cmpd="sng" algn="ctr">
                      <a:solidFill>
                        <a:srgbClr val="A0CCC0"/>
                      </a:solidFill>
                      <a:prstDash val="solid"/>
                      <a:round/>
                      <a:headEnd type="none" w="med" len="med"/>
                      <a:tailEnd type="none" w="med" len="med"/>
                    </a:lnT>
                    <a:lnB w="9525" cap="flat" cmpd="sng" algn="ctr">
                      <a:solidFill>
                        <a:srgbClr val="A0CCC0"/>
                      </a:solidFill>
                      <a:prstDash val="solid"/>
                      <a:round/>
                      <a:headEnd type="none" w="med" len="med"/>
                      <a:tailEnd type="none" w="med" len="med"/>
                    </a:lnB>
                    <a:noFill/>
                  </a:tcPr>
                </a:tc>
                <a:extLst>
                  <a:ext uri="{0D108BD9-81ED-4DB2-BD59-A6C34878D82A}">
                    <a16:rowId xmlns:a16="http://schemas.microsoft.com/office/drawing/2014/main" val="1399457156"/>
                  </a:ext>
                </a:extLst>
              </a:tr>
            </a:tbl>
          </a:graphicData>
        </a:graphic>
      </p:graphicFrame>
    </p:spTree>
    <p:extLst>
      <p:ext uri="{BB962C8B-B14F-4D97-AF65-F5344CB8AC3E}">
        <p14:creationId xmlns:p14="http://schemas.microsoft.com/office/powerpoint/2010/main" val="2734969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3515"/>
        </a:solidFill>
        <a:effectLst/>
      </p:bgPr>
    </p:bg>
    <p:spTree>
      <p:nvGrpSpPr>
        <p:cNvPr id="1" name="">
          <a:extLst>
            <a:ext uri="{FF2B5EF4-FFF2-40B4-BE49-F238E27FC236}">
              <a16:creationId xmlns:a16="http://schemas.microsoft.com/office/drawing/2014/main" id="{7A76D335-94B3-4851-5CB2-AD764BF764F6}"/>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E08B45B8-63FE-0353-07EF-E9D7F8F1030B}"/>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2">
            <a:extLst>
              <a:ext uri="{FF2B5EF4-FFF2-40B4-BE49-F238E27FC236}">
                <a16:creationId xmlns:a16="http://schemas.microsoft.com/office/drawing/2014/main" id="{3F7CF810-24CD-5A8B-383E-7AD637EBD1DE}"/>
              </a:ext>
            </a:extLst>
          </p:cNvPr>
          <p:cNvSpPr txBox="1"/>
          <p:nvPr/>
        </p:nvSpPr>
        <p:spPr>
          <a:xfrm>
            <a:off x="434141" y="357661"/>
            <a:ext cx="11599146" cy="307777"/>
          </a:xfrm>
          <a:prstGeom prst="rect">
            <a:avLst/>
          </a:prstGeom>
        </p:spPr>
        <p:txBody>
          <a:bodyPr wrap="square" lIns="0" tIns="0" rIns="0" bIns="0" rtlCol="0" anchor="t">
            <a:spAutoFit/>
          </a:bodyPr>
          <a:lstStyle/>
          <a:p>
            <a:pPr defTabSz="609630">
              <a:defRPr/>
            </a:pPr>
            <a:r>
              <a:rPr lang="en-US" sz="2000" b="1" spc="160" dirty="0">
                <a:solidFill>
                  <a:schemeClr val="bg1"/>
                </a:solidFill>
                <a:ea typeface="+mn-lt"/>
                <a:cs typeface="+mn-lt"/>
              </a:rPr>
              <a:t>REFERENCES</a:t>
            </a:r>
            <a:endParaRPr lang="en-US" sz="2000" b="1">
              <a:solidFill>
                <a:schemeClr val="bg1"/>
              </a:solidFill>
              <a:ea typeface="Calibri"/>
              <a:cs typeface="Calibri"/>
            </a:endParaRPr>
          </a:p>
        </p:txBody>
      </p:sp>
      <p:sp>
        <p:nvSpPr>
          <p:cNvPr id="3" name="AutoShape 3">
            <a:extLst>
              <a:ext uri="{FF2B5EF4-FFF2-40B4-BE49-F238E27FC236}">
                <a16:creationId xmlns:a16="http://schemas.microsoft.com/office/drawing/2014/main" id="{D046C6BB-F659-9EC8-98BB-E4544A6B6BCF}"/>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3E5637E8-96F3-990C-84DC-69A2217CE62D}"/>
              </a:ext>
            </a:extLst>
          </p:cNvPr>
          <p:cNvSpPr txBox="1"/>
          <p:nvPr/>
        </p:nvSpPr>
        <p:spPr>
          <a:xfrm>
            <a:off x="288676" y="974508"/>
            <a:ext cx="1094187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hlinkClick r:id="rId2"/>
              </a:rPr>
              <a:t>https://runrepeat.com/counterfeit-shoes-statistics</a:t>
            </a:r>
            <a:endParaRPr lang="en-US">
              <a:ea typeface="+mn-lt"/>
              <a:cs typeface="+mn-lt"/>
            </a:endParaRPr>
          </a:p>
          <a:p>
            <a:r>
              <a:rPr lang="en-US" dirty="0">
                <a:ea typeface="+mn-lt"/>
                <a:cs typeface="+mn-lt"/>
                <a:hlinkClick r:id="rId3"/>
              </a:rPr>
              <a:t>https://www.just-style.com/features/explainer-true-cost-for-apparel-footwear-sectors-in-trumps-america/</a:t>
            </a:r>
            <a:endParaRPr lang="en-US">
              <a:ea typeface="+mn-lt"/>
              <a:cs typeface="+mn-lt"/>
            </a:endParaRPr>
          </a:p>
          <a:p>
            <a:r>
              <a:rPr lang="en-US" dirty="0">
                <a:ea typeface="+mn-lt"/>
                <a:cs typeface="+mn-lt"/>
                <a:hlinkClick r:id="rId4"/>
              </a:rPr>
              <a:t>https://www.3dnatives.com/en/nike-air-revolutionizing-shoes-with-3d-printing-160420246/</a:t>
            </a:r>
            <a:endParaRPr lang="en-US">
              <a:ea typeface="+mn-lt"/>
              <a:cs typeface="+mn-lt"/>
            </a:endParaRPr>
          </a:p>
          <a:p>
            <a:r>
              <a:rPr lang="en-US" dirty="0">
                <a:ea typeface="+mn-lt"/>
                <a:cs typeface="+mn-lt"/>
                <a:hlinkClick r:id="rId5"/>
              </a:rPr>
              <a:t>https://www.samford.edu/sports-analytics/fans/2019/Nike-Caught-in-the-Crosshairs-of-the-Trade-War</a:t>
            </a:r>
            <a:endParaRPr lang="en-US">
              <a:ea typeface="+mn-lt"/>
              <a:cs typeface="+mn-lt"/>
            </a:endParaRPr>
          </a:p>
          <a:p>
            <a:r>
              <a:rPr lang="en-US" dirty="0">
                <a:ea typeface="+mn-lt"/>
                <a:cs typeface="+mn-lt"/>
                <a:hlinkClick r:id="rId6"/>
              </a:rPr>
              <a:t>https://www.retaildive.com/news/nike-converse-sue-counterfeiting-networks/719318/</a:t>
            </a:r>
            <a:endParaRPr lang="en-US">
              <a:ea typeface="+mn-lt"/>
              <a:cs typeface="+mn-lt"/>
            </a:endParaRPr>
          </a:p>
          <a:p>
            <a:r>
              <a:rPr lang="en-US" dirty="0">
                <a:ea typeface="+mn-lt"/>
                <a:cs typeface="+mn-lt"/>
                <a:hlinkClick r:id="rId7"/>
              </a:rPr>
              <a:t>https://brainstation.io/magazine/nike-cryptokicks-concept-battles-counterfeits-with-blockchain</a:t>
            </a:r>
            <a:endParaRPr lang="en-US">
              <a:ea typeface="+mn-lt"/>
              <a:cs typeface="+mn-lt"/>
            </a:endParaRPr>
          </a:p>
          <a:p>
            <a:r>
              <a:rPr lang="en-US" dirty="0">
                <a:ea typeface="+mn-lt"/>
                <a:cs typeface="+mn-lt"/>
                <a:hlinkClick r:id="rId8"/>
              </a:rPr>
              <a:t>https://www.slidegenius.com/portfolio/nike</a:t>
            </a:r>
            <a:endParaRPr lang="en-US">
              <a:ea typeface="+mn-lt"/>
              <a:cs typeface="+mn-lt"/>
            </a:endParaRPr>
          </a:p>
          <a:p>
            <a:r>
              <a:rPr lang="en-US" dirty="0">
                <a:ea typeface="+mn-lt"/>
                <a:cs typeface="+mn-lt"/>
                <a:hlinkClick r:id="rId9"/>
              </a:rPr>
              <a:t>https://simba-digital.ch/en/nikes-marketing-strategy-that-revolutionized-the-sports-industry/</a:t>
            </a:r>
            <a:endParaRPr lang="en-US">
              <a:ea typeface="+mn-lt"/>
              <a:cs typeface="+mn-lt"/>
            </a:endParaRPr>
          </a:p>
          <a:p>
            <a:r>
              <a:rPr lang="en-US" dirty="0">
                <a:ea typeface="+mn-lt"/>
                <a:cs typeface="+mn-lt"/>
                <a:hlinkClick r:id="rId10"/>
              </a:rPr>
              <a:t>https://about.nike.com/en/newsroom/releases/nike-ignites-new-frontier-of-innovation-with-40-elite-athletes-in-unforgettable-experience-in-paris?t&amp;utm_source=perplexity</a:t>
            </a:r>
            <a:endParaRPr lang="en-US">
              <a:ea typeface="+mn-lt"/>
              <a:cs typeface="+mn-lt"/>
            </a:endParaRPr>
          </a:p>
          <a:p>
            <a:r>
              <a:rPr lang="en-US" dirty="0">
                <a:ea typeface="+mn-lt"/>
                <a:cs typeface="+mn-lt"/>
                <a:hlinkClick r:id="rId11"/>
              </a:rPr>
              <a:t>https://aimresearch.co/ai-in-cpg-retail/how-nike-is-using-ai-to-transform-product-design-customer-experience-and-operational-efficiency</a:t>
            </a:r>
            <a:endParaRPr lang="en-US">
              <a:ea typeface="+mn-lt"/>
              <a:cs typeface="+mn-lt"/>
            </a:endParaRPr>
          </a:p>
          <a:p>
            <a:r>
              <a:rPr lang="en-US" dirty="0">
                <a:ea typeface="+mn-lt"/>
                <a:cs typeface="+mn-lt"/>
                <a:hlinkClick r:id="rId12"/>
              </a:rPr>
              <a:t>https://www.investopedia.com/articles/markets/080415/how-nike-nke-makes-its-money.asp</a:t>
            </a:r>
            <a:endParaRPr lang="en-US">
              <a:ea typeface="+mn-lt"/>
              <a:cs typeface="+mn-lt"/>
            </a:endParaRPr>
          </a:p>
          <a:p>
            <a:r>
              <a:rPr lang="en-US" dirty="0">
                <a:ea typeface="+mn-lt"/>
                <a:cs typeface="+mn-lt"/>
                <a:hlinkClick r:id="rId13"/>
              </a:rPr>
              <a:t>https://consumergoods.com/nike-sports-research-lab-expedites-product-innovation-ai-and-4d-motion-capture</a:t>
            </a:r>
          </a:p>
          <a:p>
            <a:r>
              <a:rPr lang="en-US" dirty="0">
                <a:ea typeface="+mn-lt"/>
                <a:cs typeface="+mn-lt"/>
                <a:hlinkClick r:id="rId14"/>
              </a:rPr>
              <a:t>https://www.reuters.com/business/retail-consumer/nike-beats-quarterly-revenue-estimates-buoyant-sneaker-demand-2023-06-29/</a:t>
            </a:r>
            <a:endParaRPr lang="en-US">
              <a:ea typeface="+mn-lt"/>
              <a:cs typeface="+mn-lt"/>
            </a:endParaRPr>
          </a:p>
        </p:txBody>
      </p:sp>
    </p:spTree>
    <p:extLst>
      <p:ext uri="{BB962C8B-B14F-4D97-AF65-F5344CB8AC3E}">
        <p14:creationId xmlns:p14="http://schemas.microsoft.com/office/powerpoint/2010/main" val="376590397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530</TotalTime>
  <Words>2797</Words>
  <Application>Microsoft Macintosh PowerPoint</Application>
  <PresentationFormat>Widescreen</PresentationFormat>
  <Paragraphs>277</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Arial,Sans-Serif</vt:lpstr>
      <vt:lpstr>Calibri</vt:lpstr>
      <vt:lpstr>Canva Sans Bold</vt:lpstr>
      <vt:lpstr>Public Sans Bold</vt:lpstr>
      <vt:lpstr>Segoe UI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TONAL</dc:title>
  <dc:creator/>
  <cp:lastModifiedBy>Sudhire Rahul Karunakaran</cp:lastModifiedBy>
  <cp:revision>1817</cp:revision>
  <dcterms:created xsi:type="dcterms:W3CDTF">2024-10-26T17:22:25Z</dcterms:created>
  <dcterms:modified xsi:type="dcterms:W3CDTF">2025-09-19T12:58:43Z</dcterms:modified>
</cp:coreProperties>
</file>